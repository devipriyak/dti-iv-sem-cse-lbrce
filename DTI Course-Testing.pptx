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90" r:id="rId2"/>
    <p:sldId id="262" r:id="rId3"/>
    <p:sldId id="258" r:id="rId4"/>
    <p:sldId id="295" r:id="rId5"/>
    <p:sldId id="301" r:id="rId6"/>
    <p:sldId id="312" r:id="rId7"/>
    <p:sldId id="313" r:id="rId8"/>
    <p:sldId id="314" r:id="rId9"/>
    <p:sldId id="316" r:id="rId10"/>
    <p:sldId id="317" r:id="rId11"/>
    <p:sldId id="318" r:id="rId12"/>
    <p:sldId id="319" r:id="rId13"/>
    <p:sldId id="28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FF"/>
    <a:srgbClr val="FF3399"/>
    <a:srgbClr val="FF9933"/>
    <a:srgbClr val="3333FF"/>
    <a:srgbClr val="006600"/>
    <a:srgbClr val="0066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56" y="-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40993-5D51-410F-831E-C7D6C3FC6C9D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56AD6-7EAA-43A0-B422-3816FBA76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735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12/25/2025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12/25/2025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12/25/2025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12/25/2025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12/25/2025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12/25/2025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12/25/2025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12/25/2025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12/25/2025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12/25/2025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12/25/2025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2BE61-7B7A-4BEB-98FF-A2DCBF474832}" type="datetimeFigureOut">
              <a:rPr lang="en-US" smtClean="0"/>
              <a:pPr/>
              <a:t>12/25/2025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4"/>
            <a:ext cx="12192000" cy="857256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DESIGN THINKING AND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3352" y="5301208"/>
            <a:ext cx="11665296" cy="1421928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IN" sz="2400" b="1" dirty="0" err="1" smtClean="0">
                <a:solidFill>
                  <a:srgbClr val="C00000"/>
                </a:solidFill>
              </a:rPr>
              <a:t>Dr.</a:t>
            </a:r>
            <a:r>
              <a:rPr lang="en-IN" sz="2400" b="1" dirty="0" smtClean="0">
                <a:solidFill>
                  <a:srgbClr val="C00000"/>
                </a:solidFill>
              </a:rPr>
              <a:t> D. </a:t>
            </a:r>
            <a:r>
              <a:rPr lang="en-IN" sz="2400" b="1" dirty="0" err="1" smtClean="0">
                <a:solidFill>
                  <a:srgbClr val="C00000"/>
                </a:solidFill>
              </a:rPr>
              <a:t>V</a:t>
            </a:r>
            <a:r>
              <a:rPr lang="en-IN" sz="2400" b="1" dirty="0" err="1" smtClean="0">
                <a:solidFill>
                  <a:srgbClr val="C00000"/>
                </a:solidFill>
              </a:rPr>
              <a:t>enkata</a:t>
            </a:r>
            <a:r>
              <a:rPr lang="en-IN" sz="2400" b="1" dirty="0" smtClean="0">
                <a:solidFill>
                  <a:srgbClr val="C00000"/>
                </a:solidFill>
              </a:rPr>
              <a:t> </a:t>
            </a:r>
            <a:r>
              <a:rPr lang="en-IN" sz="2400" b="1" dirty="0" err="1" smtClean="0">
                <a:solidFill>
                  <a:srgbClr val="C00000"/>
                </a:solidFill>
              </a:rPr>
              <a:t>Subbaiah</a:t>
            </a:r>
            <a:endParaRPr lang="en-IN" sz="2400" b="1" dirty="0">
              <a:solidFill>
                <a:srgbClr val="C000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IN" sz="2400" b="1" dirty="0"/>
              <a:t>Professor, </a:t>
            </a:r>
            <a:r>
              <a:rPr lang="en-IN" sz="2400" b="1" dirty="0" smtClean="0"/>
              <a:t>Computer Science &amp; Engineering </a:t>
            </a:r>
            <a:r>
              <a:rPr lang="en-IN" sz="2400" b="1" dirty="0"/>
              <a:t>Department</a:t>
            </a:r>
          </a:p>
          <a:p>
            <a:pPr algn="ctr">
              <a:lnSpc>
                <a:spcPct val="120000"/>
              </a:lnSpc>
            </a:pPr>
            <a:r>
              <a:rPr lang="en-IN" sz="2400" b="1" dirty="0" err="1"/>
              <a:t>Lakireddy</a:t>
            </a:r>
            <a:r>
              <a:rPr lang="en-IN" sz="2400" b="1" dirty="0"/>
              <a:t> Bali Reddy College of Engineering (A), </a:t>
            </a:r>
            <a:r>
              <a:rPr lang="en-IN" sz="2400" b="1" dirty="0" err="1"/>
              <a:t>Mylavaram</a:t>
            </a:r>
            <a:endParaRPr lang="en-IN" sz="2400" b="1" dirty="0"/>
          </a:p>
        </p:txBody>
      </p:sp>
      <p:sp>
        <p:nvSpPr>
          <p:cNvPr id="16386" name="AutoShape 2" descr="Design Thinking for Product Development at Welingkar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792" y="1412776"/>
            <a:ext cx="3024336" cy="302433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4079776" y="1196752"/>
            <a:ext cx="3456384" cy="3600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83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64294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</a:t>
            </a:r>
          </a:p>
        </p:txBody>
      </p:sp>
      <p:pic>
        <p:nvPicPr>
          <p:cNvPr id="4" name="Picture 3" descr="DT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10" y="1120848"/>
            <a:ext cx="11032566" cy="55697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52596" y="1059404"/>
            <a:ext cx="2928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rgbClr val="FF3300"/>
                </a:solidFill>
              </a:rPr>
              <a:t>Innovation/Outcome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737"/>
            <a:ext cx="12192000" cy="571504"/>
          </a:xfrm>
          <a:solidFill>
            <a:srgbClr val="0000FF"/>
          </a:solidFill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Elements of Design Thinking</a:t>
            </a:r>
          </a:p>
        </p:txBody>
      </p:sp>
      <p:pic>
        <p:nvPicPr>
          <p:cNvPr id="4" name="Picture 3" descr="DT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76" y="723644"/>
            <a:ext cx="7215238" cy="55763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24166" y="6429396"/>
            <a:ext cx="1071570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4364" y="6448032"/>
            <a:ext cx="928694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95934" y="6448033"/>
            <a:ext cx="1148138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1818" y="6448032"/>
            <a:ext cx="1071570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16" y="6429396"/>
            <a:ext cx="1071570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REFINE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732901" y="5634822"/>
            <a:ext cx="16976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239">
              <a:lnSpc>
                <a:spcPts val="922"/>
              </a:lnSpc>
            </a:pPr>
            <a:fld id="{81D60167-4931-47E6-BA6A-407CBD079E47}" type="slidenum">
              <a:rPr spc="-44" dirty="0"/>
              <a:pPr marL="67239">
                <a:lnSpc>
                  <a:spcPts val="922"/>
                </a:lnSpc>
              </a:pPr>
              <a:t>4</a:t>
            </a:fld>
            <a:endParaRPr spc="-44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63341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Concept of </a:t>
            </a:r>
            <a:r>
              <a:rPr lang="en-IN" sz="3200" b="1" dirty="0" smtClean="0">
                <a:solidFill>
                  <a:schemeClr val="bg1"/>
                </a:solidFill>
              </a:rPr>
              <a:t>Prototype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07368" y="1700808"/>
            <a:ext cx="11521280" cy="47525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 smtClean="0">
                <a:latin typeface="Arial Narrow" panose="020B0606020202030204" pitchFamily="34" charset="0"/>
              </a:rPr>
              <a:t>Prototype</a:t>
            </a:r>
            <a:r>
              <a:rPr lang="en-IN" sz="2800" dirty="0" smtClean="0">
                <a:latin typeface="Arial Narrow" panose="020B0606020202030204" pitchFamily="34" charset="0"/>
              </a:rPr>
              <a:t> = the </a:t>
            </a:r>
            <a:r>
              <a:rPr lang="en-IN" sz="2800" b="1" dirty="0" smtClean="0">
                <a:latin typeface="Arial Narrow" panose="020B0606020202030204" pitchFamily="34" charset="0"/>
              </a:rPr>
              <a:t>language</a:t>
            </a:r>
            <a:r>
              <a:rPr lang="en-IN" sz="2800" dirty="0" smtClean="0">
                <a:latin typeface="Arial Narrow" panose="020B0606020202030204" pitchFamily="34" charset="0"/>
              </a:rPr>
              <a:t> of Design Thinking</a:t>
            </a:r>
          </a:p>
          <a:p>
            <a:r>
              <a:rPr lang="en-IN" sz="2800" b="1" dirty="0" smtClean="0">
                <a:latin typeface="Arial Narrow" panose="020B0606020202030204" pitchFamily="34" charset="0"/>
              </a:rPr>
              <a:t>Function</a:t>
            </a:r>
            <a:r>
              <a:rPr lang="en-IN" sz="2800" dirty="0" smtClean="0">
                <a:latin typeface="Arial Narrow" panose="020B0606020202030204" pitchFamily="34" charset="0"/>
              </a:rPr>
              <a:t> = to </a:t>
            </a:r>
            <a:r>
              <a:rPr lang="en-IN" sz="2800" b="1" dirty="0" smtClean="0">
                <a:latin typeface="Arial Narrow" panose="020B0606020202030204" pitchFamily="34" charset="0"/>
              </a:rPr>
              <a:t>communicate</a:t>
            </a:r>
            <a:r>
              <a:rPr lang="en-IN" sz="2800" dirty="0" smtClean="0">
                <a:latin typeface="Arial Narrow" panose="020B0606020202030204" pitchFamily="34" charset="0"/>
              </a:rPr>
              <a:t> something about the idea</a:t>
            </a:r>
          </a:p>
          <a:p>
            <a:r>
              <a:rPr lang="en-IN" sz="2800" b="1" dirty="0" smtClean="0">
                <a:latin typeface="Arial Narrow" panose="020B0606020202030204" pitchFamily="34" charset="0"/>
              </a:rPr>
              <a:t>Purpose</a:t>
            </a:r>
            <a:r>
              <a:rPr lang="en-IN" sz="2800" dirty="0" smtClean="0">
                <a:latin typeface="Arial Narrow" panose="020B0606020202030204" pitchFamily="34" charset="0"/>
              </a:rPr>
              <a:t> = to obtain </a:t>
            </a:r>
            <a:r>
              <a:rPr lang="en-IN" sz="2800" b="1" dirty="0" smtClean="0">
                <a:latin typeface="Arial Narrow" panose="020B0606020202030204" pitchFamily="34" charset="0"/>
              </a:rPr>
              <a:t>feedback</a:t>
            </a:r>
            <a:r>
              <a:rPr lang="en-IN" sz="2800" dirty="0" smtClean="0">
                <a:latin typeface="Arial Narrow" panose="020B0606020202030204" pitchFamily="34" charset="0"/>
              </a:rPr>
              <a:t> about the idea</a:t>
            </a:r>
          </a:p>
          <a:p>
            <a:endParaRPr lang="en-IN" sz="2800" b="1" dirty="0" smtClean="0">
              <a:solidFill>
                <a:schemeClr val="accent2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r>
              <a:rPr lang="en-IN" sz="2800" b="1" dirty="0" smtClean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A Prototype is a Message. It Communicates Something about your idea</a:t>
            </a:r>
          </a:p>
          <a:p>
            <a:r>
              <a:rPr lang="en-IN" sz="2800" b="1" dirty="0" smtClean="0">
                <a:solidFill>
                  <a:srgbClr val="00B050"/>
                </a:solidFill>
                <a:latin typeface="Arial Narrow" panose="020B0606020202030204" pitchFamily="34" charset="0"/>
              </a:rPr>
              <a:t>A Prototype must speak for itself.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Types of Prototypes</a:t>
            </a:r>
          </a:p>
          <a:p>
            <a:r>
              <a:rPr lang="en-US" sz="2800" b="1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Low Fidelity Prototypes (Simple paper based Rough prototype)</a:t>
            </a:r>
          </a:p>
          <a:p>
            <a:r>
              <a:rPr lang="en-US" sz="2800" b="1" dirty="0" smtClean="0">
                <a:solidFill>
                  <a:srgbClr val="0000FF"/>
                </a:solidFill>
                <a:latin typeface="Arial Narrow" panose="020B0606020202030204" pitchFamily="34" charset="0"/>
              </a:rPr>
              <a:t>High Fidelity Prototypes (Advanced interactions and Transitions)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7648" y="908720"/>
            <a:ext cx="6696744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3300"/>
                </a:solidFill>
                <a:latin typeface="Arial Narrow" panose="020B0606020202030204" pitchFamily="34" charset="0"/>
              </a:rPr>
              <a:t>DEVELOPMENT OF MODELS</a:t>
            </a:r>
            <a:endParaRPr lang="en-IN" sz="3600" b="1" dirty="0">
              <a:solidFill>
                <a:srgbClr val="FF33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805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732901" y="5634822"/>
            <a:ext cx="16976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239">
              <a:lnSpc>
                <a:spcPts val="922"/>
              </a:lnSpc>
            </a:pPr>
            <a:fld id="{81D60167-4931-47E6-BA6A-407CBD079E47}" type="slidenum">
              <a:rPr spc="-44" dirty="0"/>
              <a:pPr marL="67239">
                <a:lnSpc>
                  <a:spcPts val="922"/>
                </a:lnSpc>
              </a:pPr>
              <a:t>5</a:t>
            </a:fld>
            <a:endParaRPr spc="-44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63341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Concept of </a:t>
            </a:r>
            <a:r>
              <a:rPr lang="en-IN" sz="3200" b="1" dirty="0" smtClean="0">
                <a:solidFill>
                  <a:schemeClr val="bg1"/>
                </a:solidFill>
              </a:rPr>
              <a:t>Testing: Steps Involved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9376" y="836712"/>
            <a:ext cx="6336704" cy="53142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12065" marR="5080">
              <a:lnSpc>
                <a:spcPct val="150000"/>
              </a:lnSpc>
              <a:spcBef>
                <a:spcPts val="75"/>
              </a:spcBef>
              <a:tabLst>
                <a:tab pos="381000" algn="l"/>
              </a:tabLst>
            </a:pPr>
            <a:r>
              <a:rPr lang="en-US" sz="2800" b="1" dirty="0" smtClean="0">
                <a:cs typeface="Calibri"/>
              </a:rPr>
              <a:t>Steps involved:</a:t>
            </a:r>
          </a:p>
          <a:p>
            <a:pPr marL="381000" marR="5080" indent="-368935">
              <a:lnSpc>
                <a:spcPct val="150000"/>
              </a:lnSpc>
              <a:spcBef>
                <a:spcPts val="75"/>
              </a:spcBef>
              <a:buChar char="•"/>
              <a:tabLst>
                <a:tab pos="381000" algn="l"/>
              </a:tabLst>
            </a:pPr>
            <a:r>
              <a:rPr lang="en-US" sz="2800" dirty="0" smtClean="0">
                <a:cs typeface="Calibri"/>
              </a:rPr>
              <a:t>It</a:t>
            </a:r>
            <a:r>
              <a:rPr lang="en-US" sz="2800" spc="100" dirty="0" smtClean="0">
                <a:cs typeface="Calibri"/>
              </a:rPr>
              <a:t> </a:t>
            </a:r>
            <a:r>
              <a:rPr lang="en-US" sz="2800" dirty="0">
                <a:cs typeface="Calibri"/>
              </a:rPr>
              <a:t>is</a:t>
            </a:r>
            <a:r>
              <a:rPr lang="en-US" sz="2800" spc="85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not</a:t>
            </a:r>
            <a:r>
              <a:rPr lang="en-US" sz="2800" spc="80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to</a:t>
            </a:r>
            <a:r>
              <a:rPr lang="en-US" sz="2800" spc="70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test</a:t>
            </a:r>
            <a:r>
              <a:rPr lang="en-US" sz="2800" spc="75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the</a:t>
            </a:r>
            <a:r>
              <a:rPr lang="en-US" sz="2800" spc="75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prototype,</a:t>
            </a:r>
            <a:r>
              <a:rPr lang="en-US" sz="2800" spc="90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but</a:t>
            </a:r>
            <a:r>
              <a:rPr lang="en-US" sz="2800" spc="100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to</a:t>
            </a:r>
            <a:r>
              <a:rPr lang="en-US" sz="2800" spc="95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communicate</a:t>
            </a:r>
            <a:r>
              <a:rPr lang="en-US" sz="2800" spc="70" dirty="0">
                <a:cs typeface="Calibri"/>
              </a:rPr>
              <a:t> </a:t>
            </a:r>
            <a:r>
              <a:rPr lang="en-US" sz="2800" spc="-20" dirty="0">
                <a:cs typeface="Calibri"/>
              </a:rPr>
              <a:t>your </a:t>
            </a:r>
            <a:r>
              <a:rPr lang="en-US" sz="2800" dirty="0">
                <a:cs typeface="Calibri"/>
              </a:rPr>
              <a:t>idea</a:t>
            </a:r>
            <a:r>
              <a:rPr lang="en-US" sz="2800" spc="-35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or</a:t>
            </a:r>
            <a:r>
              <a:rPr lang="en-US" sz="2800" spc="-55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Solution</a:t>
            </a:r>
            <a:r>
              <a:rPr lang="en-US" sz="2800" spc="-55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or</a:t>
            </a:r>
            <a:r>
              <a:rPr lang="en-US" sz="2800" spc="-30" dirty="0">
                <a:cs typeface="Calibri"/>
              </a:rPr>
              <a:t> </a:t>
            </a:r>
            <a:r>
              <a:rPr lang="en-US" sz="2800" spc="-10" dirty="0">
                <a:cs typeface="Calibri"/>
              </a:rPr>
              <a:t>Concept</a:t>
            </a:r>
            <a:endParaRPr lang="en-US" sz="2800" dirty="0">
              <a:cs typeface="Calibri"/>
            </a:endParaRPr>
          </a:p>
          <a:p>
            <a:pPr marL="381000" marR="5080" indent="-368935">
              <a:lnSpc>
                <a:spcPct val="150000"/>
              </a:lnSpc>
              <a:spcBef>
                <a:spcPts val="65"/>
              </a:spcBef>
              <a:buChar char="•"/>
              <a:tabLst>
                <a:tab pos="381000" algn="l"/>
              </a:tabLst>
            </a:pPr>
            <a:r>
              <a:rPr lang="en-US" sz="2800" dirty="0" smtClean="0">
                <a:cs typeface="Calibri"/>
              </a:rPr>
              <a:t>You </a:t>
            </a:r>
            <a:r>
              <a:rPr lang="en-US" sz="2800" dirty="0">
                <a:cs typeface="Calibri"/>
              </a:rPr>
              <a:t>got</a:t>
            </a:r>
            <a:r>
              <a:rPr lang="en-US" sz="2800" spc="25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an</a:t>
            </a:r>
            <a:r>
              <a:rPr lang="en-US" sz="2800" spc="20" dirty="0">
                <a:cs typeface="Calibri"/>
              </a:rPr>
              <a:t> </a:t>
            </a:r>
            <a:r>
              <a:rPr lang="en-US" sz="2800" dirty="0" smtClean="0">
                <a:cs typeface="Calibri"/>
              </a:rPr>
              <a:t>idea (Step 3 of DTI),</a:t>
            </a:r>
            <a:r>
              <a:rPr lang="en-US" sz="2800" spc="10" dirty="0" smtClean="0">
                <a:cs typeface="Calibri"/>
              </a:rPr>
              <a:t> </a:t>
            </a:r>
          </a:p>
          <a:p>
            <a:pPr marL="381000" marR="5080" indent="-368935">
              <a:lnSpc>
                <a:spcPct val="150000"/>
              </a:lnSpc>
              <a:spcBef>
                <a:spcPts val="65"/>
              </a:spcBef>
              <a:buChar char="•"/>
              <a:tabLst>
                <a:tab pos="381000" algn="l"/>
              </a:tabLst>
            </a:pPr>
            <a:r>
              <a:rPr lang="en-US" sz="2800" spc="10" dirty="0" smtClean="0">
                <a:cs typeface="Calibri"/>
              </a:rPr>
              <a:t>I</a:t>
            </a:r>
            <a:r>
              <a:rPr lang="en-US" sz="2800" dirty="0" smtClean="0">
                <a:cs typeface="Calibri"/>
              </a:rPr>
              <a:t>t </a:t>
            </a:r>
            <a:r>
              <a:rPr lang="en-US" sz="2800" dirty="0">
                <a:cs typeface="Calibri"/>
              </a:rPr>
              <a:t>is</a:t>
            </a:r>
            <a:r>
              <a:rPr lang="en-US" sz="2800" spc="-15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converted</a:t>
            </a:r>
            <a:r>
              <a:rPr lang="en-US" sz="2800" spc="20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into</a:t>
            </a:r>
            <a:r>
              <a:rPr lang="en-US" sz="2800" spc="15" dirty="0">
                <a:cs typeface="Calibri"/>
              </a:rPr>
              <a:t> </a:t>
            </a:r>
            <a:r>
              <a:rPr lang="en-US" sz="2800" dirty="0" smtClean="0">
                <a:cs typeface="Calibri"/>
              </a:rPr>
              <a:t>prototype (Step 4)</a:t>
            </a:r>
          </a:p>
          <a:p>
            <a:pPr marL="381000" marR="5080" indent="-368935">
              <a:lnSpc>
                <a:spcPct val="150000"/>
              </a:lnSpc>
              <a:spcBef>
                <a:spcPts val="65"/>
              </a:spcBef>
              <a:buChar char="•"/>
              <a:tabLst>
                <a:tab pos="381000" algn="l"/>
              </a:tabLst>
            </a:pPr>
            <a:r>
              <a:rPr lang="en-US" sz="2800" dirty="0" smtClean="0">
                <a:cs typeface="Calibri"/>
              </a:rPr>
              <a:t>You</a:t>
            </a:r>
            <a:r>
              <a:rPr lang="en-US" sz="2800" spc="-80" dirty="0" smtClean="0">
                <a:cs typeface="Calibri"/>
              </a:rPr>
              <a:t> </a:t>
            </a:r>
            <a:r>
              <a:rPr lang="en-US" sz="2800" dirty="0">
                <a:cs typeface="Calibri"/>
              </a:rPr>
              <a:t>are</a:t>
            </a:r>
            <a:r>
              <a:rPr lang="en-US" sz="2800" spc="-80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testing</a:t>
            </a:r>
            <a:r>
              <a:rPr lang="en-US" sz="2800" spc="-65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your</a:t>
            </a:r>
            <a:r>
              <a:rPr lang="en-US" sz="2800" spc="-80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idea</a:t>
            </a:r>
            <a:r>
              <a:rPr lang="en-US" sz="2800" spc="-40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or</a:t>
            </a:r>
            <a:r>
              <a:rPr lang="en-US" sz="2800" spc="-60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design</a:t>
            </a:r>
            <a:r>
              <a:rPr lang="en-US" sz="2800" spc="-50" dirty="0">
                <a:cs typeface="Calibri"/>
              </a:rPr>
              <a:t> </a:t>
            </a:r>
            <a:endParaRPr lang="en-US" sz="2800" spc="-50" dirty="0" smtClean="0">
              <a:cs typeface="Calibri"/>
            </a:endParaRPr>
          </a:p>
          <a:p>
            <a:pPr marL="12065" marR="5080">
              <a:lnSpc>
                <a:spcPct val="150000"/>
              </a:lnSpc>
              <a:spcBef>
                <a:spcPts val="65"/>
              </a:spcBef>
              <a:tabLst>
                <a:tab pos="381000" algn="l"/>
              </a:tabLst>
            </a:pPr>
            <a:r>
              <a:rPr lang="en-US" sz="2800" spc="-50" dirty="0">
                <a:cs typeface="Calibri"/>
              </a:rPr>
              <a:t> </a:t>
            </a:r>
            <a:r>
              <a:rPr lang="en-US" sz="2800" spc="-50" dirty="0" smtClean="0">
                <a:cs typeface="Calibri"/>
              </a:rPr>
              <a:t>    (Step 5)</a:t>
            </a:r>
            <a:endParaRPr lang="en-IN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7104112" y="872152"/>
            <a:ext cx="4968552" cy="33496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12700">
              <a:lnSpc>
                <a:spcPct val="150000"/>
              </a:lnSpc>
              <a:tabLst>
                <a:tab pos="381000" algn="l"/>
              </a:tabLst>
            </a:pPr>
            <a:r>
              <a:rPr lang="en-US" sz="2800" b="1" dirty="0" smtClean="0">
                <a:cs typeface="Calibri"/>
              </a:rPr>
              <a:t>Stages involved</a:t>
            </a:r>
          </a:p>
          <a:p>
            <a:pPr marL="381000" indent="-368300">
              <a:lnSpc>
                <a:spcPct val="150000"/>
              </a:lnSpc>
              <a:buChar char="•"/>
              <a:tabLst>
                <a:tab pos="381000" algn="l"/>
              </a:tabLst>
            </a:pPr>
            <a:r>
              <a:rPr lang="en-US" sz="2800" dirty="0" smtClean="0">
                <a:cs typeface="Calibri"/>
              </a:rPr>
              <a:t>3</a:t>
            </a:r>
            <a:r>
              <a:rPr lang="en-US" sz="2800" spc="-65" dirty="0" smtClean="0">
                <a:cs typeface="Calibri"/>
              </a:rPr>
              <a:t> </a:t>
            </a:r>
            <a:r>
              <a:rPr lang="en-US" sz="2800" dirty="0">
                <a:cs typeface="Calibri"/>
              </a:rPr>
              <a:t>Stages</a:t>
            </a:r>
            <a:r>
              <a:rPr lang="en-US" sz="2800" spc="-45" dirty="0">
                <a:cs typeface="Calibri"/>
              </a:rPr>
              <a:t> </a:t>
            </a:r>
            <a:endParaRPr lang="en-US" sz="2800" dirty="0" smtClean="0">
              <a:cs typeface="Calibri"/>
            </a:endParaRPr>
          </a:p>
          <a:p>
            <a:pPr marL="838200" lvl="1" indent="-368300">
              <a:lnSpc>
                <a:spcPct val="150000"/>
              </a:lnSpc>
              <a:buChar char="•"/>
              <a:tabLst>
                <a:tab pos="381000" algn="l"/>
              </a:tabLst>
            </a:pPr>
            <a:r>
              <a:rPr lang="en-US" sz="2800" spc="-25" dirty="0" smtClean="0">
                <a:cs typeface="Calibri"/>
              </a:rPr>
              <a:t>Get </a:t>
            </a:r>
            <a:r>
              <a:rPr lang="en-US" sz="2800" spc="-25" dirty="0">
                <a:cs typeface="Calibri"/>
              </a:rPr>
              <a:t>the </a:t>
            </a:r>
            <a:r>
              <a:rPr lang="en-US" sz="2800" spc="-20" dirty="0">
                <a:cs typeface="Calibri"/>
              </a:rPr>
              <a:t>Cheap </a:t>
            </a:r>
            <a:r>
              <a:rPr lang="en-US" sz="2800" spc="-10" dirty="0">
                <a:cs typeface="Calibri"/>
              </a:rPr>
              <a:t>Information </a:t>
            </a:r>
            <a:endParaRPr lang="en-US" sz="2800" spc="-10" dirty="0" smtClean="0">
              <a:cs typeface="Calibri"/>
            </a:endParaRPr>
          </a:p>
          <a:p>
            <a:pPr marL="838200" marR="5080" lvl="1" indent="-368935">
              <a:lnSpc>
                <a:spcPct val="150000"/>
              </a:lnSpc>
              <a:spcBef>
                <a:spcPts val="70"/>
              </a:spcBef>
              <a:buChar char="•"/>
              <a:tabLst>
                <a:tab pos="381000" algn="l"/>
                <a:tab pos="1169035" algn="l"/>
                <a:tab pos="1923414" algn="l"/>
                <a:tab pos="3080385" algn="l"/>
                <a:tab pos="4998085" algn="l"/>
                <a:tab pos="5963285" algn="l"/>
                <a:tab pos="6892290" algn="l"/>
              </a:tabLst>
            </a:pPr>
            <a:r>
              <a:rPr lang="en-US" sz="2800" spc="-35" dirty="0" smtClean="0">
                <a:cs typeface="Calibri"/>
              </a:rPr>
              <a:t>Technical </a:t>
            </a:r>
            <a:r>
              <a:rPr lang="en-US" sz="2800" dirty="0">
                <a:cs typeface="Calibri"/>
              </a:rPr>
              <a:t>Feasibility</a:t>
            </a:r>
            <a:r>
              <a:rPr lang="en-US" sz="2800" spc="-35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in</a:t>
            </a:r>
            <a:r>
              <a:rPr lang="en-US" sz="2800" spc="-60" dirty="0">
                <a:cs typeface="Calibri"/>
              </a:rPr>
              <a:t> </a:t>
            </a:r>
            <a:r>
              <a:rPr lang="en-US" sz="2800" dirty="0" smtClean="0">
                <a:cs typeface="Calibri"/>
              </a:rPr>
              <a:t>Lab</a:t>
            </a:r>
          </a:p>
          <a:p>
            <a:pPr marL="838200" marR="5080" lvl="1" indent="-368935">
              <a:lnSpc>
                <a:spcPct val="150000"/>
              </a:lnSpc>
              <a:spcBef>
                <a:spcPts val="70"/>
              </a:spcBef>
              <a:buChar char="•"/>
              <a:tabLst>
                <a:tab pos="381000" algn="l"/>
                <a:tab pos="1169035" algn="l"/>
                <a:tab pos="1923414" algn="l"/>
                <a:tab pos="3080385" algn="l"/>
                <a:tab pos="4998085" algn="l"/>
                <a:tab pos="5963285" algn="l"/>
                <a:tab pos="6892290" algn="l"/>
              </a:tabLst>
            </a:pPr>
            <a:r>
              <a:rPr lang="en-US" sz="2800" spc="-10" dirty="0" smtClean="0">
                <a:cs typeface="Calibri"/>
              </a:rPr>
              <a:t>Promotion</a:t>
            </a:r>
            <a:endParaRPr lang="en-US" sz="28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9684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732901" y="5634822"/>
            <a:ext cx="16976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239">
              <a:lnSpc>
                <a:spcPts val="922"/>
              </a:lnSpc>
            </a:pPr>
            <a:fld id="{81D60167-4931-47E6-BA6A-407CBD079E47}" type="slidenum">
              <a:rPr spc="-44" dirty="0"/>
              <a:pPr marL="67239">
                <a:lnSpc>
                  <a:spcPts val="922"/>
                </a:lnSpc>
              </a:pPr>
              <a:t>6</a:t>
            </a:fld>
            <a:endParaRPr spc="-44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63341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Concept of </a:t>
            </a:r>
            <a:r>
              <a:rPr lang="en-IN" sz="3200" b="1" dirty="0" smtClean="0">
                <a:solidFill>
                  <a:schemeClr val="bg1"/>
                </a:solidFill>
              </a:rPr>
              <a:t>Testing: Steps Involved</a:t>
            </a:r>
            <a:endParaRPr lang="en-IN" sz="3200" b="1" dirty="0">
              <a:solidFill>
                <a:schemeClr val="bg1"/>
              </a:solidFill>
            </a:endParaRPr>
          </a:p>
        </p:txBody>
      </p:sp>
      <p:pic>
        <p:nvPicPr>
          <p:cNvPr id="6" name="object 2"/>
          <p:cNvPicPr/>
          <p:nvPr/>
        </p:nvPicPr>
        <p:blipFill rotWithShape="1">
          <a:blip r:embed="rId2" cstate="print"/>
          <a:srcRect l="11580"/>
          <a:stretch/>
        </p:blipFill>
        <p:spPr>
          <a:xfrm>
            <a:off x="237464" y="1052736"/>
            <a:ext cx="5832648" cy="3816424"/>
          </a:xfrm>
          <a:prstGeom prst="rect">
            <a:avLst/>
          </a:prstGeom>
        </p:spPr>
      </p:pic>
      <p:pic>
        <p:nvPicPr>
          <p:cNvPr id="8" name="object 4"/>
          <p:cNvPicPr/>
          <p:nvPr/>
        </p:nvPicPr>
        <p:blipFill rotWithShape="1">
          <a:blip r:embed="rId3" cstate="print"/>
          <a:srcRect l="16387" r="25627" b="9524"/>
          <a:stretch/>
        </p:blipFill>
        <p:spPr>
          <a:xfrm>
            <a:off x="6168008" y="1051584"/>
            <a:ext cx="5760640" cy="35283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11424" y="5157192"/>
            <a:ext cx="9505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Develop 3D Models and test their functionality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804530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732901" y="5634822"/>
            <a:ext cx="16976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239">
              <a:lnSpc>
                <a:spcPts val="922"/>
              </a:lnSpc>
            </a:pPr>
            <a:fld id="{81D60167-4931-47E6-BA6A-407CBD079E47}" type="slidenum">
              <a:rPr spc="-44" dirty="0"/>
              <a:pPr marL="67239">
                <a:lnSpc>
                  <a:spcPts val="922"/>
                </a:lnSpc>
              </a:pPr>
              <a:t>7</a:t>
            </a:fld>
            <a:endParaRPr spc="-44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63341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Concept of </a:t>
            </a:r>
            <a:r>
              <a:rPr lang="en-IN" sz="3200" b="1" dirty="0" smtClean="0">
                <a:solidFill>
                  <a:schemeClr val="bg1"/>
                </a:solidFill>
              </a:rPr>
              <a:t>Testing: Steps Involved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10" name="object 3"/>
          <p:cNvSpPr txBox="1"/>
          <p:nvPr/>
        </p:nvSpPr>
        <p:spPr>
          <a:xfrm>
            <a:off x="407368" y="836712"/>
            <a:ext cx="5328592" cy="359842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660"/>
              </a:spcBef>
              <a:tabLst>
                <a:tab pos="200660" algn="l"/>
              </a:tabLst>
            </a:pPr>
            <a:r>
              <a:rPr lang="en-US" sz="2800" b="1" dirty="0" smtClean="0">
                <a:solidFill>
                  <a:srgbClr val="C00000"/>
                </a:solidFill>
                <a:latin typeface="Calibri"/>
                <a:cs typeface="Calibri"/>
              </a:rPr>
              <a:t>STEP-1</a:t>
            </a:r>
          </a:p>
          <a:p>
            <a:pPr marL="200660" indent="-187960">
              <a:lnSpc>
                <a:spcPct val="150000"/>
              </a:lnSpc>
              <a:spcBef>
                <a:spcPts val="660"/>
              </a:spcBef>
              <a:buFont typeface="Arial MT"/>
              <a:buChar char="•"/>
              <a:tabLst>
                <a:tab pos="200660" algn="l"/>
              </a:tabLst>
            </a:pPr>
            <a:r>
              <a:rPr sz="2800" dirty="0" smtClean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lang="en-IN" sz="2800" dirty="0" smtClean="0">
                <a:solidFill>
                  <a:srgbClr val="0000FF"/>
                </a:solidFill>
                <a:latin typeface="Calibri"/>
                <a:cs typeface="Calibri"/>
              </a:rPr>
              <a:t>how</a:t>
            </a:r>
            <a:r>
              <a:rPr sz="2800" spc="-60" dirty="0" smtClean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prototype</a:t>
            </a:r>
            <a:r>
              <a:rPr sz="2800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8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user</a:t>
            </a:r>
            <a:endParaRPr sz="2800" dirty="0">
              <a:solidFill>
                <a:srgbClr val="0000FF"/>
              </a:solidFill>
              <a:latin typeface="Calibri"/>
              <a:cs typeface="Calibri"/>
            </a:endParaRPr>
          </a:p>
          <a:p>
            <a:pPr marL="200660" indent="-187960">
              <a:lnSpc>
                <a:spcPct val="150000"/>
              </a:lnSpc>
              <a:spcBef>
                <a:spcPts val="560"/>
              </a:spcBef>
              <a:buFont typeface="Arial MT"/>
              <a:buChar char="•"/>
              <a:tabLst>
                <a:tab pos="200660" algn="l"/>
              </a:tabLst>
            </a:pPr>
            <a:r>
              <a:rPr sz="2800" dirty="0" smtClean="0">
                <a:solidFill>
                  <a:srgbClr val="0000FF"/>
                </a:solidFill>
                <a:latin typeface="Calibri"/>
                <a:cs typeface="Calibri"/>
              </a:rPr>
              <a:t>O</a:t>
            </a:r>
            <a:r>
              <a:rPr lang="en-IN" sz="2800" dirty="0" err="1" smtClean="0">
                <a:solidFill>
                  <a:srgbClr val="0000FF"/>
                </a:solidFill>
                <a:latin typeface="Calibri"/>
                <a:cs typeface="Calibri"/>
              </a:rPr>
              <a:t>bserve</a:t>
            </a:r>
            <a:r>
              <a:rPr sz="2800" spc="-45" dirty="0" smtClean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how</a:t>
            </a: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user </a:t>
            </a:r>
            <a:r>
              <a:rPr sz="2800" spc="-10" dirty="0">
                <a:solidFill>
                  <a:srgbClr val="0000FF"/>
                </a:solidFill>
                <a:latin typeface="Calibri"/>
                <a:cs typeface="Calibri"/>
              </a:rPr>
              <a:t>reacts</a:t>
            </a:r>
            <a:endParaRPr sz="2800" dirty="0">
              <a:solidFill>
                <a:srgbClr val="0000FF"/>
              </a:solidFill>
              <a:latin typeface="Calibri"/>
              <a:cs typeface="Calibri"/>
            </a:endParaRPr>
          </a:p>
          <a:p>
            <a:pPr marL="200025" marR="5080" indent="-187960">
              <a:lnSpc>
                <a:spcPct val="150000"/>
              </a:lnSpc>
              <a:spcBef>
                <a:spcPts val="855"/>
              </a:spcBef>
              <a:buFont typeface="Arial MT"/>
              <a:buChar char="•"/>
              <a:tabLst>
                <a:tab pos="201295" algn="l"/>
              </a:tabLst>
            </a:pPr>
            <a:r>
              <a:rPr sz="2800" dirty="0" smtClean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lang="en-IN" sz="2800" dirty="0" err="1" smtClean="0">
                <a:solidFill>
                  <a:srgbClr val="0000FF"/>
                </a:solidFill>
                <a:latin typeface="Calibri"/>
                <a:cs typeface="Calibri"/>
              </a:rPr>
              <a:t>sk</a:t>
            </a:r>
            <a:r>
              <a:rPr sz="2800" spc="-35" dirty="0" smtClean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questions</a:t>
            </a:r>
            <a:r>
              <a:rPr sz="28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r>
              <a:rPr sz="28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prompt</a:t>
            </a:r>
            <a:r>
              <a:rPr sz="28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8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user 	</a:t>
            </a:r>
            <a:r>
              <a:rPr sz="2800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8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spc="-10" dirty="0" smtClean="0">
                <a:solidFill>
                  <a:srgbClr val="0000FF"/>
                </a:solidFill>
                <a:latin typeface="Calibri"/>
                <a:cs typeface="Calibri"/>
              </a:rPr>
              <a:t>speak</a:t>
            </a:r>
            <a:endParaRPr lang="en-US" sz="2800" b="1" spc="-10" dirty="0" smtClean="0">
              <a:solidFill>
                <a:srgbClr val="C00000"/>
              </a:solidFill>
              <a:latin typeface="Calibri"/>
              <a:cs typeface="Calibri"/>
            </a:endParaRPr>
          </a:p>
        </p:txBody>
      </p:sp>
      <p:sp>
        <p:nvSpPr>
          <p:cNvPr id="14" name="object 3"/>
          <p:cNvSpPr txBox="1"/>
          <p:nvPr/>
        </p:nvSpPr>
        <p:spPr>
          <a:xfrm>
            <a:off x="6384032" y="836712"/>
            <a:ext cx="5472608" cy="518603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12065" marR="5080">
              <a:lnSpc>
                <a:spcPct val="150000"/>
              </a:lnSpc>
              <a:spcBef>
                <a:spcPts val="855"/>
              </a:spcBef>
              <a:tabLst>
                <a:tab pos="201295" algn="l"/>
              </a:tabLst>
            </a:pPr>
            <a:r>
              <a:rPr lang="en-US" sz="2800" b="1" spc="-10" dirty="0" smtClean="0">
                <a:solidFill>
                  <a:srgbClr val="C00000"/>
                </a:solidFill>
                <a:latin typeface="Calibri"/>
                <a:cs typeface="Calibri"/>
              </a:rPr>
              <a:t>Things not to do during Testing</a:t>
            </a:r>
          </a:p>
          <a:p>
            <a:pPr marL="200025" marR="5080" indent="-187960">
              <a:lnSpc>
                <a:spcPct val="150000"/>
              </a:lnSpc>
              <a:spcBef>
                <a:spcPts val="85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US" sz="2800" dirty="0" smtClean="0">
                <a:solidFill>
                  <a:srgbClr val="00B050"/>
                </a:solidFill>
                <a:latin typeface="Calibri"/>
                <a:cs typeface="Calibri"/>
              </a:rPr>
              <a:t>Talking and not Listening</a:t>
            </a:r>
          </a:p>
          <a:p>
            <a:pPr marL="200025" marR="5080" indent="-187960">
              <a:lnSpc>
                <a:spcPct val="150000"/>
              </a:lnSpc>
              <a:spcBef>
                <a:spcPts val="85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US" sz="2800" dirty="0" smtClean="0">
                <a:solidFill>
                  <a:srgbClr val="00B050"/>
                </a:solidFill>
                <a:latin typeface="Calibri"/>
                <a:cs typeface="Calibri"/>
              </a:rPr>
              <a:t>Blaming Customers for not understanding</a:t>
            </a:r>
          </a:p>
          <a:p>
            <a:pPr marL="200025" marR="5080" indent="-187960">
              <a:lnSpc>
                <a:spcPct val="150000"/>
              </a:lnSpc>
              <a:spcBef>
                <a:spcPts val="85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US" sz="2800" dirty="0" smtClean="0">
                <a:solidFill>
                  <a:srgbClr val="00B050"/>
                </a:solidFill>
                <a:latin typeface="Calibri"/>
                <a:cs typeface="Calibri"/>
              </a:rPr>
              <a:t>Answering Customer questions</a:t>
            </a:r>
          </a:p>
          <a:p>
            <a:pPr marL="200025" marR="5080" indent="-187960">
              <a:lnSpc>
                <a:spcPct val="150000"/>
              </a:lnSpc>
              <a:spcBef>
                <a:spcPts val="85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US" sz="2800" dirty="0" smtClean="0">
                <a:solidFill>
                  <a:srgbClr val="00B050"/>
                </a:solidFill>
                <a:latin typeface="Calibri"/>
                <a:cs typeface="Calibri"/>
              </a:rPr>
              <a:t>Inventing on the spot</a:t>
            </a:r>
          </a:p>
          <a:p>
            <a:pPr marL="200025" marR="5080" indent="-187960">
              <a:lnSpc>
                <a:spcPct val="150000"/>
              </a:lnSpc>
              <a:spcBef>
                <a:spcPts val="855"/>
              </a:spcBef>
              <a:buFont typeface="Arial MT"/>
              <a:buChar char="•"/>
              <a:tabLst>
                <a:tab pos="201295" algn="l"/>
              </a:tabLst>
            </a:pPr>
            <a:r>
              <a:rPr lang="en-US" sz="2800" dirty="0" smtClean="0">
                <a:solidFill>
                  <a:srgbClr val="00B050"/>
                </a:solidFill>
                <a:latin typeface="Calibri"/>
                <a:cs typeface="Calibri"/>
              </a:rPr>
              <a:t>Asking Closed Questions</a:t>
            </a:r>
            <a:endParaRPr sz="2800" b="1" dirty="0">
              <a:latin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5440" y="4869160"/>
            <a:ext cx="3816424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3300"/>
                </a:solidFill>
              </a:rPr>
              <a:t>SHOW – OBSERVE - ASK</a:t>
            </a:r>
            <a:endParaRPr lang="en-IN" sz="2800" b="1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258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732901" y="5634822"/>
            <a:ext cx="16976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239">
              <a:lnSpc>
                <a:spcPts val="922"/>
              </a:lnSpc>
            </a:pPr>
            <a:fld id="{81D60167-4931-47E6-BA6A-407CBD079E47}" type="slidenum">
              <a:rPr spc="-44" dirty="0"/>
              <a:pPr marL="67239">
                <a:lnSpc>
                  <a:spcPts val="922"/>
                </a:lnSpc>
              </a:pPr>
              <a:t>8</a:t>
            </a:fld>
            <a:endParaRPr spc="-44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63341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Concept of </a:t>
            </a:r>
            <a:r>
              <a:rPr lang="en-IN" sz="3200" b="1" dirty="0" smtClean="0">
                <a:solidFill>
                  <a:schemeClr val="bg1"/>
                </a:solidFill>
              </a:rPr>
              <a:t>Testing: Stages in Testing Process</a:t>
            </a:r>
            <a:endParaRPr lang="en-IN" sz="3200" b="1" dirty="0">
              <a:solidFill>
                <a:schemeClr val="bg1"/>
              </a:solidFill>
            </a:endParaRPr>
          </a:p>
        </p:txBody>
      </p:sp>
      <p:grpSp>
        <p:nvGrpSpPr>
          <p:cNvPr id="11" name="object 3"/>
          <p:cNvGrpSpPr/>
          <p:nvPr/>
        </p:nvGrpSpPr>
        <p:grpSpPr>
          <a:xfrm>
            <a:off x="1055440" y="1268760"/>
            <a:ext cx="10441160" cy="4824536"/>
            <a:chOff x="2018347" y="2623375"/>
            <a:chExt cx="8032115" cy="3444875"/>
          </a:xfrm>
        </p:grpSpPr>
        <p:pic>
          <p:nvPicPr>
            <p:cNvPr id="12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4540" y="2639568"/>
              <a:ext cx="7999475" cy="3412235"/>
            </a:xfrm>
            <a:prstGeom prst="rect">
              <a:avLst/>
            </a:prstGeom>
          </p:spPr>
        </p:pic>
        <p:sp>
          <p:nvSpPr>
            <p:cNvPr id="13" name="object 5"/>
            <p:cNvSpPr/>
            <p:nvPr/>
          </p:nvSpPr>
          <p:spPr>
            <a:xfrm>
              <a:off x="2034540" y="2639568"/>
              <a:ext cx="7999730" cy="3412490"/>
            </a:xfrm>
            <a:custGeom>
              <a:avLst/>
              <a:gdLst/>
              <a:ahLst/>
              <a:cxnLst/>
              <a:rect l="l" t="t" r="r" b="b"/>
              <a:pathLst>
                <a:path w="7999730" h="3412490">
                  <a:moveTo>
                    <a:pt x="0" y="0"/>
                  </a:moveTo>
                  <a:lnTo>
                    <a:pt x="7999475" y="1636775"/>
                  </a:lnTo>
                  <a:lnTo>
                    <a:pt x="0" y="3412235"/>
                  </a:lnTo>
                  <a:lnTo>
                    <a:pt x="0" y="0"/>
                  </a:lnTo>
                  <a:close/>
                </a:path>
              </a:pathLst>
            </a:custGeom>
            <a:ln w="32004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11"/>
          <p:cNvGrpSpPr/>
          <p:nvPr/>
        </p:nvGrpSpPr>
        <p:grpSpPr>
          <a:xfrm>
            <a:off x="3911052" y="2643191"/>
            <a:ext cx="1958339" cy="2071370"/>
            <a:chOff x="4117086" y="3268217"/>
            <a:chExt cx="1958339" cy="2071370"/>
          </a:xfrm>
        </p:grpSpPr>
        <p:sp>
          <p:nvSpPr>
            <p:cNvPr id="9" name="object 12"/>
            <p:cNvSpPr/>
            <p:nvPr/>
          </p:nvSpPr>
          <p:spPr>
            <a:xfrm>
              <a:off x="4133088" y="3284219"/>
              <a:ext cx="1926589" cy="2039620"/>
            </a:xfrm>
            <a:custGeom>
              <a:avLst/>
              <a:gdLst/>
              <a:ahLst/>
              <a:cxnLst/>
              <a:rect l="l" t="t" r="r" b="b"/>
              <a:pathLst>
                <a:path w="1926589" h="2039620">
                  <a:moveTo>
                    <a:pt x="963168" y="2039112"/>
                  </a:moveTo>
                  <a:lnTo>
                    <a:pt x="916507" y="2037938"/>
                  </a:lnTo>
                  <a:lnTo>
                    <a:pt x="870418" y="2034452"/>
                  </a:lnTo>
                  <a:lnTo>
                    <a:pt x="824953" y="2028707"/>
                  </a:lnTo>
                  <a:lnTo>
                    <a:pt x="780162" y="2020757"/>
                  </a:lnTo>
                  <a:lnTo>
                    <a:pt x="736094" y="2010653"/>
                  </a:lnTo>
                  <a:lnTo>
                    <a:pt x="692801" y="1998449"/>
                  </a:lnTo>
                  <a:lnTo>
                    <a:pt x="650332" y="1984199"/>
                  </a:lnTo>
                  <a:lnTo>
                    <a:pt x="608740" y="1967955"/>
                  </a:lnTo>
                  <a:lnTo>
                    <a:pt x="568073" y="1949770"/>
                  </a:lnTo>
                  <a:lnTo>
                    <a:pt x="528382" y="1929697"/>
                  </a:lnTo>
                  <a:lnTo>
                    <a:pt x="489719" y="1907790"/>
                  </a:lnTo>
                  <a:lnTo>
                    <a:pt x="452133" y="1884101"/>
                  </a:lnTo>
                  <a:lnTo>
                    <a:pt x="415674" y="1858683"/>
                  </a:lnTo>
                  <a:lnTo>
                    <a:pt x="380395" y="1831590"/>
                  </a:lnTo>
                  <a:lnTo>
                    <a:pt x="346344" y="1802875"/>
                  </a:lnTo>
                  <a:lnTo>
                    <a:pt x="313572" y="1772590"/>
                  </a:lnTo>
                  <a:lnTo>
                    <a:pt x="282130" y="1740789"/>
                  </a:lnTo>
                  <a:lnTo>
                    <a:pt x="252068" y="1707524"/>
                  </a:lnTo>
                  <a:lnTo>
                    <a:pt x="223438" y="1672849"/>
                  </a:lnTo>
                  <a:lnTo>
                    <a:pt x="196288" y="1636816"/>
                  </a:lnTo>
                  <a:lnTo>
                    <a:pt x="170670" y="1599480"/>
                  </a:lnTo>
                  <a:lnTo>
                    <a:pt x="146635" y="1560892"/>
                  </a:lnTo>
                  <a:lnTo>
                    <a:pt x="124232" y="1521106"/>
                  </a:lnTo>
                  <a:lnTo>
                    <a:pt x="103512" y="1480175"/>
                  </a:lnTo>
                  <a:lnTo>
                    <a:pt x="84526" y="1438152"/>
                  </a:lnTo>
                  <a:lnTo>
                    <a:pt x="67325" y="1395090"/>
                  </a:lnTo>
                  <a:lnTo>
                    <a:pt x="51958" y="1351042"/>
                  </a:lnTo>
                  <a:lnTo>
                    <a:pt x="38476" y="1306062"/>
                  </a:lnTo>
                  <a:lnTo>
                    <a:pt x="26929" y="1260201"/>
                  </a:lnTo>
                  <a:lnTo>
                    <a:pt x="17369" y="1213513"/>
                  </a:lnTo>
                  <a:lnTo>
                    <a:pt x="9846" y="1166052"/>
                  </a:lnTo>
                  <a:lnTo>
                    <a:pt x="4409" y="1117870"/>
                  </a:lnTo>
                  <a:lnTo>
                    <a:pt x="1110" y="1069020"/>
                  </a:lnTo>
                  <a:lnTo>
                    <a:pt x="0" y="1019556"/>
                  </a:lnTo>
                  <a:lnTo>
                    <a:pt x="1110" y="970091"/>
                  </a:lnTo>
                  <a:lnTo>
                    <a:pt x="4409" y="921241"/>
                  </a:lnTo>
                  <a:lnTo>
                    <a:pt x="9846" y="873059"/>
                  </a:lnTo>
                  <a:lnTo>
                    <a:pt x="17369" y="825598"/>
                  </a:lnTo>
                  <a:lnTo>
                    <a:pt x="26929" y="778910"/>
                  </a:lnTo>
                  <a:lnTo>
                    <a:pt x="38476" y="733049"/>
                  </a:lnTo>
                  <a:lnTo>
                    <a:pt x="51958" y="688069"/>
                  </a:lnTo>
                  <a:lnTo>
                    <a:pt x="67325" y="644021"/>
                  </a:lnTo>
                  <a:lnTo>
                    <a:pt x="84526" y="600959"/>
                  </a:lnTo>
                  <a:lnTo>
                    <a:pt x="103512" y="558936"/>
                  </a:lnTo>
                  <a:lnTo>
                    <a:pt x="124232" y="518005"/>
                  </a:lnTo>
                  <a:lnTo>
                    <a:pt x="146635" y="478219"/>
                  </a:lnTo>
                  <a:lnTo>
                    <a:pt x="170670" y="439631"/>
                  </a:lnTo>
                  <a:lnTo>
                    <a:pt x="196288" y="402295"/>
                  </a:lnTo>
                  <a:lnTo>
                    <a:pt x="223438" y="366262"/>
                  </a:lnTo>
                  <a:lnTo>
                    <a:pt x="252068" y="331587"/>
                  </a:lnTo>
                  <a:lnTo>
                    <a:pt x="282130" y="298323"/>
                  </a:lnTo>
                  <a:lnTo>
                    <a:pt x="313572" y="266521"/>
                  </a:lnTo>
                  <a:lnTo>
                    <a:pt x="346344" y="236236"/>
                  </a:lnTo>
                  <a:lnTo>
                    <a:pt x="380395" y="207521"/>
                  </a:lnTo>
                  <a:lnTo>
                    <a:pt x="415674" y="180428"/>
                  </a:lnTo>
                  <a:lnTo>
                    <a:pt x="452133" y="155010"/>
                  </a:lnTo>
                  <a:lnTo>
                    <a:pt x="489719" y="131321"/>
                  </a:lnTo>
                  <a:lnTo>
                    <a:pt x="528382" y="109414"/>
                  </a:lnTo>
                  <a:lnTo>
                    <a:pt x="568073" y="89341"/>
                  </a:lnTo>
                  <a:lnTo>
                    <a:pt x="608740" y="71156"/>
                  </a:lnTo>
                  <a:lnTo>
                    <a:pt x="650332" y="54912"/>
                  </a:lnTo>
                  <a:lnTo>
                    <a:pt x="692801" y="40662"/>
                  </a:lnTo>
                  <a:lnTo>
                    <a:pt x="736094" y="28458"/>
                  </a:lnTo>
                  <a:lnTo>
                    <a:pt x="780162" y="18355"/>
                  </a:lnTo>
                  <a:lnTo>
                    <a:pt x="824953" y="10404"/>
                  </a:lnTo>
                  <a:lnTo>
                    <a:pt x="870418" y="4659"/>
                  </a:lnTo>
                  <a:lnTo>
                    <a:pt x="916507" y="1173"/>
                  </a:lnTo>
                  <a:lnTo>
                    <a:pt x="963168" y="0"/>
                  </a:lnTo>
                  <a:lnTo>
                    <a:pt x="1009828" y="1173"/>
                  </a:lnTo>
                  <a:lnTo>
                    <a:pt x="1055917" y="4659"/>
                  </a:lnTo>
                  <a:lnTo>
                    <a:pt x="1101382" y="10404"/>
                  </a:lnTo>
                  <a:lnTo>
                    <a:pt x="1146173" y="18355"/>
                  </a:lnTo>
                  <a:lnTo>
                    <a:pt x="1190241" y="28458"/>
                  </a:lnTo>
                  <a:lnTo>
                    <a:pt x="1233534" y="40662"/>
                  </a:lnTo>
                  <a:lnTo>
                    <a:pt x="1276003" y="54912"/>
                  </a:lnTo>
                  <a:lnTo>
                    <a:pt x="1317595" y="71156"/>
                  </a:lnTo>
                  <a:lnTo>
                    <a:pt x="1358262" y="89341"/>
                  </a:lnTo>
                  <a:lnTo>
                    <a:pt x="1397953" y="109414"/>
                  </a:lnTo>
                  <a:lnTo>
                    <a:pt x="1436616" y="131321"/>
                  </a:lnTo>
                  <a:lnTo>
                    <a:pt x="1474202" y="155010"/>
                  </a:lnTo>
                  <a:lnTo>
                    <a:pt x="1510661" y="180428"/>
                  </a:lnTo>
                  <a:lnTo>
                    <a:pt x="1545940" y="207521"/>
                  </a:lnTo>
                  <a:lnTo>
                    <a:pt x="1579991" y="236236"/>
                  </a:lnTo>
                  <a:lnTo>
                    <a:pt x="1612763" y="266521"/>
                  </a:lnTo>
                  <a:lnTo>
                    <a:pt x="1644205" y="298323"/>
                  </a:lnTo>
                  <a:lnTo>
                    <a:pt x="1674267" y="331587"/>
                  </a:lnTo>
                  <a:lnTo>
                    <a:pt x="1702897" y="366262"/>
                  </a:lnTo>
                  <a:lnTo>
                    <a:pt x="1730047" y="402295"/>
                  </a:lnTo>
                  <a:lnTo>
                    <a:pt x="1755665" y="439631"/>
                  </a:lnTo>
                  <a:lnTo>
                    <a:pt x="1779700" y="478219"/>
                  </a:lnTo>
                  <a:lnTo>
                    <a:pt x="1802103" y="518005"/>
                  </a:lnTo>
                  <a:lnTo>
                    <a:pt x="1822823" y="558936"/>
                  </a:lnTo>
                  <a:lnTo>
                    <a:pt x="1841809" y="600959"/>
                  </a:lnTo>
                  <a:lnTo>
                    <a:pt x="1859010" y="644021"/>
                  </a:lnTo>
                  <a:lnTo>
                    <a:pt x="1874377" y="688069"/>
                  </a:lnTo>
                  <a:lnTo>
                    <a:pt x="1887859" y="733049"/>
                  </a:lnTo>
                  <a:lnTo>
                    <a:pt x="1899406" y="778910"/>
                  </a:lnTo>
                  <a:lnTo>
                    <a:pt x="1908966" y="825598"/>
                  </a:lnTo>
                  <a:lnTo>
                    <a:pt x="1916489" y="873059"/>
                  </a:lnTo>
                  <a:lnTo>
                    <a:pt x="1921926" y="921241"/>
                  </a:lnTo>
                  <a:lnTo>
                    <a:pt x="1925225" y="970091"/>
                  </a:lnTo>
                  <a:lnTo>
                    <a:pt x="1926336" y="1019556"/>
                  </a:lnTo>
                  <a:lnTo>
                    <a:pt x="1925225" y="1069020"/>
                  </a:lnTo>
                  <a:lnTo>
                    <a:pt x="1921926" y="1117870"/>
                  </a:lnTo>
                  <a:lnTo>
                    <a:pt x="1916489" y="1166052"/>
                  </a:lnTo>
                  <a:lnTo>
                    <a:pt x="1908966" y="1213513"/>
                  </a:lnTo>
                  <a:lnTo>
                    <a:pt x="1899406" y="1260201"/>
                  </a:lnTo>
                  <a:lnTo>
                    <a:pt x="1887859" y="1306062"/>
                  </a:lnTo>
                  <a:lnTo>
                    <a:pt x="1874377" y="1351042"/>
                  </a:lnTo>
                  <a:lnTo>
                    <a:pt x="1859010" y="1395090"/>
                  </a:lnTo>
                  <a:lnTo>
                    <a:pt x="1841809" y="1438152"/>
                  </a:lnTo>
                  <a:lnTo>
                    <a:pt x="1822823" y="1480175"/>
                  </a:lnTo>
                  <a:lnTo>
                    <a:pt x="1802103" y="1521106"/>
                  </a:lnTo>
                  <a:lnTo>
                    <a:pt x="1779700" y="1560892"/>
                  </a:lnTo>
                  <a:lnTo>
                    <a:pt x="1755665" y="1599480"/>
                  </a:lnTo>
                  <a:lnTo>
                    <a:pt x="1730047" y="1636816"/>
                  </a:lnTo>
                  <a:lnTo>
                    <a:pt x="1702897" y="1672849"/>
                  </a:lnTo>
                  <a:lnTo>
                    <a:pt x="1674267" y="1707524"/>
                  </a:lnTo>
                  <a:lnTo>
                    <a:pt x="1644205" y="1740789"/>
                  </a:lnTo>
                  <a:lnTo>
                    <a:pt x="1612763" y="1772590"/>
                  </a:lnTo>
                  <a:lnTo>
                    <a:pt x="1579991" y="1802875"/>
                  </a:lnTo>
                  <a:lnTo>
                    <a:pt x="1545940" y="1831590"/>
                  </a:lnTo>
                  <a:lnTo>
                    <a:pt x="1510661" y="1858683"/>
                  </a:lnTo>
                  <a:lnTo>
                    <a:pt x="1474202" y="1884101"/>
                  </a:lnTo>
                  <a:lnTo>
                    <a:pt x="1436616" y="1907790"/>
                  </a:lnTo>
                  <a:lnTo>
                    <a:pt x="1397953" y="1929697"/>
                  </a:lnTo>
                  <a:lnTo>
                    <a:pt x="1358262" y="1949770"/>
                  </a:lnTo>
                  <a:lnTo>
                    <a:pt x="1317595" y="1967955"/>
                  </a:lnTo>
                  <a:lnTo>
                    <a:pt x="1276003" y="1984199"/>
                  </a:lnTo>
                  <a:lnTo>
                    <a:pt x="1233534" y="1998449"/>
                  </a:lnTo>
                  <a:lnTo>
                    <a:pt x="1190241" y="2010653"/>
                  </a:lnTo>
                  <a:lnTo>
                    <a:pt x="1146173" y="2020757"/>
                  </a:lnTo>
                  <a:lnTo>
                    <a:pt x="1101382" y="2028707"/>
                  </a:lnTo>
                  <a:lnTo>
                    <a:pt x="1055917" y="2034452"/>
                  </a:lnTo>
                  <a:lnTo>
                    <a:pt x="1009828" y="2037938"/>
                  </a:lnTo>
                  <a:lnTo>
                    <a:pt x="963168" y="2039112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/>
            <p:cNvSpPr/>
            <p:nvPr/>
          </p:nvSpPr>
          <p:spPr>
            <a:xfrm>
              <a:off x="4133088" y="3284219"/>
              <a:ext cx="1926589" cy="2039620"/>
            </a:xfrm>
            <a:custGeom>
              <a:avLst/>
              <a:gdLst/>
              <a:ahLst/>
              <a:cxnLst/>
              <a:rect l="l" t="t" r="r" b="b"/>
              <a:pathLst>
                <a:path w="1926589" h="2039620">
                  <a:moveTo>
                    <a:pt x="0" y="1019556"/>
                  </a:moveTo>
                  <a:lnTo>
                    <a:pt x="1110" y="970091"/>
                  </a:lnTo>
                  <a:lnTo>
                    <a:pt x="4409" y="921241"/>
                  </a:lnTo>
                  <a:lnTo>
                    <a:pt x="9846" y="873059"/>
                  </a:lnTo>
                  <a:lnTo>
                    <a:pt x="17369" y="825598"/>
                  </a:lnTo>
                  <a:lnTo>
                    <a:pt x="26929" y="778910"/>
                  </a:lnTo>
                  <a:lnTo>
                    <a:pt x="38476" y="733049"/>
                  </a:lnTo>
                  <a:lnTo>
                    <a:pt x="51958" y="688069"/>
                  </a:lnTo>
                  <a:lnTo>
                    <a:pt x="67325" y="644021"/>
                  </a:lnTo>
                  <a:lnTo>
                    <a:pt x="84526" y="600959"/>
                  </a:lnTo>
                  <a:lnTo>
                    <a:pt x="103512" y="558936"/>
                  </a:lnTo>
                  <a:lnTo>
                    <a:pt x="124232" y="518005"/>
                  </a:lnTo>
                  <a:lnTo>
                    <a:pt x="146635" y="478219"/>
                  </a:lnTo>
                  <a:lnTo>
                    <a:pt x="170670" y="439631"/>
                  </a:lnTo>
                  <a:lnTo>
                    <a:pt x="196288" y="402295"/>
                  </a:lnTo>
                  <a:lnTo>
                    <a:pt x="223438" y="366262"/>
                  </a:lnTo>
                  <a:lnTo>
                    <a:pt x="252068" y="331587"/>
                  </a:lnTo>
                  <a:lnTo>
                    <a:pt x="282130" y="298323"/>
                  </a:lnTo>
                  <a:lnTo>
                    <a:pt x="313572" y="266521"/>
                  </a:lnTo>
                  <a:lnTo>
                    <a:pt x="346344" y="236236"/>
                  </a:lnTo>
                  <a:lnTo>
                    <a:pt x="380395" y="207521"/>
                  </a:lnTo>
                  <a:lnTo>
                    <a:pt x="415674" y="180428"/>
                  </a:lnTo>
                  <a:lnTo>
                    <a:pt x="452133" y="155010"/>
                  </a:lnTo>
                  <a:lnTo>
                    <a:pt x="489719" y="131321"/>
                  </a:lnTo>
                  <a:lnTo>
                    <a:pt x="528382" y="109414"/>
                  </a:lnTo>
                  <a:lnTo>
                    <a:pt x="568073" y="89341"/>
                  </a:lnTo>
                  <a:lnTo>
                    <a:pt x="608740" y="71156"/>
                  </a:lnTo>
                  <a:lnTo>
                    <a:pt x="650332" y="54912"/>
                  </a:lnTo>
                  <a:lnTo>
                    <a:pt x="692801" y="40662"/>
                  </a:lnTo>
                  <a:lnTo>
                    <a:pt x="736094" y="28458"/>
                  </a:lnTo>
                  <a:lnTo>
                    <a:pt x="780162" y="18355"/>
                  </a:lnTo>
                  <a:lnTo>
                    <a:pt x="824953" y="10404"/>
                  </a:lnTo>
                  <a:lnTo>
                    <a:pt x="870418" y="4659"/>
                  </a:lnTo>
                  <a:lnTo>
                    <a:pt x="916507" y="1173"/>
                  </a:lnTo>
                  <a:lnTo>
                    <a:pt x="963168" y="0"/>
                  </a:lnTo>
                  <a:lnTo>
                    <a:pt x="1009828" y="1173"/>
                  </a:lnTo>
                  <a:lnTo>
                    <a:pt x="1055917" y="4659"/>
                  </a:lnTo>
                  <a:lnTo>
                    <a:pt x="1101382" y="10404"/>
                  </a:lnTo>
                  <a:lnTo>
                    <a:pt x="1146173" y="18355"/>
                  </a:lnTo>
                  <a:lnTo>
                    <a:pt x="1190241" y="28458"/>
                  </a:lnTo>
                  <a:lnTo>
                    <a:pt x="1233534" y="40662"/>
                  </a:lnTo>
                  <a:lnTo>
                    <a:pt x="1276003" y="54912"/>
                  </a:lnTo>
                  <a:lnTo>
                    <a:pt x="1317595" y="71156"/>
                  </a:lnTo>
                  <a:lnTo>
                    <a:pt x="1358262" y="89341"/>
                  </a:lnTo>
                  <a:lnTo>
                    <a:pt x="1397953" y="109414"/>
                  </a:lnTo>
                  <a:lnTo>
                    <a:pt x="1436616" y="131321"/>
                  </a:lnTo>
                  <a:lnTo>
                    <a:pt x="1474202" y="155010"/>
                  </a:lnTo>
                  <a:lnTo>
                    <a:pt x="1510661" y="180428"/>
                  </a:lnTo>
                  <a:lnTo>
                    <a:pt x="1545940" y="207521"/>
                  </a:lnTo>
                  <a:lnTo>
                    <a:pt x="1579991" y="236236"/>
                  </a:lnTo>
                  <a:lnTo>
                    <a:pt x="1612763" y="266521"/>
                  </a:lnTo>
                  <a:lnTo>
                    <a:pt x="1644205" y="298323"/>
                  </a:lnTo>
                  <a:lnTo>
                    <a:pt x="1674267" y="331587"/>
                  </a:lnTo>
                  <a:lnTo>
                    <a:pt x="1702897" y="366262"/>
                  </a:lnTo>
                  <a:lnTo>
                    <a:pt x="1730047" y="402295"/>
                  </a:lnTo>
                  <a:lnTo>
                    <a:pt x="1755665" y="439631"/>
                  </a:lnTo>
                  <a:lnTo>
                    <a:pt x="1779700" y="478219"/>
                  </a:lnTo>
                  <a:lnTo>
                    <a:pt x="1802103" y="518005"/>
                  </a:lnTo>
                  <a:lnTo>
                    <a:pt x="1822823" y="558936"/>
                  </a:lnTo>
                  <a:lnTo>
                    <a:pt x="1841809" y="600959"/>
                  </a:lnTo>
                  <a:lnTo>
                    <a:pt x="1859010" y="644021"/>
                  </a:lnTo>
                  <a:lnTo>
                    <a:pt x="1874377" y="688069"/>
                  </a:lnTo>
                  <a:lnTo>
                    <a:pt x="1887859" y="733049"/>
                  </a:lnTo>
                  <a:lnTo>
                    <a:pt x="1899406" y="778910"/>
                  </a:lnTo>
                  <a:lnTo>
                    <a:pt x="1908966" y="825598"/>
                  </a:lnTo>
                  <a:lnTo>
                    <a:pt x="1916489" y="873059"/>
                  </a:lnTo>
                  <a:lnTo>
                    <a:pt x="1921926" y="921241"/>
                  </a:lnTo>
                  <a:lnTo>
                    <a:pt x="1925225" y="970091"/>
                  </a:lnTo>
                  <a:lnTo>
                    <a:pt x="1926336" y="1019556"/>
                  </a:lnTo>
                  <a:lnTo>
                    <a:pt x="1925225" y="1069020"/>
                  </a:lnTo>
                  <a:lnTo>
                    <a:pt x="1921926" y="1117870"/>
                  </a:lnTo>
                  <a:lnTo>
                    <a:pt x="1916489" y="1166052"/>
                  </a:lnTo>
                  <a:lnTo>
                    <a:pt x="1908966" y="1213513"/>
                  </a:lnTo>
                  <a:lnTo>
                    <a:pt x="1899406" y="1260201"/>
                  </a:lnTo>
                  <a:lnTo>
                    <a:pt x="1887859" y="1306062"/>
                  </a:lnTo>
                  <a:lnTo>
                    <a:pt x="1874377" y="1351042"/>
                  </a:lnTo>
                  <a:lnTo>
                    <a:pt x="1859010" y="1395090"/>
                  </a:lnTo>
                  <a:lnTo>
                    <a:pt x="1841809" y="1438152"/>
                  </a:lnTo>
                  <a:lnTo>
                    <a:pt x="1822823" y="1480175"/>
                  </a:lnTo>
                  <a:lnTo>
                    <a:pt x="1802103" y="1521106"/>
                  </a:lnTo>
                  <a:lnTo>
                    <a:pt x="1779700" y="1560892"/>
                  </a:lnTo>
                  <a:lnTo>
                    <a:pt x="1755665" y="1599480"/>
                  </a:lnTo>
                  <a:lnTo>
                    <a:pt x="1730047" y="1636816"/>
                  </a:lnTo>
                  <a:lnTo>
                    <a:pt x="1702897" y="1672849"/>
                  </a:lnTo>
                  <a:lnTo>
                    <a:pt x="1674267" y="1707524"/>
                  </a:lnTo>
                  <a:lnTo>
                    <a:pt x="1644205" y="1740789"/>
                  </a:lnTo>
                  <a:lnTo>
                    <a:pt x="1612763" y="1772590"/>
                  </a:lnTo>
                  <a:lnTo>
                    <a:pt x="1579991" y="1802875"/>
                  </a:lnTo>
                  <a:lnTo>
                    <a:pt x="1545940" y="1831590"/>
                  </a:lnTo>
                  <a:lnTo>
                    <a:pt x="1510661" y="1858683"/>
                  </a:lnTo>
                  <a:lnTo>
                    <a:pt x="1474202" y="1884101"/>
                  </a:lnTo>
                  <a:lnTo>
                    <a:pt x="1436616" y="1907790"/>
                  </a:lnTo>
                  <a:lnTo>
                    <a:pt x="1397953" y="1929697"/>
                  </a:lnTo>
                  <a:lnTo>
                    <a:pt x="1358262" y="1949770"/>
                  </a:lnTo>
                  <a:lnTo>
                    <a:pt x="1317595" y="1967955"/>
                  </a:lnTo>
                  <a:lnTo>
                    <a:pt x="1276003" y="1984199"/>
                  </a:lnTo>
                  <a:lnTo>
                    <a:pt x="1233534" y="1998449"/>
                  </a:lnTo>
                  <a:lnTo>
                    <a:pt x="1190241" y="2010653"/>
                  </a:lnTo>
                  <a:lnTo>
                    <a:pt x="1146173" y="2020757"/>
                  </a:lnTo>
                  <a:lnTo>
                    <a:pt x="1101382" y="2028707"/>
                  </a:lnTo>
                  <a:lnTo>
                    <a:pt x="1055917" y="2034452"/>
                  </a:lnTo>
                  <a:lnTo>
                    <a:pt x="1009828" y="2037938"/>
                  </a:lnTo>
                  <a:lnTo>
                    <a:pt x="963168" y="2039112"/>
                  </a:lnTo>
                  <a:lnTo>
                    <a:pt x="916507" y="2037938"/>
                  </a:lnTo>
                  <a:lnTo>
                    <a:pt x="870418" y="2034452"/>
                  </a:lnTo>
                  <a:lnTo>
                    <a:pt x="824953" y="2028707"/>
                  </a:lnTo>
                  <a:lnTo>
                    <a:pt x="780162" y="2020757"/>
                  </a:lnTo>
                  <a:lnTo>
                    <a:pt x="736094" y="2010653"/>
                  </a:lnTo>
                  <a:lnTo>
                    <a:pt x="692801" y="1998449"/>
                  </a:lnTo>
                  <a:lnTo>
                    <a:pt x="650332" y="1984199"/>
                  </a:lnTo>
                  <a:lnTo>
                    <a:pt x="608740" y="1967955"/>
                  </a:lnTo>
                  <a:lnTo>
                    <a:pt x="568073" y="1949770"/>
                  </a:lnTo>
                  <a:lnTo>
                    <a:pt x="528382" y="1929697"/>
                  </a:lnTo>
                  <a:lnTo>
                    <a:pt x="489719" y="1907790"/>
                  </a:lnTo>
                  <a:lnTo>
                    <a:pt x="452133" y="1884101"/>
                  </a:lnTo>
                  <a:lnTo>
                    <a:pt x="415674" y="1858683"/>
                  </a:lnTo>
                  <a:lnTo>
                    <a:pt x="380395" y="1831590"/>
                  </a:lnTo>
                  <a:lnTo>
                    <a:pt x="346344" y="1802875"/>
                  </a:lnTo>
                  <a:lnTo>
                    <a:pt x="313572" y="1772590"/>
                  </a:lnTo>
                  <a:lnTo>
                    <a:pt x="282130" y="1740789"/>
                  </a:lnTo>
                  <a:lnTo>
                    <a:pt x="252068" y="1707524"/>
                  </a:lnTo>
                  <a:lnTo>
                    <a:pt x="223438" y="1672849"/>
                  </a:lnTo>
                  <a:lnTo>
                    <a:pt x="196288" y="1636816"/>
                  </a:lnTo>
                  <a:lnTo>
                    <a:pt x="170670" y="1599480"/>
                  </a:lnTo>
                  <a:lnTo>
                    <a:pt x="146635" y="1560892"/>
                  </a:lnTo>
                  <a:lnTo>
                    <a:pt x="124232" y="1521106"/>
                  </a:lnTo>
                  <a:lnTo>
                    <a:pt x="103512" y="1480175"/>
                  </a:lnTo>
                  <a:lnTo>
                    <a:pt x="84526" y="1438152"/>
                  </a:lnTo>
                  <a:lnTo>
                    <a:pt x="67325" y="1395090"/>
                  </a:lnTo>
                  <a:lnTo>
                    <a:pt x="51958" y="1351042"/>
                  </a:lnTo>
                  <a:lnTo>
                    <a:pt x="38476" y="1306062"/>
                  </a:lnTo>
                  <a:lnTo>
                    <a:pt x="26929" y="1260201"/>
                  </a:lnTo>
                  <a:lnTo>
                    <a:pt x="17369" y="1213513"/>
                  </a:lnTo>
                  <a:lnTo>
                    <a:pt x="9846" y="1166052"/>
                  </a:lnTo>
                  <a:lnTo>
                    <a:pt x="4409" y="1117870"/>
                  </a:lnTo>
                  <a:lnTo>
                    <a:pt x="1110" y="1069020"/>
                  </a:lnTo>
                  <a:lnTo>
                    <a:pt x="0" y="1019556"/>
                  </a:lnTo>
                </a:path>
              </a:pathLst>
            </a:custGeom>
            <a:ln w="32004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6"/>
          <p:cNvSpPr txBox="1"/>
          <p:nvPr/>
        </p:nvSpPr>
        <p:spPr>
          <a:xfrm>
            <a:off x="1559496" y="2348880"/>
            <a:ext cx="958850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10" dirty="0">
                <a:solidFill>
                  <a:srgbClr val="FFFFFF"/>
                </a:solidFill>
                <a:cs typeface="Arial"/>
              </a:rPr>
              <a:t>BENEFITS</a:t>
            </a:r>
            <a:endParaRPr dirty="0">
              <a:cs typeface="Arial"/>
            </a:endParaRPr>
          </a:p>
        </p:txBody>
      </p:sp>
      <p:sp>
        <p:nvSpPr>
          <p:cNvPr id="23" name="object 8"/>
          <p:cNvSpPr txBox="1"/>
          <p:nvPr/>
        </p:nvSpPr>
        <p:spPr>
          <a:xfrm>
            <a:off x="1487488" y="3248279"/>
            <a:ext cx="1512168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dirty="0">
                <a:solidFill>
                  <a:srgbClr val="F2F2F2"/>
                </a:solidFill>
                <a:cs typeface="Calibri"/>
              </a:rPr>
              <a:t>LOOK</a:t>
            </a:r>
            <a:r>
              <a:rPr b="1" spc="25" dirty="0">
                <a:solidFill>
                  <a:srgbClr val="F2F2F2"/>
                </a:solidFill>
                <a:cs typeface="Calibri"/>
              </a:rPr>
              <a:t> </a:t>
            </a:r>
            <a:r>
              <a:rPr b="1" dirty="0">
                <a:solidFill>
                  <a:srgbClr val="F2F2F2"/>
                </a:solidFill>
                <a:cs typeface="Calibri"/>
              </a:rPr>
              <a:t>&amp;</a:t>
            </a:r>
            <a:r>
              <a:rPr b="1" spc="50" dirty="0">
                <a:solidFill>
                  <a:srgbClr val="F2F2F2"/>
                </a:solidFill>
                <a:cs typeface="Calibri"/>
              </a:rPr>
              <a:t> </a:t>
            </a:r>
            <a:r>
              <a:rPr b="1" spc="-20" dirty="0">
                <a:solidFill>
                  <a:srgbClr val="F2F2F2"/>
                </a:solidFill>
                <a:cs typeface="Calibri"/>
              </a:rPr>
              <a:t>FEEL</a:t>
            </a:r>
            <a:endParaRPr dirty="0">
              <a:cs typeface="Calibri"/>
            </a:endParaRPr>
          </a:p>
        </p:txBody>
      </p:sp>
      <p:sp>
        <p:nvSpPr>
          <p:cNvPr id="24" name="object 7"/>
          <p:cNvSpPr txBox="1"/>
          <p:nvPr/>
        </p:nvSpPr>
        <p:spPr>
          <a:xfrm>
            <a:off x="1548272" y="4221088"/>
            <a:ext cx="1019336" cy="240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-10" dirty="0">
                <a:solidFill>
                  <a:srgbClr val="FFFFFF"/>
                </a:solidFill>
                <a:latin typeface="Arial"/>
                <a:cs typeface="Arial"/>
              </a:rPr>
              <a:t>FEATURES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25" name="object 9"/>
          <p:cNvSpPr txBox="1"/>
          <p:nvPr/>
        </p:nvSpPr>
        <p:spPr>
          <a:xfrm>
            <a:off x="6384597" y="3284984"/>
            <a:ext cx="1167169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1145">
              <a:lnSpc>
                <a:spcPct val="102099"/>
              </a:lnSpc>
              <a:spcBef>
                <a:spcPts val="100"/>
              </a:spcBef>
            </a:pPr>
            <a:r>
              <a:rPr b="1" spc="-20" dirty="0">
                <a:solidFill>
                  <a:srgbClr val="F2F2F2"/>
                </a:solidFill>
                <a:cs typeface="Calibri"/>
              </a:rPr>
              <a:t>USER </a:t>
            </a:r>
            <a:r>
              <a:rPr b="1" spc="-10" dirty="0">
                <a:solidFill>
                  <a:srgbClr val="F2F2F2"/>
                </a:solidFill>
                <a:cs typeface="Calibri"/>
              </a:rPr>
              <a:t>EXPERIENCE</a:t>
            </a:r>
            <a:endParaRPr dirty="0">
              <a:cs typeface="Calibri"/>
            </a:endParaRPr>
          </a:p>
        </p:txBody>
      </p:sp>
      <p:sp>
        <p:nvSpPr>
          <p:cNvPr id="26" name="object 10"/>
          <p:cNvSpPr txBox="1"/>
          <p:nvPr/>
        </p:nvSpPr>
        <p:spPr>
          <a:xfrm>
            <a:off x="9156516" y="3501008"/>
            <a:ext cx="1331972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10" dirty="0">
                <a:solidFill>
                  <a:srgbClr val="F2F2F2"/>
                </a:solidFill>
                <a:latin typeface="Calibri"/>
                <a:cs typeface="Calibri"/>
              </a:rPr>
              <a:t>PROMOTION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7" name="object 22"/>
          <p:cNvSpPr txBox="1"/>
          <p:nvPr/>
        </p:nvSpPr>
        <p:spPr>
          <a:xfrm>
            <a:off x="4052314" y="5775960"/>
            <a:ext cx="2259709" cy="308418"/>
          </a:xfrm>
          <a:prstGeom prst="rect">
            <a:avLst/>
          </a:prstGeom>
          <a:solidFill>
            <a:srgbClr val="FFBF00"/>
          </a:solidFill>
          <a:ln w="7620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245"/>
              </a:spcBef>
            </a:pPr>
            <a:r>
              <a:rPr b="1" dirty="0">
                <a:latin typeface="Arial"/>
                <a:cs typeface="Arial"/>
              </a:rPr>
              <a:t>Cost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of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Experiment</a:t>
            </a:r>
            <a:endParaRPr>
              <a:latin typeface="Arial"/>
              <a:cs typeface="Arial"/>
            </a:endParaRPr>
          </a:p>
        </p:txBody>
      </p:sp>
      <p:sp>
        <p:nvSpPr>
          <p:cNvPr id="28" name="object 24"/>
          <p:cNvSpPr txBox="1"/>
          <p:nvPr/>
        </p:nvSpPr>
        <p:spPr>
          <a:xfrm>
            <a:off x="9005640" y="5791200"/>
            <a:ext cx="1194816" cy="309699"/>
          </a:xfrm>
          <a:prstGeom prst="rect">
            <a:avLst/>
          </a:prstGeom>
          <a:solidFill>
            <a:schemeClr val="bg1"/>
          </a:solidFill>
          <a:ln w="7619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254"/>
              </a:spcBef>
            </a:pPr>
            <a:r>
              <a:rPr b="1" spc="-10" dirty="0">
                <a:latin typeface="Arial"/>
                <a:cs typeface="Arial"/>
              </a:rPr>
              <a:t>Expensive</a:t>
            </a:r>
            <a:endParaRPr dirty="0">
              <a:latin typeface="Arial"/>
              <a:cs typeface="Arial"/>
            </a:endParaRPr>
          </a:p>
        </p:txBody>
      </p:sp>
      <p:sp>
        <p:nvSpPr>
          <p:cNvPr id="29" name="object 23"/>
          <p:cNvSpPr txBox="1"/>
          <p:nvPr/>
        </p:nvSpPr>
        <p:spPr>
          <a:xfrm>
            <a:off x="1560881" y="5805264"/>
            <a:ext cx="934719" cy="309699"/>
          </a:xfrm>
          <a:prstGeom prst="rect">
            <a:avLst/>
          </a:prstGeom>
          <a:solidFill>
            <a:srgbClr val="00AF50"/>
          </a:solidFill>
          <a:ln w="7620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254"/>
              </a:spcBef>
            </a:pPr>
            <a:r>
              <a:rPr b="1" spc="-10" dirty="0">
                <a:latin typeface="Arial MT"/>
                <a:cs typeface="Arial MT"/>
              </a:rPr>
              <a:t>Cheap</a:t>
            </a:r>
            <a:endParaRPr b="1" dirty="0">
              <a:latin typeface="Arial MT"/>
              <a:cs typeface="Arial MT"/>
            </a:endParaRPr>
          </a:p>
        </p:txBody>
      </p:sp>
      <p:grpSp>
        <p:nvGrpSpPr>
          <p:cNvPr id="30" name="object 15"/>
          <p:cNvGrpSpPr/>
          <p:nvPr/>
        </p:nvGrpSpPr>
        <p:grpSpPr>
          <a:xfrm>
            <a:off x="8315286" y="1412776"/>
            <a:ext cx="589026" cy="400846"/>
            <a:chOff x="92202" y="1759457"/>
            <a:chExt cx="593090" cy="314325"/>
          </a:xfrm>
        </p:grpSpPr>
        <p:sp>
          <p:nvSpPr>
            <p:cNvPr id="31" name="object 16"/>
            <p:cNvSpPr/>
            <p:nvPr/>
          </p:nvSpPr>
          <p:spPr>
            <a:xfrm>
              <a:off x="97536" y="1764791"/>
              <a:ext cx="582295" cy="303530"/>
            </a:xfrm>
            <a:custGeom>
              <a:avLst/>
              <a:gdLst/>
              <a:ahLst/>
              <a:cxnLst/>
              <a:rect l="l" t="t" r="r" b="b"/>
              <a:pathLst>
                <a:path w="582295" h="303530">
                  <a:moveTo>
                    <a:pt x="582168" y="303275"/>
                  </a:moveTo>
                  <a:lnTo>
                    <a:pt x="0" y="303275"/>
                  </a:lnTo>
                  <a:lnTo>
                    <a:pt x="0" y="0"/>
                  </a:lnTo>
                  <a:lnTo>
                    <a:pt x="582168" y="0"/>
                  </a:lnTo>
                  <a:lnTo>
                    <a:pt x="582168" y="303275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7"/>
            <p:cNvSpPr/>
            <p:nvPr/>
          </p:nvSpPr>
          <p:spPr>
            <a:xfrm>
              <a:off x="97536" y="1764791"/>
              <a:ext cx="582295" cy="303530"/>
            </a:xfrm>
            <a:custGeom>
              <a:avLst/>
              <a:gdLst/>
              <a:ahLst/>
              <a:cxnLst/>
              <a:rect l="l" t="t" r="r" b="b"/>
              <a:pathLst>
                <a:path w="582295" h="303530">
                  <a:moveTo>
                    <a:pt x="0" y="0"/>
                  </a:moveTo>
                  <a:lnTo>
                    <a:pt x="582168" y="0"/>
                  </a:lnTo>
                  <a:lnTo>
                    <a:pt x="582168" y="303275"/>
                  </a:lnTo>
                  <a:lnTo>
                    <a:pt x="0" y="303275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9156516" y="1419578"/>
            <a:ext cx="2052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Tests with Users</a:t>
            </a:r>
            <a:endParaRPr lang="en-IN" b="1" dirty="0"/>
          </a:p>
        </p:txBody>
      </p:sp>
      <p:grpSp>
        <p:nvGrpSpPr>
          <p:cNvPr id="33" name="object 18"/>
          <p:cNvGrpSpPr/>
          <p:nvPr/>
        </p:nvGrpSpPr>
        <p:grpSpPr>
          <a:xfrm>
            <a:off x="8309952" y="1982044"/>
            <a:ext cx="594360" cy="376128"/>
            <a:chOff x="107442" y="2221229"/>
            <a:chExt cx="594360" cy="315595"/>
          </a:xfrm>
        </p:grpSpPr>
        <p:sp>
          <p:nvSpPr>
            <p:cNvPr id="34" name="object 19"/>
            <p:cNvSpPr/>
            <p:nvPr/>
          </p:nvSpPr>
          <p:spPr>
            <a:xfrm>
              <a:off x="112776" y="2226563"/>
              <a:ext cx="584200" cy="304800"/>
            </a:xfrm>
            <a:custGeom>
              <a:avLst/>
              <a:gdLst/>
              <a:ahLst/>
              <a:cxnLst/>
              <a:rect l="l" t="t" r="r" b="b"/>
              <a:pathLst>
                <a:path w="584200" h="304800">
                  <a:moveTo>
                    <a:pt x="583692" y="304800"/>
                  </a:moveTo>
                  <a:lnTo>
                    <a:pt x="0" y="304800"/>
                  </a:lnTo>
                  <a:lnTo>
                    <a:pt x="0" y="0"/>
                  </a:lnTo>
                  <a:lnTo>
                    <a:pt x="583692" y="0"/>
                  </a:lnTo>
                  <a:lnTo>
                    <a:pt x="583692" y="30480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20"/>
            <p:cNvSpPr/>
            <p:nvPr/>
          </p:nvSpPr>
          <p:spPr>
            <a:xfrm>
              <a:off x="112776" y="2226563"/>
              <a:ext cx="584200" cy="304800"/>
            </a:xfrm>
            <a:custGeom>
              <a:avLst/>
              <a:gdLst/>
              <a:ahLst/>
              <a:cxnLst/>
              <a:rect l="l" t="t" r="r" b="b"/>
              <a:pathLst>
                <a:path w="584200" h="304800">
                  <a:moveTo>
                    <a:pt x="0" y="0"/>
                  </a:moveTo>
                  <a:lnTo>
                    <a:pt x="583692" y="0"/>
                  </a:lnTo>
                  <a:lnTo>
                    <a:pt x="583692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9156516" y="1988840"/>
            <a:ext cx="2052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Tests in laboratory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35869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732901" y="5634822"/>
            <a:ext cx="16976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239">
              <a:lnSpc>
                <a:spcPts val="922"/>
              </a:lnSpc>
            </a:pPr>
            <a:fld id="{81D60167-4931-47E6-BA6A-407CBD079E47}" type="slidenum">
              <a:rPr spc="-44" dirty="0"/>
              <a:pPr marL="67239">
                <a:lnSpc>
                  <a:spcPts val="922"/>
                </a:lnSpc>
              </a:pPr>
              <a:t>9</a:t>
            </a:fld>
            <a:endParaRPr spc="-44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63341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Concept of </a:t>
            </a:r>
            <a:r>
              <a:rPr lang="en-IN" sz="3200" b="1" dirty="0" smtClean="0">
                <a:solidFill>
                  <a:schemeClr val="bg1"/>
                </a:solidFill>
              </a:rPr>
              <a:t>Testing: How to test your Prototype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335361" y="1412776"/>
            <a:ext cx="11305256" cy="43261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txBody>
          <a:bodyPr vert="horz" wrap="square" lIns="0" tIns="75565" rIns="0" bIns="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7515" indent="-422275">
              <a:lnSpc>
                <a:spcPct val="150000"/>
              </a:lnSpc>
              <a:spcBef>
                <a:spcPts val="595"/>
              </a:spcBef>
              <a:buFont typeface="Arial" pitchFamily="34" charset="0"/>
              <a:buAutoNum type="arabicPeriod"/>
              <a:tabLst>
                <a:tab pos="438150" algn="l"/>
              </a:tabLst>
            </a:pPr>
            <a:r>
              <a:rPr lang="en-US" sz="2800" dirty="0" smtClean="0"/>
              <a:t>What</a:t>
            </a:r>
            <a:r>
              <a:rPr lang="en-US" sz="2800" spc="-70" dirty="0" smtClean="0"/>
              <a:t> </a:t>
            </a:r>
            <a:r>
              <a:rPr lang="en-US" sz="2800" dirty="0" smtClean="0"/>
              <a:t>do</a:t>
            </a:r>
            <a:r>
              <a:rPr lang="en-US" sz="2800" spc="-55" dirty="0" smtClean="0"/>
              <a:t> </a:t>
            </a:r>
            <a:r>
              <a:rPr lang="en-US" sz="2800" dirty="0" smtClean="0"/>
              <a:t>you</a:t>
            </a:r>
            <a:r>
              <a:rPr lang="en-US" sz="2800" spc="-45" dirty="0" smtClean="0"/>
              <a:t> </a:t>
            </a:r>
            <a:r>
              <a:rPr lang="en-US" sz="2800" dirty="0" smtClean="0"/>
              <a:t>think</a:t>
            </a:r>
            <a:r>
              <a:rPr lang="en-US" sz="2800" spc="-70" dirty="0" smtClean="0"/>
              <a:t> </a:t>
            </a:r>
            <a:r>
              <a:rPr lang="en-US" sz="2800" dirty="0" smtClean="0"/>
              <a:t>this</a:t>
            </a:r>
            <a:r>
              <a:rPr lang="en-US" sz="2800" spc="-65" dirty="0" smtClean="0"/>
              <a:t> </a:t>
            </a:r>
            <a:r>
              <a:rPr lang="en-US" sz="2800" dirty="0" smtClean="0"/>
              <a:t>tool/</a:t>
            </a:r>
            <a:r>
              <a:rPr lang="en-US" sz="2800" spc="-70" dirty="0" smtClean="0"/>
              <a:t> </a:t>
            </a:r>
            <a:r>
              <a:rPr lang="en-US" sz="2800" dirty="0" smtClean="0"/>
              <a:t>website</a:t>
            </a:r>
            <a:r>
              <a:rPr lang="en-US" sz="2800" spc="-60" dirty="0" smtClean="0"/>
              <a:t> </a:t>
            </a:r>
            <a:r>
              <a:rPr lang="en-US" sz="2800" dirty="0" smtClean="0"/>
              <a:t>is</a:t>
            </a:r>
            <a:r>
              <a:rPr lang="en-US" sz="2800" spc="-60" dirty="0" smtClean="0"/>
              <a:t> </a:t>
            </a:r>
            <a:r>
              <a:rPr lang="en-US" sz="2800" spc="-20" dirty="0" smtClean="0"/>
              <a:t>for?</a:t>
            </a:r>
          </a:p>
          <a:p>
            <a:pPr marL="437515" marR="5080" indent="-422909">
              <a:lnSpc>
                <a:spcPct val="150000"/>
              </a:lnSpc>
              <a:spcBef>
                <a:spcPts val="869"/>
              </a:spcBef>
              <a:buFont typeface="Arial" pitchFamily="34" charset="0"/>
              <a:buAutoNum type="arabicPeriod"/>
              <a:tabLst>
                <a:tab pos="439420" algn="l"/>
              </a:tabLst>
            </a:pPr>
            <a:r>
              <a:rPr lang="en-US" sz="2800" dirty="0" smtClean="0"/>
              <a:t>What</a:t>
            </a:r>
            <a:r>
              <a:rPr lang="en-US" sz="2800" spc="265" dirty="0" smtClean="0"/>
              <a:t> </a:t>
            </a:r>
            <a:r>
              <a:rPr lang="en-US" sz="2800" dirty="0" smtClean="0"/>
              <a:t>do</a:t>
            </a:r>
            <a:r>
              <a:rPr lang="en-US" sz="2800" spc="265" dirty="0" smtClean="0"/>
              <a:t> </a:t>
            </a:r>
            <a:r>
              <a:rPr lang="en-US" sz="2800" dirty="0" smtClean="0"/>
              <a:t>you</a:t>
            </a:r>
            <a:r>
              <a:rPr lang="en-US" sz="2800" spc="275" dirty="0" smtClean="0"/>
              <a:t> </a:t>
            </a:r>
            <a:r>
              <a:rPr lang="en-US" sz="2800" dirty="0" smtClean="0"/>
              <a:t>think</a:t>
            </a:r>
            <a:r>
              <a:rPr lang="en-US" sz="2800" spc="280" dirty="0" smtClean="0"/>
              <a:t> </a:t>
            </a:r>
            <a:r>
              <a:rPr lang="en-US" sz="2800" dirty="0" smtClean="0"/>
              <a:t>you</a:t>
            </a:r>
            <a:r>
              <a:rPr lang="en-US" sz="2800" spc="270" dirty="0" smtClean="0"/>
              <a:t> </a:t>
            </a:r>
            <a:r>
              <a:rPr lang="en-US" sz="2800" dirty="0" smtClean="0"/>
              <a:t>can</a:t>
            </a:r>
            <a:r>
              <a:rPr lang="en-US" sz="2800" spc="300" dirty="0" smtClean="0"/>
              <a:t> </a:t>
            </a:r>
            <a:r>
              <a:rPr lang="en-US" sz="2800" dirty="0" smtClean="0"/>
              <a:t>do</a:t>
            </a:r>
            <a:r>
              <a:rPr lang="en-US" sz="2800" spc="265" dirty="0" smtClean="0"/>
              <a:t> </a:t>
            </a:r>
            <a:r>
              <a:rPr lang="en-US" sz="2800" dirty="0" smtClean="0"/>
              <a:t>on</a:t>
            </a:r>
            <a:r>
              <a:rPr lang="en-US" sz="2800" spc="275" dirty="0" smtClean="0"/>
              <a:t> </a:t>
            </a:r>
            <a:r>
              <a:rPr lang="en-US" sz="2800" dirty="0" smtClean="0"/>
              <a:t>this</a:t>
            </a:r>
            <a:r>
              <a:rPr lang="en-US" sz="2800" spc="285" dirty="0" smtClean="0"/>
              <a:t> </a:t>
            </a:r>
            <a:r>
              <a:rPr lang="en-US" sz="2800" dirty="0" smtClean="0"/>
              <a:t>website/</a:t>
            </a:r>
            <a:r>
              <a:rPr lang="en-US" sz="2800" spc="270" dirty="0" smtClean="0"/>
              <a:t> </a:t>
            </a:r>
            <a:r>
              <a:rPr lang="en-US" sz="2800" dirty="0" smtClean="0"/>
              <a:t>in</a:t>
            </a:r>
            <a:r>
              <a:rPr lang="en-US" sz="2800" spc="275" dirty="0" smtClean="0"/>
              <a:t> </a:t>
            </a:r>
            <a:r>
              <a:rPr lang="en-US" sz="2800" spc="-20" dirty="0" smtClean="0"/>
              <a:t>this app?</a:t>
            </a:r>
          </a:p>
          <a:p>
            <a:pPr marL="437515" indent="-422275">
              <a:lnSpc>
                <a:spcPct val="150000"/>
              </a:lnSpc>
              <a:spcBef>
                <a:spcPts val="470"/>
              </a:spcBef>
              <a:buFont typeface="Arial" pitchFamily="34" charset="0"/>
              <a:buAutoNum type="arabicPeriod"/>
              <a:tabLst>
                <a:tab pos="438150" algn="l"/>
              </a:tabLst>
            </a:pPr>
            <a:r>
              <a:rPr lang="en-US" sz="2800" dirty="0" smtClean="0"/>
              <a:t>When</a:t>
            </a:r>
            <a:r>
              <a:rPr lang="en-US" sz="2800" spc="-70" dirty="0" smtClean="0"/>
              <a:t> </a:t>
            </a:r>
            <a:r>
              <a:rPr lang="en-US" sz="2800" dirty="0" smtClean="0"/>
              <a:t>would</a:t>
            </a:r>
            <a:r>
              <a:rPr lang="en-US" sz="2800" spc="-35" dirty="0" smtClean="0"/>
              <a:t> </a:t>
            </a:r>
            <a:r>
              <a:rPr lang="en-US" sz="2800" dirty="0" smtClean="0"/>
              <a:t>you</a:t>
            </a:r>
            <a:r>
              <a:rPr lang="en-US" sz="2800" spc="-65" dirty="0" smtClean="0"/>
              <a:t> </a:t>
            </a:r>
            <a:r>
              <a:rPr lang="en-US" sz="2800" dirty="0" smtClean="0"/>
              <a:t>use</a:t>
            </a:r>
            <a:r>
              <a:rPr lang="en-US" sz="2800" spc="-70" dirty="0" smtClean="0"/>
              <a:t> </a:t>
            </a:r>
            <a:r>
              <a:rPr lang="en-US" sz="2800" spc="-10" dirty="0" smtClean="0"/>
              <a:t>this?</a:t>
            </a:r>
          </a:p>
          <a:p>
            <a:pPr marL="437515" indent="-422275">
              <a:lnSpc>
                <a:spcPct val="150000"/>
              </a:lnSpc>
              <a:spcBef>
                <a:spcPts val="490"/>
              </a:spcBef>
              <a:buFont typeface="Arial" pitchFamily="34" charset="0"/>
              <a:buAutoNum type="arabicPeriod"/>
              <a:tabLst>
                <a:tab pos="438150" algn="l"/>
              </a:tabLst>
            </a:pPr>
            <a:r>
              <a:rPr lang="en-US" sz="2800" dirty="0" smtClean="0"/>
              <a:t>Who</a:t>
            </a:r>
            <a:r>
              <a:rPr lang="en-US" sz="2800" spc="-40" dirty="0" smtClean="0"/>
              <a:t> </a:t>
            </a:r>
            <a:r>
              <a:rPr lang="en-US" sz="2800" dirty="0" smtClean="0"/>
              <a:t>do</a:t>
            </a:r>
            <a:r>
              <a:rPr lang="en-US" sz="2800" spc="-35" dirty="0" smtClean="0"/>
              <a:t> </a:t>
            </a:r>
            <a:r>
              <a:rPr lang="en-US" sz="2800" dirty="0" smtClean="0"/>
              <a:t>you</a:t>
            </a:r>
            <a:r>
              <a:rPr lang="en-US" sz="2800" spc="-60" dirty="0" smtClean="0"/>
              <a:t> </a:t>
            </a:r>
            <a:r>
              <a:rPr lang="en-US" sz="2800" dirty="0" smtClean="0"/>
              <a:t>think</a:t>
            </a:r>
            <a:r>
              <a:rPr lang="en-US" sz="2800" spc="-50" dirty="0" smtClean="0"/>
              <a:t> </a:t>
            </a:r>
            <a:r>
              <a:rPr lang="en-US" sz="2800" dirty="0" smtClean="0"/>
              <a:t>this</a:t>
            </a:r>
            <a:r>
              <a:rPr lang="en-US" sz="2800" spc="-50" dirty="0" smtClean="0"/>
              <a:t> </a:t>
            </a:r>
            <a:r>
              <a:rPr lang="en-US" sz="2800" dirty="0" smtClean="0"/>
              <a:t>tool</a:t>
            </a:r>
            <a:r>
              <a:rPr lang="en-US" sz="2800" spc="-45" dirty="0" smtClean="0"/>
              <a:t> </a:t>
            </a:r>
            <a:r>
              <a:rPr lang="en-US" sz="2800" dirty="0" smtClean="0"/>
              <a:t>is</a:t>
            </a:r>
            <a:r>
              <a:rPr lang="en-US" sz="2800" spc="-45" dirty="0" smtClean="0"/>
              <a:t> </a:t>
            </a:r>
            <a:r>
              <a:rPr lang="en-US" sz="2800" spc="-20" dirty="0" smtClean="0"/>
              <a:t>for?</a:t>
            </a:r>
          </a:p>
          <a:p>
            <a:pPr marL="437515" indent="-422275">
              <a:lnSpc>
                <a:spcPct val="150000"/>
              </a:lnSpc>
              <a:spcBef>
                <a:spcPts val="505"/>
              </a:spcBef>
              <a:buFont typeface="Arial" pitchFamily="34" charset="0"/>
              <a:buAutoNum type="arabicPeriod"/>
              <a:tabLst>
                <a:tab pos="438150" algn="l"/>
              </a:tabLst>
            </a:pPr>
            <a:r>
              <a:rPr lang="en-US" sz="2800" dirty="0" smtClean="0"/>
              <a:t>Is</a:t>
            </a:r>
            <a:r>
              <a:rPr lang="en-US" sz="2800" spc="-40" dirty="0" smtClean="0"/>
              <a:t> </a:t>
            </a:r>
            <a:r>
              <a:rPr lang="en-US" sz="2800" dirty="0" smtClean="0"/>
              <a:t>there</a:t>
            </a:r>
            <a:r>
              <a:rPr lang="en-US" sz="2800" spc="-75" dirty="0" smtClean="0"/>
              <a:t> </a:t>
            </a:r>
            <a:r>
              <a:rPr lang="en-US" sz="2800" dirty="0" smtClean="0"/>
              <a:t>anything</a:t>
            </a:r>
            <a:r>
              <a:rPr lang="en-US" sz="2800" spc="-40" dirty="0" smtClean="0"/>
              <a:t> </a:t>
            </a:r>
            <a:r>
              <a:rPr lang="en-US" sz="2800" dirty="0" smtClean="0"/>
              <a:t>this</a:t>
            </a:r>
            <a:r>
              <a:rPr lang="en-US" sz="2800" spc="-55" dirty="0" smtClean="0"/>
              <a:t> </a:t>
            </a:r>
            <a:r>
              <a:rPr lang="en-US" sz="2800" dirty="0" smtClean="0"/>
              <a:t>tool</a:t>
            </a:r>
            <a:r>
              <a:rPr lang="en-US" sz="2800" spc="-60" dirty="0" smtClean="0"/>
              <a:t> </a:t>
            </a:r>
            <a:r>
              <a:rPr lang="en-US" sz="2800" spc="-10" dirty="0" smtClean="0"/>
              <a:t>resembles?</a:t>
            </a:r>
            <a:r>
              <a:rPr lang="en-US" sz="2800" spc="-70" dirty="0" smtClean="0"/>
              <a:t> </a:t>
            </a:r>
            <a:r>
              <a:rPr lang="en-US" sz="2800" dirty="0" smtClean="0"/>
              <a:t>If</a:t>
            </a:r>
            <a:r>
              <a:rPr lang="en-US" sz="2800" spc="-70" dirty="0" smtClean="0"/>
              <a:t> </a:t>
            </a:r>
            <a:r>
              <a:rPr lang="en-US" sz="2800" dirty="0" smtClean="0"/>
              <a:t>yes,</a:t>
            </a:r>
            <a:r>
              <a:rPr lang="en-US" sz="2800" spc="-60" dirty="0" smtClean="0"/>
              <a:t> </a:t>
            </a:r>
            <a:r>
              <a:rPr lang="en-US" sz="2800" spc="-10" dirty="0" smtClean="0"/>
              <a:t>what?</a:t>
            </a:r>
          </a:p>
          <a:p>
            <a:pPr marL="437515" indent="-422275">
              <a:lnSpc>
                <a:spcPct val="150000"/>
              </a:lnSpc>
              <a:spcBef>
                <a:spcPts val="490"/>
              </a:spcBef>
              <a:buFont typeface="Arial" pitchFamily="34" charset="0"/>
              <a:buAutoNum type="arabicPeriod"/>
              <a:tabLst>
                <a:tab pos="438150" algn="l"/>
              </a:tabLst>
            </a:pPr>
            <a:r>
              <a:rPr lang="en-US" sz="2800" dirty="0" smtClean="0"/>
              <a:t>What,</a:t>
            </a:r>
            <a:r>
              <a:rPr lang="en-US" sz="2800" spc="-95" dirty="0" smtClean="0"/>
              <a:t> </a:t>
            </a:r>
            <a:r>
              <a:rPr lang="en-US" sz="2800" dirty="0" smtClean="0"/>
              <a:t>if</a:t>
            </a:r>
            <a:r>
              <a:rPr lang="en-US" sz="2800" spc="-60" dirty="0" smtClean="0"/>
              <a:t> </a:t>
            </a:r>
            <a:r>
              <a:rPr lang="en-US" sz="2800" dirty="0" smtClean="0"/>
              <a:t>anything,</a:t>
            </a:r>
            <a:r>
              <a:rPr lang="en-US" sz="2800" spc="-70" dirty="0" smtClean="0"/>
              <a:t> </a:t>
            </a:r>
            <a:r>
              <a:rPr lang="en-US" sz="2800" dirty="0" smtClean="0"/>
              <a:t>doesn’t</a:t>
            </a:r>
            <a:r>
              <a:rPr lang="en-US" sz="2800" spc="-60" dirty="0" smtClean="0"/>
              <a:t> </a:t>
            </a:r>
            <a:r>
              <a:rPr lang="en-US" sz="2800" dirty="0" smtClean="0"/>
              <a:t>make</a:t>
            </a:r>
            <a:r>
              <a:rPr lang="en-US" sz="2800" spc="-85" dirty="0" smtClean="0"/>
              <a:t> </a:t>
            </a:r>
            <a:r>
              <a:rPr lang="en-US" sz="2800" dirty="0" smtClean="0"/>
              <a:t>sense</a:t>
            </a:r>
            <a:r>
              <a:rPr lang="en-US" sz="2800" spc="-90" dirty="0" smtClean="0"/>
              <a:t> </a:t>
            </a:r>
            <a:r>
              <a:rPr lang="en-US" sz="2800" spc="-10" dirty="0" smtClean="0"/>
              <a:t>here?</a:t>
            </a:r>
            <a:endParaRPr lang="en-US" sz="2800" spc="-10" dirty="0"/>
          </a:p>
        </p:txBody>
      </p:sp>
      <p:sp>
        <p:nvSpPr>
          <p:cNvPr id="2" name="TextBox 1"/>
          <p:cNvSpPr txBox="1"/>
          <p:nvPr/>
        </p:nvSpPr>
        <p:spPr>
          <a:xfrm>
            <a:off x="1199456" y="836712"/>
            <a:ext cx="4464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First Glance Questions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562435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732901" y="5634822"/>
            <a:ext cx="16976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239">
              <a:lnSpc>
                <a:spcPts val="922"/>
              </a:lnSpc>
            </a:pPr>
            <a:fld id="{81D60167-4931-47E6-BA6A-407CBD079E47}" type="slidenum">
              <a:rPr spc="-44" dirty="0"/>
              <a:pPr marL="67239">
                <a:lnSpc>
                  <a:spcPts val="922"/>
                </a:lnSpc>
              </a:pPr>
              <a:t>10</a:t>
            </a:fld>
            <a:endParaRPr spc="-44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63341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Concept of </a:t>
            </a:r>
            <a:r>
              <a:rPr lang="en-IN" sz="3200" b="1" dirty="0" smtClean="0">
                <a:solidFill>
                  <a:schemeClr val="bg1"/>
                </a:solidFill>
              </a:rPr>
              <a:t>Testing: How to test your Prototype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9336" y="62068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Task-specific by use questions</a:t>
            </a:r>
            <a:endParaRPr lang="en-IN" sz="3200" b="1" dirty="0"/>
          </a:p>
        </p:txBody>
      </p:sp>
      <p:sp>
        <p:nvSpPr>
          <p:cNvPr id="8" name="object 3"/>
          <p:cNvSpPr txBox="1"/>
          <p:nvPr/>
        </p:nvSpPr>
        <p:spPr>
          <a:xfrm>
            <a:off x="335361" y="1124744"/>
            <a:ext cx="11449271" cy="555600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81915" rIns="0" bIns="0" rtlCol="0">
            <a:spAutoFit/>
          </a:bodyPr>
          <a:lstStyle/>
          <a:p>
            <a:pPr marL="436245" marR="5080" indent="-424180">
              <a:lnSpc>
                <a:spcPct val="150000"/>
              </a:lnSpc>
              <a:spcBef>
                <a:spcPts val="645"/>
              </a:spcBef>
              <a:buAutoNum type="arabicPeriod" startAt="7"/>
              <a:tabLst>
                <a:tab pos="436245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did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recognize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product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sale?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(E-commerce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retail)</a:t>
            </a:r>
            <a:endParaRPr sz="2400" dirty="0">
              <a:latin typeface="Calibri"/>
              <a:cs typeface="Calibri"/>
            </a:endParaRPr>
          </a:p>
          <a:p>
            <a:pPr marL="436245" marR="5080" indent="-424180">
              <a:lnSpc>
                <a:spcPct val="150000"/>
              </a:lnSpc>
              <a:spcBef>
                <a:spcPts val="830"/>
              </a:spcBef>
              <a:buAutoNum type="arabicPeriod" startAt="7"/>
              <a:tabLst>
                <a:tab pos="436245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information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shipping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missing,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any?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(E-</a:t>
            </a:r>
            <a:r>
              <a:rPr sz="2400" spc="-10" dirty="0">
                <a:latin typeface="Calibri"/>
                <a:cs typeface="Calibri"/>
              </a:rPr>
              <a:t>commerce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retail)</a:t>
            </a:r>
            <a:endParaRPr sz="2400" dirty="0">
              <a:latin typeface="Calibri"/>
              <a:cs typeface="Calibri"/>
            </a:endParaRPr>
          </a:p>
          <a:p>
            <a:pPr marL="436245" marR="5715" indent="-424180">
              <a:lnSpc>
                <a:spcPct val="150000"/>
              </a:lnSpc>
              <a:spcBef>
                <a:spcPts val="815"/>
              </a:spcBef>
              <a:buAutoNum type="arabicPeriod" startAt="7"/>
              <a:tabLst>
                <a:tab pos="436245" algn="l"/>
                <a:tab pos="1271270" algn="l"/>
                <a:tab pos="2047875" algn="l"/>
                <a:tab pos="2630170" algn="l"/>
                <a:tab pos="3895090" algn="l"/>
                <a:tab pos="5241925" algn="l"/>
                <a:tab pos="6615430" algn="l"/>
                <a:tab pos="8380095" algn="l"/>
              </a:tabLst>
            </a:pPr>
            <a:r>
              <a:rPr sz="2400" spc="-20" dirty="0">
                <a:latin typeface="Calibri"/>
                <a:cs typeface="Calibri"/>
              </a:rPr>
              <a:t>What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were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accepted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payments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methods?</a:t>
            </a:r>
            <a:r>
              <a:rPr sz="2400" dirty="0">
                <a:latin typeface="Calibri"/>
                <a:cs typeface="Calibri"/>
              </a:rPr>
              <a:t>	(</a:t>
            </a:r>
            <a:r>
              <a:rPr sz="2400" dirty="0" smtClean="0">
                <a:latin typeface="Calibri"/>
                <a:cs typeface="Calibri"/>
              </a:rPr>
              <a:t>E-</a:t>
            </a:r>
            <a:r>
              <a:rPr sz="2400" spc="-10" dirty="0" smtClean="0">
                <a:latin typeface="Calibri"/>
                <a:cs typeface="Calibri"/>
              </a:rPr>
              <a:t>commerce</a:t>
            </a:r>
            <a:r>
              <a:rPr lang="en-US" sz="2400" spc="-10" dirty="0" smtClean="0">
                <a:latin typeface="Calibri"/>
                <a:cs typeface="Calibri"/>
              </a:rPr>
              <a:t> </a:t>
            </a:r>
            <a:r>
              <a:rPr sz="2400" spc="-25" dirty="0" smtClean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retail/Software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</a:t>
            </a:r>
            <a:r>
              <a:rPr sz="2400" spc="-10" dirty="0">
                <a:latin typeface="Calibri"/>
                <a:cs typeface="Calibri"/>
              </a:rPr>
              <a:t> (SaaS)</a:t>
            </a:r>
            <a:endParaRPr sz="2400" dirty="0">
              <a:latin typeface="Calibri"/>
              <a:cs typeface="Calibri"/>
            </a:endParaRPr>
          </a:p>
          <a:p>
            <a:pPr marL="434975" marR="612140" indent="-422909">
              <a:lnSpc>
                <a:spcPct val="150000"/>
              </a:lnSpc>
              <a:spcBef>
                <a:spcPts val="835"/>
              </a:spcBef>
              <a:buAutoNum type="arabicPeriod" startAt="7"/>
              <a:tabLst>
                <a:tab pos="436245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picked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you? </a:t>
            </a:r>
            <a:r>
              <a:rPr sz="2400" spc="-10" dirty="0" smtClean="0">
                <a:latin typeface="Calibri"/>
                <a:cs typeface="Calibri"/>
              </a:rPr>
              <a:t>(</a:t>
            </a:r>
            <a:r>
              <a:rPr sz="2400" spc="-10" dirty="0">
                <a:latin typeface="Calibri"/>
                <a:cs typeface="Calibri"/>
              </a:rPr>
              <a:t>SaaS)</a:t>
            </a:r>
            <a:endParaRPr sz="2400" dirty="0">
              <a:latin typeface="Calibri"/>
              <a:cs typeface="Calibri"/>
            </a:endParaRPr>
          </a:p>
          <a:p>
            <a:pPr marL="434975" marR="5080" indent="-422909">
              <a:lnSpc>
                <a:spcPct val="150000"/>
              </a:lnSpc>
              <a:spcBef>
                <a:spcPts val="830"/>
              </a:spcBef>
              <a:buAutoNum type="arabicPeriod" startAt="7"/>
              <a:tabLst>
                <a:tab pos="436245" algn="l"/>
                <a:tab pos="903605" algn="l"/>
                <a:tab pos="1471295" algn="l"/>
                <a:tab pos="2209800" algn="l"/>
                <a:tab pos="3297554" algn="l"/>
                <a:tab pos="4306570" algn="l"/>
                <a:tab pos="4747895" algn="l"/>
                <a:tab pos="5312410" algn="l"/>
                <a:tab pos="6371590" algn="l"/>
                <a:tab pos="6962775" algn="l"/>
                <a:tab pos="7809865" algn="l"/>
                <a:tab pos="8197850" algn="l"/>
              </a:tabLst>
            </a:pPr>
            <a:r>
              <a:rPr sz="2400" spc="-25" dirty="0">
                <a:latin typeface="Calibri"/>
                <a:cs typeface="Calibri"/>
              </a:rPr>
              <a:t>Do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you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think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booking</a:t>
            </a:r>
            <a:r>
              <a:rPr sz="2400" dirty="0">
                <a:latin typeface="Calibri"/>
                <a:cs typeface="Calibri"/>
              </a:rPr>
              <a:t>	a</a:t>
            </a:r>
            <a:r>
              <a:rPr sz="2400" spc="4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flight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on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this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website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was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easier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or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more </a:t>
            </a:r>
            <a:r>
              <a:rPr sz="2400" dirty="0" smtClean="0">
                <a:latin typeface="Calibri"/>
                <a:cs typeface="Calibri"/>
              </a:rPr>
              <a:t>difficult</a:t>
            </a:r>
            <a:r>
              <a:rPr sz="2400" spc="-50" dirty="0" smtClean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websites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past?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(Travel)</a:t>
            </a:r>
            <a:endParaRPr sz="2400" dirty="0">
              <a:latin typeface="Calibri"/>
              <a:cs typeface="Calibri"/>
            </a:endParaRPr>
          </a:p>
          <a:p>
            <a:pPr marL="435609" indent="-422909">
              <a:lnSpc>
                <a:spcPct val="150000"/>
              </a:lnSpc>
              <a:spcBef>
                <a:spcPts val="290"/>
              </a:spcBef>
              <a:buAutoNum type="arabicPeriod" startAt="7"/>
              <a:tabLst>
                <a:tab pos="435609" algn="l"/>
              </a:tabLst>
            </a:pPr>
            <a:r>
              <a:rPr sz="2400" dirty="0">
                <a:latin typeface="Calibri"/>
                <a:cs typeface="Calibri"/>
              </a:rPr>
              <a:t>Did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sending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money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feel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safe?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(Banking/FinTech)</a:t>
            </a:r>
            <a:endParaRPr sz="2400" dirty="0">
              <a:latin typeface="Calibri"/>
              <a:cs typeface="Calibri"/>
            </a:endParaRPr>
          </a:p>
          <a:p>
            <a:pPr marL="435609" indent="-422909">
              <a:lnSpc>
                <a:spcPct val="150000"/>
              </a:lnSpc>
              <a:spcBef>
                <a:spcPts val="290"/>
              </a:spcBef>
              <a:buAutoNum type="arabicPeriod" startAt="7"/>
              <a:tabLst>
                <a:tab pos="435609" algn="l"/>
              </a:tabLst>
            </a:pP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think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gathered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reliable?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(Internet)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8391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732901" y="5634822"/>
            <a:ext cx="16976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239">
              <a:lnSpc>
                <a:spcPts val="922"/>
              </a:lnSpc>
            </a:pPr>
            <a:fld id="{81D60167-4931-47E6-BA6A-407CBD079E47}" type="slidenum">
              <a:rPr spc="-44" dirty="0"/>
              <a:pPr marL="67239">
                <a:lnSpc>
                  <a:spcPts val="922"/>
                </a:lnSpc>
              </a:pPr>
              <a:t>11</a:t>
            </a:fld>
            <a:endParaRPr spc="-44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63341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Concept of </a:t>
            </a:r>
            <a:r>
              <a:rPr lang="en-IN" sz="3200" b="1" dirty="0" smtClean="0">
                <a:solidFill>
                  <a:schemeClr val="bg1"/>
                </a:solidFill>
              </a:rPr>
              <a:t>Testing: How to test your Prototype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9376" y="764704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Assess Usability Questions</a:t>
            </a:r>
            <a:endParaRPr lang="en-IN" sz="3200" b="1" dirty="0"/>
          </a:p>
        </p:txBody>
      </p:sp>
      <p:sp>
        <p:nvSpPr>
          <p:cNvPr id="6" name="object 3"/>
          <p:cNvSpPr txBox="1"/>
          <p:nvPr/>
        </p:nvSpPr>
        <p:spPr>
          <a:xfrm>
            <a:off x="479376" y="1412776"/>
            <a:ext cx="11233248" cy="49914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387985" indent="-375285">
              <a:lnSpc>
                <a:spcPct val="100000"/>
              </a:lnSpc>
              <a:spcBef>
                <a:spcPts val="130"/>
              </a:spcBef>
              <a:buAutoNum type="arabicPeriod" startAt="14"/>
              <a:tabLst>
                <a:tab pos="387985" algn="l"/>
              </a:tabLst>
            </a:pPr>
            <a:r>
              <a:rPr sz="2400" dirty="0">
                <a:latin typeface="Calibri"/>
                <a:cs typeface="Calibri"/>
              </a:rPr>
              <a:t>Was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anything that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surprised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you?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yes,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what?</a:t>
            </a:r>
            <a:endParaRPr sz="2400" dirty="0">
              <a:latin typeface="Calibri"/>
              <a:cs typeface="Calibri"/>
            </a:endParaRPr>
          </a:p>
          <a:p>
            <a:pPr marL="387985" indent="-375285">
              <a:lnSpc>
                <a:spcPct val="100000"/>
              </a:lnSpc>
              <a:spcBef>
                <a:spcPts val="140"/>
              </a:spcBef>
              <a:buAutoNum type="arabicPeriod" startAt="14"/>
              <a:tabLst>
                <a:tab pos="387985" algn="l"/>
              </a:tabLst>
            </a:pPr>
            <a:r>
              <a:rPr sz="2400" dirty="0">
                <a:latin typeface="Calibri"/>
                <a:cs typeface="Calibri"/>
              </a:rPr>
              <a:t>Was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anything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expected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10" dirty="0">
                <a:latin typeface="Calibri"/>
                <a:cs typeface="Calibri"/>
              </a:rPr>
              <a:t> there?</a:t>
            </a:r>
            <a:endParaRPr sz="2400" dirty="0">
              <a:latin typeface="Calibri"/>
              <a:cs typeface="Calibri"/>
            </a:endParaRPr>
          </a:p>
          <a:p>
            <a:pPr marL="387985" indent="-375285">
              <a:lnSpc>
                <a:spcPct val="100000"/>
              </a:lnSpc>
              <a:spcBef>
                <a:spcPts val="160"/>
              </a:spcBef>
              <a:buAutoNum type="arabicPeriod" startAt="14"/>
              <a:tabLst>
                <a:tab pos="387985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difficult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strange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task,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anything?</a:t>
            </a:r>
            <a:endParaRPr sz="2400" dirty="0">
              <a:latin typeface="Calibri"/>
              <a:cs typeface="Calibri"/>
            </a:endParaRPr>
          </a:p>
          <a:p>
            <a:pPr marL="387985" indent="-375285">
              <a:lnSpc>
                <a:spcPct val="100000"/>
              </a:lnSpc>
              <a:spcBef>
                <a:spcPts val="140"/>
              </a:spcBef>
              <a:buAutoNum type="arabicPeriod" startAt="14"/>
              <a:tabLst>
                <a:tab pos="387985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task?</a:t>
            </a:r>
            <a:endParaRPr sz="2400" dirty="0">
              <a:latin typeface="Calibri"/>
              <a:cs typeface="Calibri"/>
            </a:endParaRPr>
          </a:p>
          <a:p>
            <a:pPr marL="387985" indent="-375285">
              <a:lnSpc>
                <a:spcPct val="100000"/>
              </a:lnSpc>
              <a:spcBef>
                <a:spcPts val="145"/>
              </a:spcBef>
              <a:buAutoNum type="arabicPeriod" startAt="14"/>
              <a:tabLst>
                <a:tab pos="387985" algn="l"/>
              </a:tabLst>
            </a:pPr>
            <a:r>
              <a:rPr sz="2400" dirty="0">
                <a:latin typeface="Calibri"/>
                <a:cs typeface="Calibri"/>
              </a:rPr>
              <a:t>Did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everything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looking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for?</a:t>
            </a:r>
            <a:endParaRPr sz="2400" dirty="0">
              <a:latin typeface="Calibri"/>
              <a:cs typeface="Calibri"/>
            </a:endParaRPr>
          </a:p>
          <a:p>
            <a:pPr marL="387985" indent="-375285">
              <a:lnSpc>
                <a:spcPct val="100000"/>
              </a:lnSpc>
              <a:spcBef>
                <a:spcPts val="155"/>
              </a:spcBef>
              <a:buAutoNum type="arabicPeriod" startAt="14"/>
              <a:tabLst>
                <a:tab pos="387985" algn="l"/>
              </a:tabLst>
            </a:pPr>
            <a:r>
              <a:rPr sz="2400" dirty="0">
                <a:latin typeface="Calibri"/>
                <a:cs typeface="Calibri"/>
              </a:rPr>
              <a:t>Was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anything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4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didn’t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look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way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expected?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it?</a:t>
            </a:r>
            <a:endParaRPr sz="2400" dirty="0">
              <a:latin typeface="Calibri"/>
              <a:cs typeface="Calibri"/>
            </a:endParaRPr>
          </a:p>
          <a:p>
            <a:pPr marL="387985" indent="-375285">
              <a:lnSpc>
                <a:spcPct val="100000"/>
              </a:lnSpc>
              <a:spcBef>
                <a:spcPts val="145"/>
              </a:spcBef>
              <a:buAutoNum type="arabicPeriod" startAt="14"/>
              <a:tabLst>
                <a:tab pos="387985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missing,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anything?</a:t>
            </a:r>
            <a:endParaRPr sz="2400" dirty="0">
              <a:latin typeface="Calibri"/>
              <a:cs typeface="Calibri"/>
            </a:endParaRPr>
          </a:p>
          <a:p>
            <a:pPr marL="387985" indent="-375285">
              <a:lnSpc>
                <a:spcPct val="100000"/>
              </a:lnSpc>
              <a:spcBef>
                <a:spcPts val="145"/>
              </a:spcBef>
              <a:buAutoNum type="arabicPeriod" startAt="14"/>
              <a:tabLst>
                <a:tab pos="387985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unnecessary,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anything?</a:t>
            </a:r>
            <a:endParaRPr sz="2400" dirty="0">
              <a:latin typeface="Calibri"/>
              <a:cs typeface="Calibri"/>
            </a:endParaRPr>
          </a:p>
          <a:p>
            <a:pPr marL="387985" indent="-375285">
              <a:lnSpc>
                <a:spcPct val="100000"/>
              </a:lnSpc>
              <a:spcBef>
                <a:spcPts val="155"/>
              </a:spcBef>
              <a:buAutoNum type="arabicPeriod" startAt="14"/>
              <a:tabLst>
                <a:tab pos="387985" algn="l"/>
              </a:tabLst>
            </a:pPr>
            <a:r>
              <a:rPr sz="2400" dirty="0">
                <a:latin typeface="Calibri"/>
                <a:cs typeface="Calibri"/>
              </a:rPr>
              <a:t>Was anything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place?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so,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it?</a:t>
            </a:r>
            <a:endParaRPr sz="2400" dirty="0">
              <a:latin typeface="Calibri"/>
              <a:cs typeface="Calibri"/>
            </a:endParaRPr>
          </a:p>
          <a:p>
            <a:pPr marL="387985" indent="-375285">
              <a:lnSpc>
                <a:spcPct val="100000"/>
              </a:lnSpc>
              <a:spcBef>
                <a:spcPts val="145"/>
              </a:spcBef>
              <a:buAutoNum type="arabicPeriod" startAt="14"/>
              <a:tabLst>
                <a:tab pos="387985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had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magic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wand,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experience/task?</a:t>
            </a:r>
            <a:endParaRPr sz="2400" dirty="0">
              <a:latin typeface="Calibri"/>
              <a:cs typeface="Calibri"/>
            </a:endParaRPr>
          </a:p>
          <a:p>
            <a:pPr marL="387985" indent="-375285">
              <a:lnSpc>
                <a:spcPct val="100000"/>
              </a:lnSpc>
              <a:spcBef>
                <a:spcPts val="145"/>
              </a:spcBef>
              <a:buAutoNum type="arabicPeriod" startAt="14"/>
              <a:tabLst>
                <a:tab pos="387985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rate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difficulty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 </a:t>
            </a:r>
            <a:r>
              <a:rPr sz="2400" spc="-10" dirty="0">
                <a:latin typeface="Calibri"/>
                <a:cs typeface="Calibri"/>
              </a:rPr>
              <a:t>task?</a:t>
            </a:r>
            <a:endParaRPr sz="2400" dirty="0">
              <a:latin typeface="Calibri"/>
              <a:cs typeface="Calibri"/>
            </a:endParaRPr>
          </a:p>
          <a:p>
            <a:pPr marL="387350" marR="5080" indent="-375285">
              <a:lnSpc>
                <a:spcPct val="70800"/>
              </a:lnSpc>
              <a:spcBef>
                <a:spcPts val="840"/>
              </a:spcBef>
              <a:buAutoNum type="arabicPeriod" startAt="14"/>
              <a:tabLst>
                <a:tab pos="390525" algn="l"/>
              </a:tabLst>
            </a:pPr>
            <a:r>
              <a:rPr sz="2400" dirty="0">
                <a:latin typeface="Calibri"/>
                <a:cs typeface="Calibri"/>
              </a:rPr>
              <a:t>Did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less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expected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complete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task?</a:t>
            </a:r>
            <a:r>
              <a:rPr sz="2400" spc="155" dirty="0">
                <a:latin typeface="Calibri"/>
                <a:cs typeface="Calibri"/>
              </a:rPr>
              <a:t> </a:t>
            </a:r>
            <a:endParaRPr lang="en-US" sz="2400" spc="155" dirty="0" smtClean="0">
              <a:latin typeface="Calibri"/>
              <a:cs typeface="Calibri"/>
            </a:endParaRPr>
          </a:p>
          <a:p>
            <a:pPr marL="387350" marR="5080" indent="-375285">
              <a:lnSpc>
                <a:spcPct val="70800"/>
              </a:lnSpc>
              <a:spcBef>
                <a:spcPts val="840"/>
              </a:spcBef>
              <a:buAutoNum type="arabicPeriod" startAt="14"/>
              <a:tabLst>
                <a:tab pos="390525" algn="l"/>
              </a:tabLst>
            </a:pPr>
            <a:r>
              <a:rPr sz="2400" spc="-10" dirty="0" smtClean="0">
                <a:latin typeface="Calibri"/>
                <a:cs typeface="Calibri"/>
              </a:rPr>
              <a:t>Would</a:t>
            </a:r>
            <a:r>
              <a:rPr lang="en-US" sz="2400" spc="-10" dirty="0" smtClean="0">
                <a:latin typeface="Calibri"/>
                <a:cs typeface="Calibri"/>
              </a:rPr>
              <a:t> y</a:t>
            </a:r>
            <a:r>
              <a:rPr sz="2400" dirty="0" smtClean="0">
                <a:latin typeface="Calibri"/>
                <a:cs typeface="Calibri"/>
              </a:rPr>
              <a:t>ou</a:t>
            </a:r>
            <a:r>
              <a:rPr sz="2400" spc="5" dirty="0" smtClean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normally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spend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amount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doing </a:t>
            </a:r>
            <a:r>
              <a:rPr sz="2400" spc="-10" dirty="0">
                <a:latin typeface="Calibri"/>
                <a:cs typeface="Calibri"/>
              </a:rPr>
              <a:t>this?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7675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9732901" y="5634822"/>
            <a:ext cx="16976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239">
              <a:lnSpc>
                <a:spcPts val="922"/>
              </a:lnSpc>
            </a:pPr>
            <a:fld id="{81D60167-4931-47E6-BA6A-407CBD079E47}" type="slidenum">
              <a:rPr spc="-44" dirty="0"/>
              <a:pPr marL="67239">
                <a:lnSpc>
                  <a:spcPts val="922"/>
                </a:lnSpc>
              </a:pPr>
              <a:t>12</a:t>
            </a:fld>
            <a:endParaRPr spc="-44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12192000" cy="63341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Concept of </a:t>
            </a:r>
            <a:r>
              <a:rPr lang="en-IN" sz="3200" b="1" dirty="0" smtClean="0">
                <a:solidFill>
                  <a:schemeClr val="bg1"/>
                </a:solidFill>
              </a:rPr>
              <a:t>Testing: How to test your Prototype - Activity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9376" y="764704"/>
            <a:ext cx="10009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Activity </a:t>
            </a:r>
            <a:endParaRPr lang="en-IN" sz="3200" b="1" dirty="0"/>
          </a:p>
        </p:txBody>
      </p:sp>
      <p:sp>
        <p:nvSpPr>
          <p:cNvPr id="3" name="5-Point Star 2"/>
          <p:cNvSpPr/>
          <p:nvPr/>
        </p:nvSpPr>
        <p:spPr>
          <a:xfrm>
            <a:off x="7225420" y="764704"/>
            <a:ext cx="814796" cy="577338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5-Point Star 7"/>
          <p:cNvSpPr/>
          <p:nvPr/>
        </p:nvSpPr>
        <p:spPr>
          <a:xfrm>
            <a:off x="8377548" y="764704"/>
            <a:ext cx="814796" cy="577338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5-Point Star 8"/>
          <p:cNvSpPr/>
          <p:nvPr/>
        </p:nvSpPr>
        <p:spPr>
          <a:xfrm>
            <a:off x="9529676" y="764704"/>
            <a:ext cx="814796" cy="577338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bject 5"/>
          <p:cNvSpPr txBox="1"/>
          <p:nvPr/>
        </p:nvSpPr>
        <p:spPr>
          <a:xfrm>
            <a:off x="554186" y="1628800"/>
            <a:ext cx="7053981" cy="310488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12700" marR="6985" algn="just">
              <a:lnSpc>
                <a:spcPct val="101600"/>
              </a:lnSpc>
              <a:spcBef>
                <a:spcPts val="90"/>
              </a:spcBef>
            </a:pPr>
            <a:r>
              <a:rPr sz="2800" dirty="0">
                <a:solidFill>
                  <a:srgbClr val="FF3300"/>
                </a:solidFill>
                <a:cs typeface="Times New Roman"/>
              </a:rPr>
              <a:t>Make</a:t>
            </a:r>
            <a:r>
              <a:rPr sz="2800" spc="245" dirty="0">
                <a:solidFill>
                  <a:srgbClr val="FF3300"/>
                </a:solidFill>
                <a:cs typeface="Times New Roman"/>
              </a:rPr>
              <a:t> </a:t>
            </a:r>
            <a:r>
              <a:rPr sz="2800" dirty="0">
                <a:solidFill>
                  <a:srgbClr val="FF3300"/>
                </a:solidFill>
                <a:cs typeface="Times New Roman"/>
              </a:rPr>
              <a:t>the</a:t>
            </a:r>
            <a:r>
              <a:rPr sz="2800" spc="270" dirty="0">
                <a:solidFill>
                  <a:srgbClr val="FF3300"/>
                </a:solidFill>
                <a:cs typeface="Times New Roman"/>
              </a:rPr>
              <a:t> </a:t>
            </a:r>
            <a:r>
              <a:rPr sz="2800" dirty="0">
                <a:solidFill>
                  <a:srgbClr val="FF3300"/>
                </a:solidFill>
                <a:cs typeface="Times New Roman"/>
              </a:rPr>
              <a:t>students</a:t>
            </a:r>
            <a:r>
              <a:rPr sz="2800" spc="260" dirty="0">
                <a:solidFill>
                  <a:srgbClr val="FF3300"/>
                </a:solidFill>
                <a:cs typeface="Times New Roman"/>
              </a:rPr>
              <a:t> </a:t>
            </a:r>
            <a:r>
              <a:rPr sz="2800" dirty="0">
                <a:solidFill>
                  <a:srgbClr val="FF3300"/>
                </a:solidFill>
                <a:cs typeface="Times New Roman"/>
              </a:rPr>
              <a:t>to</a:t>
            </a:r>
            <a:r>
              <a:rPr sz="2800" spc="280" dirty="0">
                <a:solidFill>
                  <a:srgbClr val="FF3300"/>
                </a:solidFill>
                <a:cs typeface="Times New Roman"/>
              </a:rPr>
              <a:t> </a:t>
            </a:r>
            <a:r>
              <a:rPr sz="2800" dirty="0">
                <a:solidFill>
                  <a:srgbClr val="FF3300"/>
                </a:solidFill>
                <a:cs typeface="Times New Roman"/>
              </a:rPr>
              <a:t>form</a:t>
            </a:r>
            <a:r>
              <a:rPr sz="2800" spc="235" dirty="0">
                <a:solidFill>
                  <a:srgbClr val="FF3300"/>
                </a:solidFill>
                <a:cs typeface="Times New Roman"/>
              </a:rPr>
              <a:t> </a:t>
            </a:r>
            <a:r>
              <a:rPr sz="2800" dirty="0">
                <a:solidFill>
                  <a:srgbClr val="FF3300"/>
                </a:solidFill>
                <a:cs typeface="Times New Roman"/>
              </a:rPr>
              <a:t>2</a:t>
            </a:r>
            <a:r>
              <a:rPr sz="2800" spc="275" dirty="0">
                <a:solidFill>
                  <a:srgbClr val="FF3300"/>
                </a:solidFill>
                <a:cs typeface="Times New Roman"/>
              </a:rPr>
              <a:t> </a:t>
            </a:r>
            <a:r>
              <a:rPr sz="2800" dirty="0" smtClean="0">
                <a:solidFill>
                  <a:srgbClr val="FF3300"/>
                </a:solidFill>
                <a:cs typeface="Times New Roman"/>
              </a:rPr>
              <a:t>groups</a:t>
            </a:r>
            <a:endParaRPr lang="en-US" sz="2800" dirty="0" smtClean="0">
              <a:solidFill>
                <a:srgbClr val="FF3300"/>
              </a:solidFill>
              <a:cs typeface="Times New Roman"/>
            </a:endParaRPr>
          </a:p>
          <a:p>
            <a:pPr marL="469900" marR="6985" indent="-457200" algn="just">
              <a:lnSpc>
                <a:spcPct val="1016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sz="2800" dirty="0" smtClean="0">
                <a:solidFill>
                  <a:srgbClr val="FF3300"/>
                </a:solidFill>
                <a:cs typeface="Times New Roman"/>
              </a:rPr>
              <a:t>one</a:t>
            </a:r>
            <a:r>
              <a:rPr sz="2800" spc="275" dirty="0" smtClean="0">
                <a:solidFill>
                  <a:srgbClr val="FF3300"/>
                </a:solidFill>
                <a:cs typeface="Times New Roman"/>
              </a:rPr>
              <a:t> </a:t>
            </a:r>
            <a:r>
              <a:rPr sz="2800" dirty="0">
                <a:solidFill>
                  <a:srgbClr val="FF3300"/>
                </a:solidFill>
                <a:cs typeface="Times New Roman"/>
              </a:rPr>
              <a:t>group</a:t>
            </a:r>
            <a:r>
              <a:rPr sz="2800" spc="275" dirty="0">
                <a:solidFill>
                  <a:srgbClr val="FF3300"/>
                </a:solidFill>
                <a:cs typeface="Times New Roman"/>
              </a:rPr>
              <a:t> </a:t>
            </a:r>
            <a:r>
              <a:rPr sz="2800" dirty="0">
                <a:solidFill>
                  <a:srgbClr val="FF3300"/>
                </a:solidFill>
                <a:cs typeface="Times New Roman"/>
              </a:rPr>
              <a:t>acting</a:t>
            </a:r>
            <a:r>
              <a:rPr sz="2800" spc="275" dirty="0">
                <a:solidFill>
                  <a:srgbClr val="FF3300"/>
                </a:solidFill>
                <a:cs typeface="Times New Roman"/>
              </a:rPr>
              <a:t> </a:t>
            </a:r>
            <a:r>
              <a:rPr sz="2800" spc="-25" dirty="0">
                <a:solidFill>
                  <a:srgbClr val="FF3300"/>
                </a:solidFill>
                <a:cs typeface="Times New Roman"/>
              </a:rPr>
              <a:t>as </a:t>
            </a:r>
            <a:r>
              <a:rPr sz="2800" dirty="0">
                <a:solidFill>
                  <a:srgbClr val="FF3300"/>
                </a:solidFill>
                <a:cs typeface="Times New Roman"/>
              </a:rPr>
              <a:t>design</a:t>
            </a:r>
            <a:r>
              <a:rPr sz="2800" spc="25" dirty="0">
                <a:solidFill>
                  <a:srgbClr val="FF3300"/>
                </a:solidFill>
                <a:cs typeface="Times New Roman"/>
              </a:rPr>
              <a:t> </a:t>
            </a:r>
            <a:r>
              <a:rPr sz="2800" dirty="0">
                <a:solidFill>
                  <a:srgbClr val="FF3300"/>
                </a:solidFill>
                <a:cs typeface="Times New Roman"/>
              </a:rPr>
              <a:t>thinkers</a:t>
            </a:r>
            <a:r>
              <a:rPr sz="2800" spc="30" dirty="0">
                <a:solidFill>
                  <a:srgbClr val="FF3300"/>
                </a:solidFill>
                <a:cs typeface="Times New Roman"/>
              </a:rPr>
              <a:t> </a:t>
            </a:r>
            <a:endParaRPr lang="en-US" sz="2800" spc="30" dirty="0" smtClean="0">
              <a:solidFill>
                <a:srgbClr val="FF3300"/>
              </a:solidFill>
              <a:cs typeface="Times New Roman"/>
            </a:endParaRPr>
          </a:p>
          <a:p>
            <a:pPr marL="469900" marR="6985" indent="-457200" algn="just">
              <a:lnSpc>
                <a:spcPct val="1016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sz="2800" dirty="0" smtClean="0">
                <a:solidFill>
                  <a:srgbClr val="FF3300"/>
                </a:solidFill>
                <a:cs typeface="Times New Roman"/>
              </a:rPr>
              <a:t>others</a:t>
            </a:r>
            <a:r>
              <a:rPr sz="2800" spc="25" dirty="0" smtClean="0">
                <a:solidFill>
                  <a:srgbClr val="FF3300"/>
                </a:solidFill>
                <a:cs typeface="Times New Roman"/>
              </a:rPr>
              <a:t> </a:t>
            </a:r>
            <a:r>
              <a:rPr sz="2800" dirty="0">
                <a:solidFill>
                  <a:srgbClr val="FF3300"/>
                </a:solidFill>
                <a:cs typeface="Times New Roman"/>
              </a:rPr>
              <a:t>acting</a:t>
            </a:r>
            <a:r>
              <a:rPr sz="2800" spc="30" dirty="0">
                <a:solidFill>
                  <a:srgbClr val="FF3300"/>
                </a:solidFill>
                <a:cs typeface="Times New Roman"/>
              </a:rPr>
              <a:t> </a:t>
            </a:r>
            <a:r>
              <a:rPr sz="2800" dirty="0">
                <a:solidFill>
                  <a:srgbClr val="FF3300"/>
                </a:solidFill>
                <a:cs typeface="Times New Roman"/>
              </a:rPr>
              <a:t>as</a:t>
            </a:r>
            <a:r>
              <a:rPr sz="2800" spc="25" dirty="0">
                <a:solidFill>
                  <a:srgbClr val="FF3300"/>
                </a:solidFill>
                <a:cs typeface="Times New Roman"/>
              </a:rPr>
              <a:t> </a:t>
            </a:r>
            <a:r>
              <a:rPr sz="2800" spc="-10" dirty="0">
                <a:solidFill>
                  <a:srgbClr val="FF3300"/>
                </a:solidFill>
                <a:cs typeface="Times New Roman"/>
              </a:rPr>
              <a:t>users</a:t>
            </a:r>
            <a:r>
              <a:rPr sz="2800" spc="-10" dirty="0" smtClean="0">
                <a:solidFill>
                  <a:srgbClr val="FF3300"/>
                </a:solidFill>
                <a:cs typeface="Times New Roman"/>
              </a:rPr>
              <a:t>/</a:t>
            </a:r>
            <a:r>
              <a:rPr lang="en-US" sz="2800" spc="-10" dirty="0" smtClean="0">
                <a:solidFill>
                  <a:srgbClr val="FF3300"/>
                </a:solidFill>
                <a:cs typeface="Times New Roman"/>
              </a:rPr>
              <a:t> </a:t>
            </a:r>
            <a:r>
              <a:rPr sz="2800" spc="-10" dirty="0" smtClean="0">
                <a:solidFill>
                  <a:srgbClr val="FF3300"/>
                </a:solidFill>
                <a:cs typeface="Times New Roman"/>
              </a:rPr>
              <a:t>customers</a:t>
            </a:r>
            <a:r>
              <a:rPr sz="2800" spc="-10" dirty="0">
                <a:solidFill>
                  <a:srgbClr val="FF3300"/>
                </a:solidFill>
                <a:cs typeface="Times New Roman"/>
              </a:rPr>
              <a:t>.</a:t>
            </a:r>
            <a:endParaRPr sz="2800" dirty="0">
              <a:solidFill>
                <a:srgbClr val="FF3300"/>
              </a:solidFill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800" dirty="0">
              <a:cs typeface="Times New Roman"/>
            </a:endParaRPr>
          </a:p>
          <a:p>
            <a:pPr marL="469900" marR="5080" indent="-457200" algn="just">
              <a:lnSpc>
                <a:spcPct val="101499"/>
              </a:lnSpc>
              <a:buFont typeface="Arial" panose="020B0604020202020204" pitchFamily="34" charset="0"/>
              <a:buChar char="•"/>
            </a:pPr>
            <a:r>
              <a:rPr sz="2800" b="1" dirty="0">
                <a:solidFill>
                  <a:srgbClr val="00B050"/>
                </a:solidFill>
                <a:cs typeface="Times New Roman"/>
              </a:rPr>
              <a:t>Design</a:t>
            </a:r>
            <a:r>
              <a:rPr sz="2800" b="1" spc="390" dirty="0">
                <a:solidFill>
                  <a:srgbClr val="00B050"/>
                </a:solidFill>
                <a:cs typeface="Times New Roman"/>
              </a:rPr>
              <a:t> </a:t>
            </a:r>
            <a:r>
              <a:rPr sz="2800" b="1" dirty="0">
                <a:solidFill>
                  <a:srgbClr val="00B050"/>
                </a:solidFill>
                <a:cs typeface="Times New Roman"/>
              </a:rPr>
              <a:t>thinkers</a:t>
            </a:r>
            <a:r>
              <a:rPr sz="2800" b="1" spc="370" dirty="0">
                <a:solidFill>
                  <a:srgbClr val="00B050"/>
                </a:solidFill>
                <a:cs typeface="Times New Roman"/>
              </a:rPr>
              <a:t> </a:t>
            </a:r>
            <a:r>
              <a:rPr sz="2800" b="1" dirty="0">
                <a:solidFill>
                  <a:srgbClr val="00B050"/>
                </a:solidFill>
                <a:cs typeface="Times New Roman"/>
              </a:rPr>
              <a:t>display</a:t>
            </a:r>
            <a:r>
              <a:rPr sz="2800" b="1" spc="375" dirty="0">
                <a:solidFill>
                  <a:srgbClr val="00B050"/>
                </a:solidFill>
                <a:cs typeface="Times New Roman"/>
              </a:rPr>
              <a:t> </a:t>
            </a:r>
            <a:r>
              <a:rPr sz="2800" b="1" dirty="0">
                <a:solidFill>
                  <a:srgbClr val="00B050"/>
                </a:solidFill>
                <a:cs typeface="Times New Roman"/>
              </a:rPr>
              <a:t>their</a:t>
            </a:r>
            <a:r>
              <a:rPr sz="2800" b="1" spc="345" dirty="0">
                <a:solidFill>
                  <a:srgbClr val="00B050"/>
                </a:solidFill>
                <a:cs typeface="Times New Roman"/>
              </a:rPr>
              <a:t> </a:t>
            </a:r>
            <a:r>
              <a:rPr sz="2800" b="1" dirty="0">
                <a:solidFill>
                  <a:srgbClr val="00B050"/>
                </a:solidFill>
                <a:cs typeface="Times New Roman"/>
              </a:rPr>
              <a:t>prototype</a:t>
            </a:r>
            <a:r>
              <a:rPr sz="2800" b="1" spc="360" dirty="0">
                <a:solidFill>
                  <a:srgbClr val="00B050"/>
                </a:solidFill>
                <a:cs typeface="Times New Roman"/>
              </a:rPr>
              <a:t> </a:t>
            </a:r>
            <a:r>
              <a:rPr sz="2800" b="1" dirty="0">
                <a:solidFill>
                  <a:srgbClr val="00B050"/>
                </a:solidFill>
                <a:cs typeface="Times New Roman"/>
              </a:rPr>
              <a:t>created</a:t>
            </a:r>
            <a:r>
              <a:rPr sz="2800" b="1" spc="395" dirty="0">
                <a:solidFill>
                  <a:srgbClr val="00B050"/>
                </a:solidFill>
                <a:cs typeface="Times New Roman"/>
              </a:rPr>
              <a:t> </a:t>
            </a:r>
            <a:r>
              <a:rPr sz="2800" b="1" dirty="0">
                <a:solidFill>
                  <a:srgbClr val="00B050"/>
                </a:solidFill>
                <a:cs typeface="Times New Roman"/>
              </a:rPr>
              <a:t>and</a:t>
            </a:r>
            <a:r>
              <a:rPr sz="2800" b="1" spc="370" dirty="0">
                <a:solidFill>
                  <a:srgbClr val="00B050"/>
                </a:solidFill>
                <a:cs typeface="Times New Roman"/>
              </a:rPr>
              <a:t> </a:t>
            </a:r>
            <a:r>
              <a:rPr sz="2800" b="1" spc="-20" dirty="0">
                <a:solidFill>
                  <a:srgbClr val="00B050"/>
                </a:solidFill>
                <a:cs typeface="Times New Roman"/>
              </a:rPr>
              <a:t>gets </a:t>
            </a:r>
            <a:r>
              <a:rPr sz="2800" b="1" dirty="0">
                <a:solidFill>
                  <a:srgbClr val="00B050"/>
                </a:solidFill>
                <a:cs typeface="Times New Roman"/>
              </a:rPr>
              <a:t>the</a:t>
            </a:r>
            <a:r>
              <a:rPr sz="2800" b="1" spc="420" dirty="0">
                <a:solidFill>
                  <a:srgbClr val="00B050"/>
                </a:solidFill>
                <a:cs typeface="Times New Roman"/>
              </a:rPr>
              <a:t> </a:t>
            </a:r>
            <a:r>
              <a:rPr sz="2800" b="1" dirty="0">
                <a:solidFill>
                  <a:srgbClr val="00B050"/>
                </a:solidFill>
                <a:cs typeface="Times New Roman"/>
              </a:rPr>
              <a:t>feedback</a:t>
            </a:r>
            <a:r>
              <a:rPr sz="2800" b="1" spc="434" dirty="0">
                <a:solidFill>
                  <a:srgbClr val="00B050"/>
                </a:solidFill>
                <a:cs typeface="Times New Roman"/>
              </a:rPr>
              <a:t> </a:t>
            </a:r>
            <a:r>
              <a:rPr sz="2800" b="1" dirty="0">
                <a:solidFill>
                  <a:srgbClr val="00B050"/>
                </a:solidFill>
                <a:cs typeface="Times New Roman"/>
              </a:rPr>
              <a:t>from</a:t>
            </a:r>
            <a:r>
              <a:rPr sz="2800" b="1" spc="400" dirty="0">
                <a:solidFill>
                  <a:srgbClr val="00B050"/>
                </a:solidFill>
                <a:cs typeface="Times New Roman"/>
              </a:rPr>
              <a:t> </a:t>
            </a:r>
            <a:r>
              <a:rPr sz="2800" b="1" dirty="0">
                <a:solidFill>
                  <a:srgbClr val="00B050"/>
                </a:solidFill>
                <a:cs typeface="Times New Roman"/>
              </a:rPr>
              <a:t>the</a:t>
            </a:r>
            <a:r>
              <a:rPr sz="2800" b="1" spc="405" dirty="0">
                <a:solidFill>
                  <a:srgbClr val="00B050"/>
                </a:solidFill>
                <a:cs typeface="Times New Roman"/>
              </a:rPr>
              <a:t> </a:t>
            </a:r>
            <a:r>
              <a:rPr sz="2800" b="1" dirty="0">
                <a:solidFill>
                  <a:srgbClr val="00B050"/>
                </a:solidFill>
                <a:cs typeface="Times New Roman"/>
              </a:rPr>
              <a:t>users</a:t>
            </a:r>
            <a:r>
              <a:rPr sz="2800" b="1" spc="434" dirty="0">
                <a:solidFill>
                  <a:srgbClr val="00B050"/>
                </a:solidFill>
                <a:cs typeface="Times New Roman"/>
              </a:rPr>
              <a:t> </a:t>
            </a:r>
            <a:r>
              <a:rPr sz="2800" b="1" dirty="0">
                <a:solidFill>
                  <a:srgbClr val="00B050"/>
                </a:solidFill>
                <a:cs typeface="Times New Roman"/>
              </a:rPr>
              <a:t>by</a:t>
            </a:r>
            <a:r>
              <a:rPr sz="2800" b="1" spc="415" dirty="0">
                <a:solidFill>
                  <a:srgbClr val="00B050"/>
                </a:solidFill>
                <a:cs typeface="Times New Roman"/>
              </a:rPr>
              <a:t> </a:t>
            </a:r>
            <a:r>
              <a:rPr sz="2800" b="1" dirty="0">
                <a:solidFill>
                  <a:srgbClr val="00B050"/>
                </a:solidFill>
                <a:cs typeface="Times New Roman"/>
              </a:rPr>
              <a:t>asking</a:t>
            </a:r>
            <a:r>
              <a:rPr sz="2800" b="1" spc="430" dirty="0">
                <a:solidFill>
                  <a:srgbClr val="00B050"/>
                </a:solidFill>
                <a:cs typeface="Times New Roman"/>
              </a:rPr>
              <a:t> </a:t>
            </a:r>
            <a:r>
              <a:rPr sz="2800" b="1" dirty="0">
                <a:solidFill>
                  <a:srgbClr val="00B050"/>
                </a:solidFill>
                <a:cs typeface="Times New Roman"/>
              </a:rPr>
              <a:t>the</a:t>
            </a:r>
            <a:r>
              <a:rPr sz="2800" b="1" spc="425" dirty="0">
                <a:solidFill>
                  <a:srgbClr val="00B050"/>
                </a:solidFill>
                <a:cs typeface="Times New Roman"/>
              </a:rPr>
              <a:t> </a:t>
            </a:r>
            <a:r>
              <a:rPr sz="2800" b="1" dirty="0">
                <a:solidFill>
                  <a:srgbClr val="00B050"/>
                </a:solidFill>
                <a:cs typeface="Times New Roman"/>
              </a:rPr>
              <a:t>above</a:t>
            </a:r>
            <a:r>
              <a:rPr sz="2800" b="1" spc="405" dirty="0">
                <a:solidFill>
                  <a:srgbClr val="00B050"/>
                </a:solidFill>
                <a:cs typeface="Times New Roman"/>
              </a:rPr>
              <a:t> </a:t>
            </a:r>
            <a:r>
              <a:rPr sz="2800" b="1" spc="-10" dirty="0">
                <a:solidFill>
                  <a:srgbClr val="00B050"/>
                </a:solidFill>
                <a:cs typeface="Times New Roman"/>
              </a:rPr>
              <a:t>listed questions</a:t>
            </a:r>
            <a:r>
              <a:rPr sz="2800" spc="-10" dirty="0">
                <a:solidFill>
                  <a:srgbClr val="00B050"/>
                </a:solidFill>
                <a:cs typeface="Times New Roman"/>
              </a:rPr>
              <a:t>.</a:t>
            </a:r>
            <a:endParaRPr sz="2800" dirty="0">
              <a:solidFill>
                <a:srgbClr val="00B050"/>
              </a:solidFill>
              <a:cs typeface="Times New Roman"/>
            </a:endParaRPr>
          </a:p>
        </p:txBody>
      </p:sp>
      <p:pic>
        <p:nvPicPr>
          <p:cNvPr id="12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6240" y="1628800"/>
            <a:ext cx="3670271" cy="30968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3391" y="5229200"/>
            <a:ext cx="11161241" cy="1200329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Bookman Old Style" panose="02050604050505020204" pitchFamily="18" charset="0"/>
              </a:rPr>
              <a:t>If your prototype calls for any other inquiry not covered by the stipulated questions, add them</a:t>
            </a:r>
          </a:p>
          <a:p>
            <a:pPr algn="ctr"/>
            <a:r>
              <a:rPr lang="en-US" sz="2400" b="1" dirty="0" smtClean="0">
                <a:latin typeface="Bookman Old Style" panose="02050604050505020204" pitchFamily="18" charset="0"/>
              </a:rPr>
              <a:t>If your prototype doesn’t require it, omit the question </a:t>
            </a:r>
            <a:endParaRPr lang="en-IN" sz="24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461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544" y="1257683"/>
            <a:ext cx="8225094" cy="433155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3392" y="476672"/>
            <a:ext cx="11017224" cy="59766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289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650</Words>
  <Application>Microsoft Office PowerPoint</Application>
  <PresentationFormat>Custom</PresentationFormat>
  <Paragraphs>110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DESIGN THINKING AND INNOVATION</vt:lpstr>
      <vt:lpstr>Elements of Design Thinking</vt:lpstr>
      <vt:lpstr>Elements of Design Thinking</vt:lpstr>
      <vt:lpstr>Concept of Prototype</vt:lpstr>
      <vt:lpstr>Concept of Testing: Steps Involved</vt:lpstr>
      <vt:lpstr>Concept of Testing: Steps Involved</vt:lpstr>
      <vt:lpstr>Concept of Testing: Steps Involved</vt:lpstr>
      <vt:lpstr>Concept of Testing: Stages in Testing Process</vt:lpstr>
      <vt:lpstr>Concept of Testing: How to test your Prototype</vt:lpstr>
      <vt:lpstr>Concept of Testing: How to test your Prototype</vt:lpstr>
      <vt:lpstr>Concept of Testing: How to test your Prototype</vt:lpstr>
      <vt:lpstr>Concept of Testing: How to test your Prototype - Activity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ismail - [2010]</cp:lastModifiedBy>
  <cp:revision>77</cp:revision>
  <dcterms:created xsi:type="dcterms:W3CDTF">2024-12-26T04:05:46Z</dcterms:created>
  <dcterms:modified xsi:type="dcterms:W3CDTF">2025-12-25T12:52:20Z</dcterms:modified>
</cp:coreProperties>
</file>