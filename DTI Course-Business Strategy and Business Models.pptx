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90" r:id="rId2"/>
    <p:sldId id="262" r:id="rId3"/>
    <p:sldId id="258" r:id="rId4"/>
    <p:sldId id="334" r:id="rId5"/>
    <p:sldId id="335" r:id="rId6"/>
    <p:sldId id="336" r:id="rId7"/>
    <p:sldId id="337" r:id="rId8"/>
    <p:sldId id="338" r:id="rId9"/>
    <p:sldId id="339" r:id="rId10"/>
    <p:sldId id="342" r:id="rId11"/>
    <p:sldId id="343" r:id="rId12"/>
    <p:sldId id="344" r:id="rId13"/>
    <p:sldId id="345" r:id="rId14"/>
    <p:sldId id="346" r:id="rId15"/>
    <p:sldId id="319" r:id="rId16"/>
    <p:sldId id="28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a:srgbClr val="FF5050"/>
    <a:srgbClr val="0000FF"/>
    <a:srgbClr val="006600"/>
    <a:srgbClr val="3333FF"/>
    <a:srgbClr val="FF3399"/>
    <a:srgbClr val="FF9933"/>
    <a:srgbClr val="0066FF"/>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3" d="100"/>
          <a:sy n="83" d="100"/>
        </p:scale>
        <p:origin x="629" y="82"/>
      </p:cViewPr>
      <p:guideLst>
        <p:guide orient="horz" pos="2160"/>
        <p:guide pos="3840"/>
      </p:guideLst>
    </p:cSldViewPr>
  </p:slideViewPr>
  <p:notesTextViewPr>
    <p:cViewPr>
      <p:scale>
        <a:sx n="100" d="100"/>
        <a:sy n="100" d="100"/>
      </p:scale>
      <p:origin x="0" y="0"/>
    </p:cViewPr>
  </p:notesTextViewPr>
  <p:sorterViewPr>
    <p:cViewPr varScale="1">
      <p:scale>
        <a:sx n="1" d="1"/>
        <a:sy n="1" d="1"/>
      </p:scale>
      <p:origin x="0" y="-175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B340993-5D51-410F-831E-C7D6C3FC6C9D}" type="datetimeFigureOut">
              <a:rPr lang="en-IN" smtClean="0"/>
              <a:pPr/>
              <a:t>22-03-2026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A56AD6-7EAA-43A0-B422-3816FBA76F81}" type="slidenum">
              <a:rPr lang="en-IN" smtClean="0"/>
              <a:pPr/>
              <a:t>‹#›</a:t>
            </a:fld>
            <a:endParaRPr lang="en-IN"/>
          </a:p>
        </p:txBody>
      </p:sp>
    </p:spTree>
    <p:extLst>
      <p:ext uri="{BB962C8B-B14F-4D97-AF65-F5344CB8AC3E}">
        <p14:creationId xmlns:p14="http://schemas.microsoft.com/office/powerpoint/2010/main" val="30077353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7BA56AD6-7EAA-43A0-B422-3816FBA76F81}" type="slidenum">
              <a:rPr lang="en-IN" smtClean="0"/>
              <a:pPr/>
              <a:t>15</a:t>
            </a:fld>
            <a:endParaRPr lang="en-IN"/>
          </a:p>
        </p:txBody>
      </p:sp>
    </p:spTree>
    <p:extLst>
      <p:ext uri="{BB962C8B-B14F-4D97-AF65-F5344CB8AC3E}">
        <p14:creationId xmlns:p14="http://schemas.microsoft.com/office/powerpoint/2010/main" val="9533931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7E96280-2DD8-4637-AEF8-FD341147BCD2}" type="datetime1">
              <a:rPr lang="en-US" smtClean="0"/>
              <a:pPr/>
              <a:t>3/22/2026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5C292C0-B0FF-4DAD-AFC8-67CB345CA3F6}"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28C0E23-58D2-406D-9AD1-2404728CFFA6}" type="datetime1">
              <a:rPr lang="en-US" smtClean="0"/>
              <a:pPr/>
              <a:t>3/22/2026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5C292C0-B0FF-4DAD-AFC8-67CB345CA3F6}"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82BA738-6D80-48A1-8BCD-D6BE169D7B03}" type="datetime1">
              <a:rPr lang="en-US" smtClean="0"/>
              <a:pPr/>
              <a:t>3/22/2026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5C292C0-B0FF-4DAD-AFC8-67CB345CA3F6}"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FFD331A3-FAB7-48B6-B0E1-D1F10E24C426}" type="datetime1">
              <a:rPr lang="en-US" smtClean="0"/>
              <a:pPr/>
              <a:t>3/22/2026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5C292C0-B0FF-4DAD-AFC8-67CB345CA3F6}"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F36D1E56-D4EC-464E-BF1C-EBBF7856C257}" type="datetime1">
              <a:rPr lang="en-US" smtClean="0"/>
              <a:pPr/>
              <a:t>3/22/2026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5C292C0-B0FF-4DAD-AFC8-67CB345CA3F6}"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A33314FD-2DD5-47C7-9063-0FE1ACDAB2C6}" type="datetime1">
              <a:rPr lang="en-US" smtClean="0"/>
              <a:pPr/>
              <a:t>3/22/2026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5C292C0-B0FF-4DAD-AFC8-67CB345CA3F6}"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75F5E16-B69D-4C21-A0BA-B8E2BF0B31B0}" type="datetime1">
              <a:rPr lang="en-US" smtClean="0"/>
              <a:pPr/>
              <a:t>3/22/2026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5C292C0-B0FF-4DAD-AFC8-67CB345CA3F6}"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27A03D-856C-4B78-9D18-6EFF78581535}" type="datetime1">
              <a:rPr lang="en-US" smtClean="0"/>
              <a:pPr/>
              <a:t>3/22/2026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5C292C0-B0FF-4DAD-AFC8-67CB345CA3F6}"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14E3F39-0EA5-44AF-A791-E1653585019B}" type="datetime1">
              <a:rPr lang="en-US" smtClean="0"/>
              <a:pPr/>
              <a:t>3/22/2026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5C292C0-B0FF-4DAD-AFC8-67CB345CA3F6}"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166CF84-CA24-49DB-A530-89F9925E528A}" type="datetime1">
              <a:rPr lang="en-US" smtClean="0"/>
              <a:pPr/>
              <a:t>3/22/2026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5C292C0-B0FF-4DAD-AFC8-67CB345CA3F6}"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DE068D27-62C9-4106-A485-46065231F5DA}" type="datetime1">
              <a:rPr lang="en-US" smtClean="0"/>
              <a:pPr/>
              <a:t>3/22/2026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5C292C0-B0FF-4DAD-AFC8-67CB345CA3F6}"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71FA180-EDEF-4285-B883-B806A21B4528}" type="datetime1">
              <a:rPr lang="en-US" smtClean="0"/>
              <a:pPr/>
              <a:t>3/22/2026</a:t>
            </a:fld>
            <a:endParaRPr lang="en-IN"/>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5C292C0-B0FF-4DAD-AFC8-67CB345CA3F6}"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6.jpeg"/></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24"/>
            <a:ext cx="12192000" cy="857256"/>
          </a:xfrm>
          <a:solidFill>
            <a:srgbClr val="0000FF"/>
          </a:solidFill>
        </p:spPr>
        <p:txBody>
          <a:bodyPr>
            <a:normAutofit/>
          </a:bodyPr>
          <a:lstStyle/>
          <a:p>
            <a:r>
              <a:rPr lang="en-IN" sz="4000" b="1" dirty="0">
                <a:solidFill>
                  <a:schemeClr val="bg1"/>
                </a:solidFill>
              </a:rPr>
              <a:t>DESIGN THINKING AND INNOVATION</a:t>
            </a:r>
          </a:p>
        </p:txBody>
      </p:sp>
      <p:sp>
        <p:nvSpPr>
          <p:cNvPr id="5" name="TextBox 4"/>
          <p:cNvSpPr txBox="1"/>
          <p:nvPr/>
        </p:nvSpPr>
        <p:spPr>
          <a:xfrm>
            <a:off x="263352" y="5301208"/>
            <a:ext cx="11665296" cy="1421928"/>
          </a:xfrm>
          <a:prstGeom prst="rect">
            <a:avLst/>
          </a:prstGeom>
          <a:noFill/>
          <a:ln>
            <a:solidFill>
              <a:srgbClr val="FF3300"/>
            </a:solidFill>
          </a:ln>
        </p:spPr>
        <p:txBody>
          <a:bodyPr wrap="square" rtlCol="0">
            <a:spAutoFit/>
          </a:bodyPr>
          <a:lstStyle/>
          <a:p>
            <a:pPr algn="ctr">
              <a:lnSpc>
                <a:spcPct val="120000"/>
              </a:lnSpc>
            </a:pPr>
            <a:r>
              <a:rPr lang="en-IN" sz="2400" b="1" dirty="0">
                <a:solidFill>
                  <a:srgbClr val="C00000"/>
                </a:solidFill>
              </a:rPr>
              <a:t>Dr V. Ramakrishna</a:t>
            </a:r>
          </a:p>
          <a:p>
            <a:pPr algn="ctr">
              <a:lnSpc>
                <a:spcPct val="120000"/>
              </a:lnSpc>
            </a:pPr>
            <a:r>
              <a:rPr lang="en-IN" sz="2400" b="1" dirty="0"/>
              <a:t>Professor, Civil Engineering Department</a:t>
            </a:r>
          </a:p>
          <a:p>
            <a:pPr algn="ctr">
              <a:lnSpc>
                <a:spcPct val="120000"/>
              </a:lnSpc>
            </a:pPr>
            <a:r>
              <a:rPr lang="en-IN" sz="2400" b="1" dirty="0" err="1"/>
              <a:t>Lakireddy</a:t>
            </a:r>
            <a:r>
              <a:rPr lang="en-IN" sz="2400" b="1" dirty="0"/>
              <a:t> Bali Reddy College of Engineering (A), </a:t>
            </a:r>
            <a:r>
              <a:rPr lang="en-IN" sz="2400" b="1" dirty="0" err="1"/>
              <a:t>Mylavaram</a:t>
            </a:r>
            <a:endParaRPr lang="en-IN" sz="2400" b="1" dirty="0"/>
          </a:p>
        </p:txBody>
      </p:sp>
      <p:sp>
        <p:nvSpPr>
          <p:cNvPr id="16386" name="AutoShape 2" descr="Design Thinking for Product Development at Welingkar"/>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23792" y="1412776"/>
            <a:ext cx="2658026" cy="2658026"/>
          </a:xfrm>
          <a:prstGeom prst="rect">
            <a:avLst/>
          </a:prstGeom>
        </p:spPr>
      </p:pic>
      <p:sp>
        <p:nvSpPr>
          <p:cNvPr id="4" name="Oval 3"/>
          <p:cNvSpPr/>
          <p:nvPr/>
        </p:nvSpPr>
        <p:spPr>
          <a:xfrm>
            <a:off x="4079776" y="1196752"/>
            <a:ext cx="2944918" cy="308950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Slide Number Placeholder 5"/>
          <p:cNvSpPr>
            <a:spLocks noGrp="1"/>
          </p:cNvSpPr>
          <p:nvPr>
            <p:ph type="sldNum" sz="quarter" idx="12"/>
          </p:nvPr>
        </p:nvSpPr>
        <p:spPr/>
        <p:txBody>
          <a:bodyPr/>
          <a:lstStyle/>
          <a:p>
            <a:fld id="{F5C292C0-B0FF-4DAD-AFC8-67CB345CA3F6}" type="slidenum">
              <a:rPr lang="en-IN" smtClean="0"/>
              <a:pPr/>
              <a:t>1</a:t>
            </a:fld>
            <a:endParaRPr lang="en-IN"/>
          </a:p>
        </p:txBody>
      </p:sp>
      <p:sp>
        <p:nvSpPr>
          <p:cNvPr id="8" name="TextBox 7"/>
          <p:cNvSpPr txBox="1"/>
          <p:nvPr/>
        </p:nvSpPr>
        <p:spPr>
          <a:xfrm>
            <a:off x="1595406" y="4681847"/>
            <a:ext cx="8143932" cy="461665"/>
          </a:xfrm>
          <a:prstGeom prst="rect">
            <a:avLst/>
          </a:prstGeom>
          <a:noFill/>
        </p:spPr>
        <p:txBody>
          <a:bodyPr wrap="square" rtlCol="0">
            <a:spAutoFit/>
          </a:bodyPr>
          <a:lstStyle/>
          <a:p>
            <a:pPr algn="ctr"/>
            <a:r>
              <a:rPr lang="en-IN" sz="2400" b="1" dirty="0" smtClean="0">
                <a:solidFill>
                  <a:srgbClr val="C00000"/>
                </a:solidFill>
              </a:rPr>
              <a:t>BUSINESS STRATEGIES, AND BUSINESS MODELS</a:t>
            </a:r>
            <a:endParaRPr lang="en-IN" sz="2400" b="1" dirty="0">
              <a:solidFill>
                <a:srgbClr val="C00000"/>
              </a:solidFill>
            </a:endParaRPr>
          </a:p>
        </p:txBody>
      </p:sp>
    </p:spTree>
    <p:extLst>
      <p:ext uri="{BB962C8B-B14F-4D97-AF65-F5344CB8AC3E}">
        <p14:creationId xmlns:p14="http://schemas.microsoft.com/office/powerpoint/2010/main" val="37188356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4"/>
            <a:ext cx="12192000" cy="642942"/>
          </a:xfrm>
          <a:solidFill>
            <a:srgbClr val="0000FF"/>
          </a:solidFill>
        </p:spPr>
        <p:txBody>
          <a:bodyPr>
            <a:normAutofit/>
          </a:bodyPr>
          <a:lstStyle/>
          <a:p>
            <a:r>
              <a:rPr lang="en-IN" sz="3200" b="1" dirty="0">
                <a:solidFill>
                  <a:schemeClr val="bg1"/>
                </a:solidFill>
              </a:rPr>
              <a:t>Elements of Design Thinking</a:t>
            </a:r>
          </a:p>
        </p:txBody>
      </p:sp>
      <p:pic>
        <p:nvPicPr>
          <p:cNvPr id="4" name="Picture 3" descr="DT8.png"/>
          <p:cNvPicPr>
            <a:picLocks noChangeAspect="1"/>
          </p:cNvPicPr>
          <p:nvPr/>
        </p:nvPicPr>
        <p:blipFill>
          <a:blip r:embed="rId2"/>
          <a:stretch>
            <a:fillRect/>
          </a:stretch>
        </p:blipFill>
        <p:spPr>
          <a:xfrm>
            <a:off x="248010" y="1120848"/>
            <a:ext cx="11032566" cy="5569735"/>
          </a:xfrm>
          <a:prstGeom prst="rect">
            <a:avLst/>
          </a:prstGeom>
        </p:spPr>
      </p:pic>
      <p:sp>
        <p:nvSpPr>
          <p:cNvPr id="5" name="TextBox 4"/>
          <p:cNvSpPr txBox="1"/>
          <p:nvPr/>
        </p:nvSpPr>
        <p:spPr>
          <a:xfrm>
            <a:off x="1952596" y="1059404"/>
            <a:ext cx="2928958" cy="369332"/>
          </a:xfrm>
          <a:prstGeom prst="rect">
            <a:avLst/>
          </a:prstGeom>
          <a:noFill/>
        </p:spPr>
        <p:txBody>
          <a:bodyPr wrap="square" rtlCol="0">
            <a:spAutoFit/>
          </a:bodyPr>
          <a:lstStyle/>
          <a:p>
            <a:r>
              <a:rPr lang="en-IN" b="1" i="1" dirty="0">
                <a:solidFill>
                  <a:srgbClr val="FF3300"/>
                </a:solidFill>
              </a:rPr>
              <a:t>Innovation/Outcome</a:t>
            </a:r>
          </a:p>
        </p:txBody>
      </p:sp>
      <p:sp>
        <p:nvSpPr>
          <p:cNvPr id="3" name="Slide Number Placeholder 2"/>
          <p:cNvSpPr>
            <a:spLocks noGrp="1"/>
          </p:cNvSpPr>
          <p:nvPr>
            <p:ph type="sldNum" sz="quarter" idx="12"/>
          </p:nvPr>
        </p:nvSpPr>
        <p:spPr/>
        <p:txBody>
          <a:bodyPr/>
          <a:lstStyle/>
          <a:p>
            <a:fld id="{F5C292C0-B0FF-4DAD-AFC8-67CB345CA3F6}" type="slidenum">
              <a:rPr lang="en-IN" smtClean="0"/>
              <a:pPr/>
              <a:t>2</a:t>
            </a:fld>
            <a:endParaRPr lang="en-IN"/>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2737"/>
            <a:ext cx="12192000" cy="571504"/>
          </a:xfrm>
          <a:solidFill>
            <a:srgbClr val="0000FF"/>
          </a:solidFill>
        </p:spPr>
        <p:txBody>
          <a:bodyPr>
            <a:normAutofit fontScale="90000"/>
          </a:bodyPr>
          <a:lstStyle/>
          <a:p>
            <a:r>
              <a:rPr lang="en-IN" sz="3600" b="1" dirty="0">
                <a:solidFill>
                  <a:schemeClr val="bg1"/>
                </a:solidFill>
              </a:rPr>
              <a:t>Elements of Design Thinking</a:t>
            </a:r>
          </a:p>
        </p:txBody>
      </p:sp>
      <p:pic>
        <p:nvPicPr>
          <p:cNvPr id="4" name="Picture 3" descr="DT2.jpg"/>
          <p:cNvPicPr>
            <a:picLocks noChangeAspect="1"/>
          </p:cNvPicPr>
          <p:nvPr/>
        </p:nvPicPr>
        <p:blipFill>
          <a:blip r:embed="rId2"/>
          <a:stretch>
            <a:fillRect/>
          </a:stretch>
        </p:blipFill>
        <p:spPr>
          <a:xfrm>
            <a:off x="2666976" y="723644"/>
            <a:ext cx="7215238" cy="5576349"/>
          </a:xfrm>
          <a:prstGeom prst="rect">
            <a:avLst/>
          </a:prstGeom>
        </p:spPr>
      </p:pic>
      <p:sp>
        <p:nvSpPr>
          <p:cNvPr id="5" name="TextBox 4"/>
          <p:cNvSpPr txBox="1"/>
          <p:nvPr/>
        </p:nvSpPr>
        <p:spPr>
          <a:xfrm>
            <a:off x="3024166" y="6429396"/>
            <a:ext cx="1071570" cy="338554"/>
          </a:xfrm>
          <a:prstGeom prst="rect">
            <a:avLst/>
          </a:prstGeom>
          <a:noFill/>
          <a:ln>
            <a:solidFill>
              <a:schemeClr val="accent1"/>
            </a:solidFill>
          </a:ln>
        </p:spPr>
        <p:txBody>
          <a:bodyPr wrap="square" rtlCol="0">
            <a:spAutoFit/>
          </a:bodyPr>
          <a:lstStyle/>
          <a:p>
            <a:pPr algn="ctr"/>
            <a:r>
              <a:rPr lang="en-IN" sz="1600" b="1" dirty="0">
                <a:solidFill>
                  <a:srgbClr val="FF0000"/>
                </a:solidFill>
              </a:rPr>
              <a:t>INSIGHTS</a:t>
            </a:r>
          </a:p>
        </p:txBody>
      </p:sp>
      <p:sp>
        <p:nvSpPr>
          <p:cNvPr id="6" name="TextBox 5"/>
          <p:cNvSpPr txBox="1"/>
          <p:nvPr/>
        </p:nvSpPr>
        <p:spPr>
          <a:xfrm>
            <a:off x="4524364" y="6448032"/>
            <a:ext cx="928694" cy="338554"/>
          </a:xfrm>
          <a:prstGeom prst="rect">
            <a:avLst/>
          </a:prstGeom>
          <a:noFill/>
          <a:ln>
            <a:solidFill>
              <a:schemeClr val="accent1"/>
            </a:solidFill>
          </a:ln>
        </p:spPr>
        <p:txBody>
          <a:bodyPr wrap="square" rtlCol="0">
            <a:spAutoFit/>
          </a:bodyPr>
          <a:lstStyle/>
          <a:p>
            <a:pPr algn="ctr"/>
            <a:r>
              <a:rPr lang="en-IN" sz="1600" b="1" dirty="0">
                <a:solidFill>
                  <a:srgbClr val="FF0000"/>
                </a:solidFill>
              </a:rPr>
              <a:t>NEEDS</a:t>
            </a:r>
          </a:p>
        </p:txBody>
      </p:sp>
      <p:sp>
        <p:nvSpPr>
          <p:cNvPr id="7" name="TextBox 6"/>
          <p:cNvSpPr txBox="1"/>
          <p:nvPr/>
        </p:nvSpPr>
        <p:spPr>
          <a:xfrm>
            <a:off x="5595934" y="6448033"/>
            <a:ext cx="1148138" cy="338554"/>
          </a:xfrm>
          <a:prstGeom prst="rect">
            <a:avLst/>
          </a:prstGeom>
          <a:noFill/>
          <a:ln>
            <a:solidFill>
              <a:schemeClr val="accent1"/>
            </a:solidFill>
          </a:ln>
        </p:spPr>
        <p:txBody>
          <a:bodyPr wrap="square" rtlCol="0">
            <a:spAutoFit/>
          </a:bodyPr>
          <a:lstStyle/>
          <a:p>
            <a:pPr algn="ctr"/>
            <a:r>
              <a:rPr lang="en-IN" sz="1600" b="1" dirty="0">
                <a:solidFill>
                  <a:srgbClr val="FF0000"/>
                </a:solidFill>
              </a:rPr>
              <a:t>CONCEPTS</a:t>
            </a:r>
          </a:p>
        </p:txBody>
      </p:sp>
      <p:sp>
        <p:nvSpPr>
          <p:cNvPr id="8" name="TextBox 7"/>
          <p:cNvSpPr txBox="1"/>
          <p:nvPr/>
        </p:nvSpPr>
        <p:spPr>
          <a:xfrm>
            <a:off x="6881818" y="6448032"/>
            <a:ext cx="1071570" cy="338554"/>
          </a:xfrm>
          <a:prstGeom prst="rect">
            <a:avLst/>
          </a:prstGeom>
          <a:noFill/>
          <a:ln>
            <a:solidFill>
              <a:schemeClr val="accent1"/>
            </a:solidFill>
          </a:ln>
        </p:spPr>
        <p:txBody>
          <a:bodyPr wrap="square" rtlCol="0">
            <a:spAutoFit/>
          </a:bodyPr>
          <a:lstStyle/>
          <a:p>
            <a:pPr algn="ctr"/>
            <a:r>
              <a:rPr lang="en-IN" sz="1600" b="1" dirty="0">
                <a:solidFill>
                  <a:srgbClr val="FF0000"/>
                </a:solidFill>
              </a:rPr>
              <a:t>MODELS</a:t>
            </a:r>
          </a:p>
        </p:txBody>
      </p:sp>
      <p:sp>
        <p:nvSpPr>
          <p:cNvPr id="9" name="TextBox 8"/>
          <p:cNvSpPr txBox="1"/>
          <p:nvPr/>
        </p:nvSpPr>
        <p:spPr>
          <a:xfrm>
            <a:off x="8382016" y="6429396"/>
            <a:ext cx="1071570" cy="338554"/>
          </a:xfrm>
          <a:prstGeom prst="rect">
            <a:avLst/>
          </a:prstGeom>
          <a:noFill/>
          <a:ln>
            <a:solidFill>
              <a:schemeClr val="accent1"/>
            </a:solidFill>
          </a:ln>
        </p:spPr>
        <p:txBody>
          <a:bodyPr wrap="square" rtlCol="0">
            <a:spAutoFit/>
          </a:bodyPr>
          <a:lstStyle/>
          <a:p>
            <a:pPr algn="ctr"/>
            <a:r>
              <a:rPr lang="en-IN" sz="1600" b="1" dirty="0">
                <a:solidFill>
                  <a:srgbClr val="FF0000"/>
                </a:solidFill>
              </a:rPr>
              <a:t>REFINE</a:t>
            </a:r>
          </a:p>
        </p:txBody>
      </p:sp>
      <p:sp>
        <p:nvSpPr>
          <p:cNvPr id="3" name="Slide Number Placeholder 2"/>
          <p:cNvSpPr>
            <a:spLocks noGrp="1"/>
          </p:cNvSpPr>
          <p:nvPr>
            <p:ph type="sldNum" sz="quarter" idx="12"/>
          </p:nvPr>
        </p:nvSpPr>
        <p:spPr/>
        <p:txBody>
          <a:bodyPr/>
          <a:lstStyle/>
          <a:p>
            <a:fld id="{F5C292C0-B0FF-4DAD-AFC8-67CB345CA3F6}" type="slidenum">
              <a:rPr lang="en-IN" smtClean="0"/>
              <a:pPr/>
              <a:t>3</a:t>
            </a:fld>
            <a:endParaRPr lang="en-IN"/>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4"/>
            <a:ext cx="12192000" cy="620712"/>
          </a:xfrm>
          <a:solidFill>
            <a:srgbClr val="3333FF"/>
          </a:solidFill>
        </p:spPr>
        <p:txBody>
          <a:bodyPr>
            <a:normAutofit/>
          </a:bodyPr>
          <a:lstStyle/>
          <a:p>
            <a:r>
              <a:rPr lang="en-US" sz="3200" b="1" dirty="0" smtClean="0">
                <a:solidFill>
                  <a:schemeClr val="bg1"/>
                </a:solidFill>
              </a:rPr>
              <a:t>Design Thinking in Business Innovation</a:t>
            </a:r>
            <a:endParaRPr lang="en-IN" sz="3200" b="1" dirty="0">
              <a:solidFill>
                <a:schemeClr val="bg1"/>
              </a:solidFill>
            </a:endParaRPr>
          </a:p>
        </p:txBody>
      </p:sp>
      <p:sp>
        <p:nvSpPr>
          <p:cNvPr id="5" name="Slide Number Placeholder 4"/>
          <p:cNvSpPr>
            <a:spLocks noGrp="1"/>
          </p:cNvSpPr>
          <p:nvPr>
            <p:ph type="sldNum" sz="quarter" idx="12"/>
          </p:nvPr>
        </p:nvSpPr>
        <p:spPr/>
        <p:txBody>
          <a:bodyPr/>
          <a:lstStyle/>
          <a:p>
            <a:fld id="{F5C292C0-B0FF-4DAD-AFC8-67CB345CA3F6}" type="slidenum">
              <a:rPr lang="en-IN" smtClean="0"/>
              <a:pPr/>
              <a:t>4</a:t>
            </a:fld>
            <a:endParaRPr lang="en-IN"/>
          </a:p>
        </p:txBody>
      </p:sp>
      <p:sp>
        <p:nvSpPr>
          <p:cNvPr id="11" name="TextBox 10"/>
          <p:cNvSpPr txBox="1"/>
          <p:nvPr/>
        </p:nvSpPr>
        <p:spPr>
          <a:xfrm>
            <a:off x="263352" y="764704"/>
            <a:ext cx="11665296" cy="5815118"/>
          </a:xfrm>
          <a:prstGeom prst="rect">
            <a:avLst/>
          </a:prstGeom>
          <a:solidFill>
            <a:schemeClr val="accent1">
              <a:lumMod val="20000"/>
              <a:lumOff val="80000"/>
            </a:schemeClr>
          </a:solidFill>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marL="457200" indent="-457200">
              <a:lnSpc>
                <a:spcPct val="130000"/>
              </a:lnSpc>
              <a:buFont typeface="Arial" panose="020B0604020202020204" pitchFamily="34" charset="0"/>
              <a:buChar char="•"/>
            </a:pPr>
            <a:r>
              <a:rPr lang="en-IN" sz="2400" dirty="0" smtClean="0">
                <a:solidFill>
                  <a:schemeClr val="tx1"/>
                </a:solidFill>
              </a:rPr>
              <a:t>Design Thinking helps in understanding customer needs and solving complex problems in an user-centric manner</a:t>
            </a:r>
          </a:p>
          <a:p>
            <a:pPr marL="457200" indent="-457200">
              <a:lnSpc>
                <a:spcPct val="130000"/>
              </a:lnSpc>
              <a:buFont typeface="Arial" panose="020B0604020202020204" pitchFamily="34" charset="0"/>
              <a:buChar char="•"/>
            </a:pPr>
            <a:r>
              <a:rPr lang="en-US" sz="2400" dirty="0" smtClean="0">
                <a:solidFill>
                  <a:schemeClr val="tx1"/>
                </a:solidFill>
              </a:rPr>
              <a:t>Integrating Design thinking in Business enhances customer experiences, drives innovation, fosters collaboration, increased organizational agility, and sustained competitive advantage</a:t>
            </a:r>
            <a:endParaRPr lang="en-IN" sz="2400" dirty="0" smtClean="0">
              <a:solidFill>
                <a:schemeClr val="tx1"/>
              </a:solidFill>
            </a:endParaRPr>
          </a:p>
          <a:p>
            <a:pPr marL="457200" indent="-457200">
              <a:lnSpc>
                <a:spcPct val="130000"/>
              </a:lnSpc>
              <a:buFont typeface="Arial" panose="020B0604020202020204" pitchFamily="34" charset="0"/>
              <a:buChar char="•"/>
            </a:pPr>
            <a:r>
              <a:rPr lang="en-IN" sz="2400" b="1" dirty="0" smtClean="0">
                <a:solidFill>
                  <a:schemeClr val="tx1"/>
                </a:solidFill>
              </a:rPr>
              <a:t>Benefits derived:</a:t>
            </a:r>
          </a:p>
          <a:p>
            <a:pPr marL="914400" lvl="1" indent="-457200">
              <a:lnSpc>
                <a:spcPct val="130000"/>
              </a:lnSpc>
              <a:buFont typeface="Arial" panose="020B0604020202020204" pitchFamily="34" charset="0"/>
              <a:buChar char="•"/>
            </a:pPr>
            <a:r>
              <a:rPr lang="en-US" sz="2400" dirty="0" smtClean="0">
                <a:solidFill>
                  <a:schemeClr val="tx1"/>
                </a:solidFill>
              </a:rPr>
              <a:t>Enhanced User experience</a:t>
            </a:r>
          </a:p>
          <a:p>
            <a:pPr marL="914400" lvl="1" indent="-457200">
              <a:lnSpc>
                <a:spcPct val="130000"/>
              </a:lnSpc>
              <a:buFont typeface="Arial" panose="020B0604020202020204" pitchFamily="34" charset="0"/>
              <a:buChar char="•"/>
            </a:pPr>
            <a:r>
              <a:rPr lang="en-US" sz="2400" dirty="0" smtClean="0">
                <a:solidFill>
                  <a:schemeClr val="tx1"/>
                </a:solidFill>
              </a:rPr>
              <a:t>Increased innovation</a:t>
            </a:r>
          </a:p>
          <a:p>
            <a:pPr marL="914400" lvl="1" indent="-457200">
              <a:lnSpc>
                <a:spcPct val="130000"/>
              </a:lnSpc>
              <a:buFont typeface="Arial" panose="020B0604020202020204" pitchFamily="34" charset="0"/>
              <a:buChar char="•"/>
            </a:pPr>
            <a:r>
              <a:rPr lang="en-US" sz="2400" dirty="0" smtClean="0">
                <a:solidFill>
                  <a:schemeClr val="tx1"/>
                </a:solidFill>
              </a:rPr>
              <a:t>Agility and adaptability</a:t>
            </a:r>
          </a:p>
          <a:p>
            <a:pPr marL="914400" lvl="1" indent="-457200">
              <a:lnSpc>
                <a:spcPct val="130000"/>
              </a:lnSpc>
              <a:buFont typeface="Arial" panose="020B0604020202020204" pitchFamily="34" charset="0"/>
              <a:buChar char="•"/>
            </a:pPr>
            <a:r>
              <a:rPr lang="en-US" sz="2400" dirty="0" smtClean="0">
                <a:solidFill>
                  <a:schemeClr val="tx1"/>
                </a:solidFill>
              </a:rPr>
              <a:t>Collaboration and Teamwork</a:t>
            </a:r>
          </a:p>
          <a:p>
            <a:pPr marL="914400" lvl="1" indent="-457200">
              <a:lnSpc>
                <a:spcPct val="130000"/>
              </a:lnSpc>
              <a:buFont typeface="Arial" panose="020B0604020202020204" pitchFamily="34" charset="0"/>
              <a:buChar char="•"/>
            </a:pPr>
            <a:r>
              <a:rPr lang="en-US" sz="2400" dirty="0" smtClean="0">
                <a:solidFill>
                  <a:schemeClr val="tx1"/>
                </a:solidFill>
              </a:rPr>
              <a:t>Risk mitigation</a:t>
            </a:r>
          </a:p>
          <a:p>
            <a:pPr marL="914400" lvl="1" indent="-457200">
              <a:lnSpc>
                <a:spcPct val="130000"/>
              </a:lnSpc>
              <a:buFont typeface="Arial" panose="020B0604020202020204" pitchFamily="34" charset="0"/>
              <a:buChar char="•"/>
            </a:pPr>
            <a:r>
              <a:rPr lang="en-US" sz="2400" dirty="0" smtClean="0">
                <a:solidFill>
                  <a:schemeClr val="tx1"/>
                </a:solidFill>
              </a:rPr>
              <a:t>Strategic alignment</a:t>
            </a:r>
            <a:endParaRPr lang="en-IN" sz="2400" dirty="0" smtClean="0">
              <a:solidFill>
                <a:schemeClr val="tx1"/>
              </a:solidFill>
            </a:endParaRPr>
          </a:p>
        </p:txBody>
      </p:sp>
    </p:spTree>
    <p:extLst>
      <p:ext uri="{BB962C8B-B14F-4D97-AF65-F5344CB8AC3E}">
        <p14:creationId xmlns:p14="http://schemas.microsoft.com/office/powerpoint/2010/main" val="27678514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4"/>
            <a:ext cx="12192000" cy="620712"/>
          </a:xfrm>
          <a:solidFill>
            <a:srgbClr val="3333FF"/>
          </a:solidFill>
        </p:spPr>
        <p:txBody>
          <a:bodyPr>
            <a:normAutofit/>
          </a:bodyPr>
          <a:lstStyle/>
          <a:p>
            <a:r>
              <a:rPr lang="en-US" sz="3200" b="1" dirty="0" smtClean="0">
                <a:solidFill>
                  <a:schemeClr val="bg1"/>
                </a:solidFill>
              </a:rPr>
              <a:t>Implementing Design Thinking in Business Strategy</a:t>
            </a:r>
            <a:endParaRPr lang="en-IN" sz="3200" b="1" dirty="0">
              <a:solidFill>
                <a:schemeClr val="bg1"/>
              </a:solidFill>
            </a:endParaRPr>
          </a:p>
        </p:txBody>
      </p:sp>
      <p:sp>
        <p:nvSpPr>
          <p:cNvPr id="5" name="Slide Number Placeholder 4"/>
          <p:cNvSpPr>
            <a:spLocks noGrp="1"/>
          </p:cNvSpPr>
          <p:nvPr>
            <p:ph type="sldNum" sz="quarter" idx="12"/>
          </p:nvPr>
        </p:nvSpPr>
        <p:spPr/>
        <p:txBody>
          <a:bodyPr/>
          <a:lstStyle/>
          <a:p>
            <a:fld id="{F5C292C0-B0FF-4DAD-AFC8-67CB345CA3F6}" type="slidenum">
              <a:rPr lang="en-IN" smtClean="0"/>
              <a:pPr/>
              <a:t>5</a:t>
            </a:fld>
            <a:endParaRPr lang="en-IN"/>
          </a:p>
        </p:txBody>
      </p:sp>
      <p:sp>
        <p:nvSpPr>
          <p:cNvPr id="3" name="TextBox 2"/>
          <p:cNvSpPr txBox="1"/>
          <p:nvPr/>
        </p:nvSpPr>
        <p:spPr>
          <a:xfrm>
            <a:off x="263352" y="764704"/>
            <a:ext cx="11521280" cy="1569660"/>
          </a:xfrm>
          <a:prstGeom prst="rect">
            <a:avLst/>
          </a:prstGeom>
          <a:noFill/>
          <a:ln>
            <a:solidFill>
              <a:schemeClr val="accent1"/>
            </a:solidFill>
          </a:ln>
        </p:spPr>
        <p:txBody>
          <a:bodyPr wrap="square" rtlCol="0">
            <a:spAutoFit/>
          </a:bodyPr>
          <a:lstStyle/>
          <a:p>
            <a:pPr marL="342900" indent="-342900">
              <a:buFont typeface="Arial" panose="020B0604020202020204" pitchFamily="34" charset="0"/>
              <a:buChar char="•"/>
            </a:pPr>
            <a:r>
              <a:rPr lang="en-US" sz="2400" dirty="0" smtClean="0">
                <a:solidFill>
                  <a:srgbClr val="C00000"/>
                </a:solidFill>
              </a:rPr>
              <a:t>Companies should focus on understanding user needs, fostering collaborations across teams, and encouraging rapid prototyping and testing</a:t>
            </a:r>
          </a:p>
          <a:p>
            <a:pPr marL="342900" indent="-342900">
              <a:buFont typeface="Arial" panose="020B0604020202020204" pitchFamily="34" charset="0"/>
              <a:buChar char="•"/>
            </a:pPr>
            <a:r>
              <a:rPr lang="en-US" sz="2400" dirty="0" smtClean="0">
                <a:solidFill>
                  <a:srgbClr val="0000FF"/>
                </a:solidFill>
              </a:rPr>
              <a:t>Aligning these efforts with overall business goals ensures to drive innovation while supporting long-term growth and adaptability</a:t>
            </a:r>
            <a:endParaRPr lang="en-IN" sz="2400" dirty="0">
              <a:solidFill>
                <a:srgbClr val="0000FF"/>
              </a:solidFill>
            </a:endParaRPr>
          </a:p>
        </p:txBody>
      </p:sp>
      <p:sp>
        <p:nvSpPr>
          <p:cNvPr id="4" name="TextBox 3"/>
          <p:cNvSpPr txBox="1"/>
          <p:nvPr/>
        </p:nvSpPr>
        <p:spPr>
          <a:xfrm>
            <a:off x="263352" y="2564904"/>
            <a:ext cx="11521280" cy="3816429"/>
          </a:xfrm>
          <a:prstGeom prst="rect">
            <a:avLst/>
          </a:prstGeom>
          <a:noFill/>
          <a:ln>
            <a:solidFill>
              <a:srgbClr val="C00000"/>
            </a:solidFill>
          </a:ln>
        </p:spPr>
        <p:txBody>
          <a:bodyPr wrap="square" rtlCol="0">
            <a:spAutoFit/>
          </a:bodyPr>
          <a:lstStyle/>
          <a:p>
            <a:r>
              <a:rPr lang="en-US" sz="2200" b="1" dirty="0" smtClean="0"/>
              <a:t>Functional Steps</a:t>
            </a:r>
          </a:p>
          <a:p>
            <a:pPr marL="285750" indent="-285750">
              <a:buFont typeface="Arial" panose="020B0604020202020204" pitchFamily="34" charset="0"/>
              <a:buChar char="•"/>
            </a:pPr>
            <a:r>
              <a:rPr lang="en-US" sz="2200" b="1" dirty="0" smtClean="0">
                <a:solidFill>
                  <a:srgbClr val="0000FF"/>
                </a:solidFill>
              </a:rPr>
              <a:t>Start small</a:t>
            </a:r>
            <a:r>
              <a:rPr lang="en-US" sz="2200" dirty="0" smtClean="0">
                <a:solidFill>
                  <a:srgbClr val="0000FF"/>
                </a:solidFill>
              </a:rPr>
              <a:t>: Begin with a pilot project applying Design Thinking principles to solve a specific problem</a:t>
            </a:r>
          </a:p>
          <a:p>
            <a:pPr marL="285750" indent="-285750">
              <a:buFont typeface="Arial" panose="020B0604020202020204" pitchFamily="34" charset="0"/>
              <a:buChar char="•"/>
            </a:pPr>
            <a:r>
              <a:rPr lang="en-US" sz="2200" b="1" dirty="0" smtClean="0">
                <a:solidFill>
                  <a:srgbClr val="FF3399"/>
                </a:solidFill>
              </a:rPr>
              <a:t>Encourage Cross-functional teams</a:t>
            </a:r>
            <a:r>
              <a:rPr lang="en-US" sz="2200" dirty="0" smtClean="0">
                <a:solidFill>
                  <a:srgbClr val="FF3399"/>
                </a:solidFill>
              </a:rPr>
              <a:t>: Include diverse members from different departments to bring varied perspectives to the table</a:t>
            </a:r>
          </a:p>
          <a:p>
            <a:pPr marL="285750" indent="-285750">
              <a:buFont typeface="Arial" panose="020B0604020202020204" pitchFamily="34" charset="0"/>
              <a:buChar char="•"/>
            </a:pPr>
            <a:r>
              <a:rPr lang="en-US" sz="2200" b="1" dirty="0" smtClean="0">
                <a:solidFill>
                  <a:srgbClr val="00B050"/>
                </a:solidFill>
              </a:rPr>
              <a:t>Empower Employees</a:t>
            </a:r>
            <a:r>
              <a:rPr lang="en-US" sz="2200" dirty="0" smtClean="0">
                <a:solidFill>
                  <a:srgbClr val="00B050"/>
                </a:solidFill>
              </a:rPr>
              <a:t>: Train employees on Design Thinking methodologies and give them the autonomy to explore creative solutions</a:t>
            </a:r>
          </a:p>
          <a:p>
            <a:pPr marL="285750" indent="-285750">
              <a:buFont typeface="Arial" panose="020B0604020202020204" pitchFamily="34" charset="0"/>
              <a:buChar char="•"/>
            </a:pPr>
            <a:r>
              <a:rPr lang="en-US" sz="2200" b="1" dirty="0" smtClean="0"/>
              <a:t>Leverage Customer feedback</a:t>
            </a:r>
            <a:r>
              <a:rPr lang="en-US" sz="2200" dirty="0" smtClean="0"/>
              <a:t>: Regularly gather insights from customers to refine products and services continually</a:t>
            </a:r>
          </a:p>
          <a:p>
            <a:pPr marL="285750" indent="-285750">
              <a:buFont typeface="Arial" panose="020B0604020202020204" pitchFamily="34" charset="0"/>
              <a:buChar char="•"/>
            </a:pPr>
            <a:r>
              <a:rPr lang="en-US" sz="2200" b="1" dirty="0" smtClean="0">
                <a:solidFill>
                  <a:srgbClr val="C00000"/>
                </a:solidFill>
              </a:rPr>
              <a:t>Measure Impact</a:t>
            </a:r>
            <a:r>
              <a:rPr lang="en-US" sz="2200" dirty="0" smtClean="0">
                <a:solidFill>
                  <a:srgbClr val="C00000"/>
                </a:solidFill>
              </a:rPr>
              <a:t>: Track the success of Design Thinking initiatives through metrics like customer satisfaction, time-to-market and revenue growth</a:t>
            </a:r>
            <a:endParaRPr lang="en-IN" sz="2200" dirty="0">
              <a:solidFill>
                <a:srgbClr val="C00000"/>
              </a:solidFill>
            </a:endParaRPr>
          </a:p>
        </p:txBody>
      </p:sp>
    </p:spTree>
    <p:extLst>
      <p:ext uri="{BB962C8B-B14F-4D97-AF65-F5344CB8AC3E}">
        <p14:creationId xmlns:p14="http://schemas.microsoft.com/office/powerpoint/2010/main" val="424822820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4"/>
            <a:ext cx="12192000" cy="620712"/>
          </a:xfrm>
          <a:solidFill>
            <a:srgbClr val="3333FF"/>
          </a:solidFill>
        </p:spPr>
        <p:txBody>
          <a:bodyPr>
            <a:normAutofit/>
          </a:bodyPr>
          <a:lstStyle/>
          <a:p>
            <a:r>
              <a:rPr lang="en-US" sz="3200" b="1" dirty="0" smtClean="0">
                <a:solidFill>
                  <a:schemeClr val="bg1"/>
                </a:solidFill>
              </a:rPr>
              <a:t>Principles of Design Thinking in  Strategic Innovation</a:t>
            </a:r>
            <a:endParaRPr lang="en-IN" sz="3200" b="1" dirty="0">
              <a:solidFill>
                <a:schemeClr val="bg1"/>
              </a:solidFill>
            </a:endParaRPr>
          </a:p>
        </p:txBody>
      </p:sp>
      <p:sp>
        <p:nvSpPr>
          <p:cNvPr id="5" name="Slide Number Placeholder 4"/>
          <p:cNvSpPr>
            <a:spLocks noGrp="1"/>
          </p:cNvSpPr>
          <p:nvPr>
            <p:ph type="sldNum" sz="quarter" idx="12"/>
          </p:nvPr>
        </p:nvSpPr>
        <p:spPr/>
        <p:txBody>
          <a:bodyPr/>
          <a:lstStyle/>
          <a:p>
            <a:fld id="{F5C292C0-B0FF-4DAD-AFC8-67CB345CA3F6}" type="slidenum">
              <a:rPr lang="en-IN" smtClean="0"/>
              <a:pPr/>
              <a:t>6</a:t>
            </a:fld>
            <a:endParaRPr lang="en-IN"/>
          </a:p>
        </p:txBody>
      </p:sp>
      <p:sp>
        <p:nvSpPr>
          <p:cNvPr id="4" name="TextBox 3"/>
          <p:cNvSpPr txBox="1"/>
          <p:nvPr/>
        </p:nvSpPr>
        <p:spPr>
          <a:xfrm>
            <a:off x="263352" y="2564904"/>
            <a:ext cx="11521280" cy="3647152"/>
          </a:xfrm>
          <a:prstGeom prst="rect">
            <a:avLst/>
          </a:prstGeom>
          <a:noFill/>
          <a:ln>
            <a:solidFill>
              <a:srgbClr val="C00000"/>
            </a:solidFill>
          </a:ln>
        </p:spPr>
        <p:txBody>
          <a:bodyPr wrap="square" rtlCol="0">
            <a:spAutoFit/>
          </a:bodyPr>
          <a:lstStyle/>
          <a:p>
            <a:pPr marL="342900" indent="-342900">
              <a:lnSpc>
                <a:spcPct val="150000"/>
              </a:lnSpc>
              <a:buFont typeface="Arial" panose="020B0604020202020204" pitchFamily="34" charset="0"/>
              <a:buChar char="•"/>
            </a:pPr>
            <a:r>
              <a:rPr lang="en-US" sz="2200" b="1" dirty="0" smtClean="0">
                <a:solidFill>
                  <a:srgbClr val="FF3399"/>
                </a:solidFill>
              </a:rPr>
              <a:t>Customer Centricity:  </a:t>
            </a:r>
            <a:r>
              <a:rPr lang="en-US" sz="2200" dirty="0" smtClean="0">
                <a:solidFill>
                  <a:srgbClr val="FF3399"/>
                </a:solidFill>
              </a:rPr>
              <a:t>Design Thinking emphasizes deep empathy for the user’s needs ensuring that products, services, and strategies are tailored to real customer issues</a:t>
            </a:r>
          </a:p>
          <a:p>
            <a:pPr marL="342900" indent="-342900">
              <a:lnSpc>
                <a:spcPct val="150000"/>
              </a:lnSpc>
              <a:buFont typeface="Arial" panose="020B0604020202020204" pitchFamily="34" charset="0"/>
              <a:buChar char="•"/>
            </a:pPr>
            <a:r>
              <a:rPr lang="en-US" sz="2200" b="1" dirty="0" smtClean="0"/>
              <a:t>Iterative Development</a:t>
            </a:r>
            <a:r>
              <a:rPr lang="en-US" sz="2200" dirty="0" smtClean="0"/>
              <a:t>: Strategic innovation requires flexibility. By iteratively testing and refining ideas through prototyping and feedback, organizations reduce the risk of failure</a:t>
            </a:r>
          </a:p>
          <a:p>
            <a:pPr marL="342900" indent="-342900">
              <a:lnSpc>
                <a:spcPct val="150000"/>
              </a:lnSpc>
              <a:buFont typeface="Arial" panose="020B0604020202020204" pitchFamily="34" charset="0"/>
              <a:buChar char="•"/>
            </a:pPr>
            <a:r>
              <a:rPr lang="en-US" sz="2200" b="1" dirty="0" smtClean="0">
                <a:solidFill>
                  <a:srgbClr val="0000FF"/>
                </a:solidFill>
              </a:rPr>
              <a:t>Cross-Disciplinary Collaboration</a:t>
            </a:r>
            <a:r>
              <a:rPr lang="en-US" sz="2200" dirty="0" smtClean="0">
                <a:solidFill>
                  <a:srgbClr val="0000FF"/>
                </a:solidFill>
              </a:rPr>
              <a:t>: Design Thinking brings diverse perspectives, enabling creative solutions that blend insights from various fields within an organization such as marketing, engineering, and customer service </a:t>
            </a:r>
            <a:endParaRPr lang="en-IN" sz="2200" dirty="0">
              <a:solidFill>
                <a:srgbClr val="0000FF"/>
              </a:solidFill>
            </a:endParaRPr>
          </a:p>
        </p:txBody>
      </p:sp>
      <p:sp>
        <p:nvSpPr>
          <p:cNvPr id="6" name="Right Arrow 5"/>
          <p:cNvSpPr/>
          <p:nvPr/>
        </p:nvSpPr>
        <p:spPr>
          <a:xfrm>
            <a:off x="551384" y="980728"/>
            <a:ext cx="2880320" cy="1296144"/>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p:cNvSpPr txBox="1"/>
          <p:nvPr/>
        </p:nvSpPr>
        <p:spPr>
          <a:xfrm>
            <a:off x="623392" y="1412776"/>
            <a:ext cx="2376264" cy="400110"/>
          </a:xfrm>
          <a:prstGeom prst="rect">
            <a:avLst/>
          </a:prstGeom>
          <a:noFill/>
        </p:spPr>
        <p:txBody>
          <a:bodyPr wrap="square" rtlCol="0">
            <a:spAutoFit/>
          </a:bodyPr>
          <a:lstStyle/>
          <a:p>
            <a:r>
              <a:rPr lang="en-US" sz="2000" b="1" dirty="0" smtClean="0"/>
              <a:t>Customer Centricity</a:t>
            </a:r>
            <a:endParaRPr lang="en-IN" sz="2000" b="1" dirty="0"/>
          </a:p>
        </p:txBody>
      </p:sp>
      <p:sp>
        <p:nvSpPr>
          <p:cNvPr id="8" name="Right Arrow 7"/>
          <p:cNvSpPr/>
          <p:nvPr/>
        </p:nvSpPr>
        <p:spPr>
          <a:xfrm>
            <a:off x="4223792" y="980728"/>
            <a:ext cx="2880320" cy="1296144"/>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p:cNvSpPr txBox="1"/>
          <p:nvPr/>
        </p:nvSpPr>
        <p:spPr>
          <a:xfrm>
            <a:off x="4295800" y="1412776"/>
            <a:ext cx="2664296" cy="400110"/>
          </a:xfrm>
          <a:prstGeom prst="rect">
            <a:avLst/>
          </a:prstGeom>
          <a:noFill/>
        </p:spPr>
        <p:txBody>
          <a:bodyPr wrap="square" rtlCol="0">
            <a:spAutoFit/>
          </a:bodyPr>
          <a:lstStyle/>
          <a:p>
            <a:r>
              <a:rPr lang="en-US" sz="2000" b="1" dirty="0" smtClean="0"/>
              <a:t>Iterative Development</a:t>
            </a:r>
            <a:endParaRPr lang="en-IN" sz="2000" b="1" dirty="0"/>
          </a:p>
        </p:txBody>
      </p:sp>
      <p:sp>
        <p:nvSpPr>
          <p:cNvPr id="10" name="Right Arrow 9"/>
          <p:cNvSpPr/>
          <p:nvPr/>
        </p:nvSpPr>
        <p:spPr>
          <a:xfrm>
            <a:off x="7896200" y="980728"/>
            <a:ext cx="3456384" cy="1296144"/>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p:cNvSpPr txBox="1"/>
          <p:nvPr/>
        </p:nvSpPr>
        <p:spPr>
          <a:xfrm>
            <a:off x="7896200" y="1403484"/>
            <a:ext cx="3312368" cy="369332"/>
          </a:xfrm>
          <a:prstGeom prst="rect">
            <a:avLst/>
          </a:prstGeom>
          <a:noFill/>
        </p:spPr>
        <p:txBody>
          <a:bodyPr wrap="square" rtlCol="0">
            <a:spAutoFit/>
          </a:bodyPr>
          <a:lstStyle/>
          <a:p>
            <a:r>
              <a:rPr lang="en-US" b="1" dirty="0" smtClean="0"/>
              <a:t>Cross-Disciplinary Collaboration</a:t>
            </a:r>
            <a:endParaRPr lang="en-IN" b="1" dirty="0"/>
          </a:p>
        </p:txBody>
      </p:sp>
    </p:spTree>
    <p:extLst>
      <p:ext uri="{BB962C8B-B14F-4D97-AF65-F5344CB8AC3E}">
        <p14:creationId xmlns:p14="http://schemas.microsoft.com/office/powerpoint/2010/main" val="271859632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4"/>
            <a:ext cx="12192000" cy="620712"/>
          </a:xfrm>
          <a:solidFill>
            <a:srgbClr val="3333FF"/>
          </a:solidFill>
        </p:spPr>
        <p:txBody>
          <a:bodyPr>
            <a:normAutofit/>
          </a:bodyPr>
          <a:lstStyle/>
          <a:p>
            <a:r>
              <a:rPr lang="en-US" sz="3200" b="1" dirty="0" smtClean="0">
                <a:solidFill>
                  <a:schemeClr val="bg1"/>
                </a:solidFill>
              </a:rPr>
              <a:t>Benefits of Design Thinking in  Strategic Innovation</a:t>
            </a:r>
            <a:endParaRPr lang="en-IN" sz="3200" b="1" dirty="0">
              <a:solidFill>
                <a:schemeClr val="bg1"/>
              </a:solidFill>
            </a:endParaRPr>
          </a:p>
        </p:txBody>
      </p:sp>
      <p:sp>
        <p:nvSpPr>
          <p:cNvPr id="5" name="Slide Number Placeholder 4"/>
          <p:cNvSpPr>
            <a:spLocks noGrp="1"/>
          </p:cNvSpPr>
          <p:nvPr>
            <p:ph type="sldNum" sz="quarter" idx="12"/>
          </p:nvPr>
        </p:nvSpPr>
        <p:spPr/>
        <p:txBody>
          <a:bodyPr/>
          <a:lstStyle/>
          <a:p>
            <a:fld id="{F5C292C0-B0FF-4DAD-AFC8-67CB345CA3F6}" type="slidenum">
              <a:rPr lang="en-IN" smtClean="0"/>
              <a:pPr/>
              <a:t>7</a:t>
            </a:fld>
            <a:endParaRPr lang="en-IN"/>
          </a:p>
        </p:txBody>
      </p:sp>
      <p:sp>
        <p:nvSpPr>
          <p:cNvPr id="4" name="TextBox 3"/>
          <p:cNvSpPr txBox="1"/>
          <p:nvPr/>
        </p:nvSpPr>
        <p:spPr>
          <a:xfrm>
            <a:off x="263352" y="980728"/>
            <a:ext cx="11521280" cy="5078313"/>
          </a:xfrm>
          <a:prstGeom prst="rect">
            <a:avLst/>
          </a:prstGeom>
          <a:noFill/>
          <a:ln>
            <a:solidFill>
              <a:srgbClr val="C00000"/>
            </a:solidFill>
          </a:ln>
        </p:spPr>
        <p:txBody>
          <a:bodyPr wrap="square" rtlCol="0">
            <a:spAutoFit/>
          </a:bodyPr>
          <a:lstStyle/>
          <a:p>
            <a:pPr marL="342900" indent="-342900">
              <a:lnSpc>
                <a:spcPct val="150000"/>
              </a:lnSpc>
              <a:buFont typeface="Arial" panose="020B0604020202020204" pitchFamily="34" charset="0"/>
              <a:buChar char="•"/>
            </a:pPr>
            <a:r>
              <a:rPr lang="en-US" sz="2400" b="1" dirty="0" smtClean="0">
                <a:solidFill>
                  <a:srgbClr val="0000FF"/>
                </a:solidFill>
              </a:rPr>
              <a:t>Better Market Fit</a:t>
            </a:r>
            <a:r>
              <a:rPr lang="en-US" sz="2400" dirty="0" smtClean="0">
                <a:solidFill>
                  <a:srgbClr val="0000FF"/>
                </a:solidFill>
              </a:rPr>
              <a:t>: Deep empathy for the user ensures solutions are aligned with actual market needs, leading to improved customer satisfaction and loyalty</a:t>
            </a:r>
          </a:p>
          <a:p>
            <a:pPr marL="342900" indent="-342900">
              <a:lnSpc>
                <a:spcPct val="150000"/>
              </a:lnSpc>
              <a:buFont typeface="Arial" panose="020B0604020202020204" pitchFamily="34" charset="0"/>
              <a:buChar char="•"/>
            </a:pPr>
            <a:r>
              <a:rPr lang="en-US" sz="2400" b="1" dirty="0" smtClean="0">
                <a:solidFill>
                  <a:srgbClr val="C00000"/>
                </a:solidFill>
              </a:rPr>
              <a:t>Accelerated Innovation Cycle</a:t>
            </a:r>
            <a:r>
              <a:rPr lang="en-US" sz="2400" dirty="0" smtClean="0">
                <a:solidFill>
                  <a:srgbClr val="C00000"/>
                </a:solidFill>
              </a:rPr>
              <a:t>: The iterative nature of Design Thinking reduces time-to-market by identifying issues early in the development cycle, allowing quick adjustments</a:t>
            </a:r>
          </a:p>
          <a:p>
            <a:pPr marL="342900" indent="-342900">
              <a:lnSpc>
                <a:spcPct val="150000"/>
              </a:lnSpc>
              <a:buFont typeface="Arial" panose="020B0604020202020204" pitchFamily="34" charset="0"/>
              <a:buChar char="•"/>
            </a:pPr>
            <a:r>
              <a:rPr lang="en-US" sz="2400" b="1" dirty="0" smtClean="0">
                <a:solidFill>
                  <a:srgbClr val="00B050"/>
                </a:solidFill>
              </a:rPr>
              <a:t>Improved Risk Management</a:t>
            </a:r>
            <a:r>
              <a:rPr lang="en-US" sz="2400" dirty="0" smtClean="0">
                <a:solidFill>
                  <a:srgbClr val="00B050"/>
                </a:solidFill>
              </a:rPr>
              <a:t>: Prototyping and testing ideas minimizes the chance of costly errors in full-scale implementation, allowing for better resource allocation</a:t>
            </a:r>
          </a:p>
          <a:p>
            <a:pPr marL="342900" indent="-342900">
              <a:lnSpc>
                <a:spcPct val="150000"/>
              </a:lnSpc>
              <a:buFont typeface="Arial" panose="020B0604020202020204" pitchFamily="34" charset="0"/>
              <a:buChar char="•"/>
            </a:pPr>
            <a:r>
              <a:rPr lang="en-US" sz="2400" b="1" dirty="0" smtClean="0"/>
              <a:t>Increased Creativity and Adaptability</a:t>
            </a:r>
            <a:r>
              <a:rPr lang="en-US" sz="2400" dirty="0" smtClean="0">
                <a:solidFill>
                  <a:srgbClr val="00B050"/>
                </a:solidFill>
              </a:rPr>
              <a:t>: </a:t>
            </a:r>
            <a:r>
              <a:rPr lang="en-US" sz="2400" dirty="0" smtClean="0"/>
              <a:t>Design Thinking nurtures a culture of innovation by encouraging continuous learning and adaptability, making it easier for organizations to respond to changes in the competitive landscape</a:t>
            </a:r>
            <a:endParaRPr lang="en-IN" sz="2400" dirty="0"/>
          </a:p>
        </p:txBody>
      </p:sp>
    </p:spTree>
    <p:extLst>
      <p:ext uri="{BB962C8B-B14F-4D97-AF65-F5344CB8AC3E}">
        <p14:creationId xmlns:p14="http://schemas.microsoft.com/office/powerpoint/2010/main" val="337649249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4"/>
            <a:ext cx="12192000" cy="620712"/>
          </a:xfrm>
          <a:solidFill>
            <a:srgbClr val="3333FF"/>
          </a:solidFill>
        </p:spPr>
        <p:txBody>
          <a:bodyPr>
            <a:normAutofit/>
          </a:bodyPr>
          <a:lstStyle/>
          <a:p>
            <a:r>
              <a:rPr lang="en-US" sz="3200" b="1" dirty="0" smtClean="0">
                <a:solidFill>
                  <a:schemeClr val="bg1"/>
                </a:solidFill>
              </a:rPr>
              <a:t>Business Challenges</a:t>
            </a:r>
            <a:endParaRPr lang="en-IN" sz="3200" b="1" dirty="0">
              <a:solidFill>
                <a:schemeClr val="bg1"/>
              </a:solidFill>
            </a:endParaRPr>
          </a:p>
        </p:txBody>
      </p:sp>
      <p:sp>
        <p:nvSpPr>
          <p:cNvPr id="5" name="Slide Number Placeholder 4"/>
          <p:cNvSpPr>
            <a:spLocks noGrp="1"/>
          </p:cNvSpPr>
          <p:nvPr>
            <p:ph type="sldNum" sz="quarter" idx="12"/>
          </p:nvPr>
        </p:nvSpPr>
        <p:spPr/>
        <p:txBody>
          <a:bodyPr/>
          <a:lstStyle/>
          <a:p>
            <a:fld id="{F5C292C0-B0FF-4DAD-AFC8-67CB345CA3F6}" type="slidenum">
              <a:rPr lang="en-IN" smtClean="0"/>
              <a:pPr/>
              <a:t>8</a:t>
            </a:fld>
            <a:endParaRPr lang="en-IN"/>
          </a:p>
        </p:txBody>
      </p:sp>
      <p:sp>
        <p:nvSpPr>
          <p:cNvPr id="4" name="TextBox 3"/>
          <p:cNvSpPr txBox="1"/>
          <p:nvPr/>
        </p:nvSpPr>
        <p:spPr>
          <a:xfrm>
            <a:off x="263352" y="692696"/>
            <a:ext cx="11521280" cy="830997"/>
          </a:xfrm>
          <a:prstGeom prst="rect">
            <a:avLst/>
          </a:prstGeom>
          <a:noFill/>
          <a:ln>
            <a:solidFill>
              <a:srgbClr val="C00000"/>
            </a:solidFill>
          </a:ln>
        </p:spPr>
        <p:txBody>
          <a:bodyPr wrap="square" rtlCol="0">
            <a:spAutoFit/>
          </a:bodyPr>
          <a:lstStyle/>
          <a:p>
            <a:pPr marL="342900" indent="-342900">
              <a:buFont typeface="Arial" panose="020B0604020202020204" pitchFamily="34" charset="0"/>
              <a:buChar char="•"/>
            </a:pPr>
            <a:r>
              <a:rPr lang="en-US" sz="2400" dirty="0" smtClean="0">
                <a:solidFill>
                  <a:srgbClr val="C00000"/>
                </a:solidFill>
              </a:rPr>
              <a:t>Organizations face various challenges that test their capability, resilience and innovation. There are different challenges faced by the Industry</a:t>
            </a:r>
            <a:endParaRPr lang="en-IN" sz="2400" dirty="0">
              <a:solidFill>
                <a:srgbClr val="C00000"/>
              </a:solidFill>
            </a:endParaRPr>
          </a:p>
        </p:txBody>
      </p:sp>
      <p:sp>
        <p:nvSpPr>
          <p:cNvPr id="3" name="Oval 2"/>
          <p:cNvSpPr/>
          <p:nvPr/>
        </p:nvSpPr>
        <p:spPr>
          <a:xfrm>
            <a:off x="5087888" y="3429000"/>
            <a:ext cx="1512168" cy="1512168"/>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p:cNvSpPr/>
          <p:nvPr/>
        </p:nvSpPr>
        <p:spPr>
          <a:xfrm>
            <a:off x="3071664" y="2244929"/>
            <a:ext cx="1440160" cy="79208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p:cNvSpPr/>
          <p:nvPr/>
        </p:nvSpPr>
        <p:spPr>
          <a:xfrm>
            <a:off x="3071664" y="3789040"/>
            <a:ext cx="1440160" cy="79208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p:cNvSpPr/>
          <p:nvPr/>
        </p:nvSpPr>
        <p:spPr>
          <a:xfrm>
            <a:off x="3071664" y="5589240"/>
            <a:ext cx="1440160" cy="79208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p:cNvSpPr/>
          <p:nvPr/>
        </p:nvSpPr>
        <p:spPr>
          <a:xfrm>
            <a:off x="7104112" y="2276872"/>
            <a:ext cx="1610792" cy="79208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p:cNvSpPr txBox="1"/>
          <p:nvPr/>
        </p:nvSpPr>
        <p:spPr>
          <a:xfrm>
            <a:off x="5231904" y="3861048"/>
            <a:ext cx="1224136" cy="646331"/>
          </a:xfrm>
          <a:prstGeom prst="rect">
            <a:avLst/>
          </a:prstGeom>
          <a:noFill/>
        </p:spPr>
        <p:txBody>
          <a:bodyPr wrap="square" rtlCol="0">
            <a:spAutoFit/>
          </a:bodyPr>
          <a:lstStyle/>
          <a:p>
            <a:pPr algn="ctr"/>
            <a:r>
              <a:rPr lang="en-US" b="1" dirty="0" smtClean="0">
                <a:solidFill>
                  <a:srgbClr val="C00000"/>
                </a:solidFill>
              </a:rPr>
              <a:t>Business Challenges</a:t>
            </a:r>
            <a:endParaRPr lang="en-IN" b="1" dirty="0">
              <a:solidFill>
                <a:srgbClr val="C00000"/>
              </a:solidFill>
            </a:endParaRPr>
          </a:p>
        </p:txBody>
      </p:sp>
      <p:sp>
        <p:nvSpPr>
          <p:cNvPr id="11" name="Rectangle 10"/>
          <p:cNvSpPr/>
          <p:nvPr/>
        </p:nvSpPr>
        <p:spPr>
          <a:xfrm>
            <a:off x="7189428" y="3789040"/>
            <a:ext cx="1525476" cy="79208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p:cNvSpPr/>
          <p:nvPr/>
        </p:nvSpPr>
        <p:spPr>
          <a:xfrm>
            <a:off x="7104112" y="5589240"/>
            <a:ext cx="1610792" cy="79208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p:cNvSpPr txBox="1"/>
          <p:nvPr/>
        </p:nvSpPr>
        <p:spPr>
          <a:xfrm>
            <a:off x="3215680" y="2420888"/>
            <a:ext cx="1080120" cy="369332"/>
          </a:xfrm>
          <a:prstGeom prst="rect">
            <a:avLst/>
          </a:prstGeom>
          <a:noFill/>
        </p:spPr>
        <p:txBody>
          <a:bodyPr wrap="square" rtlCol="0">
            <a:spAutoFit/>
          </a:bodyPr>
          <a:lstStyle/>
          <a:p>
            <a:pPr algn="ctr"/>
            <a:r>
              <a:rPr lang="en-US" dirty="0" smtClean="0"/>
              <a:t>Growth</a:t>
            </a:r>
            <a:endParaRPr lang="en-IN" dirty="0"/>
          </a:p>
        </p:txBody>
      </p:sp>
      <p:sp>
        <p:nvSpPr>
          <p:cNvPr id="14" name="TextBox 13"/>
          <p:cNvSpPr txBox="1"/>
          <p:nvPr/>
        </p:nvSpPr>
        <p:spPr>
          <a:xfrm>
            <a:off x="3359696" y="4005064"/>
            <a:ext cx="936104" cy="369332"/>
          </a:xfrm>
          <a:prstGeom prst="rect">
            <a:avLst/>
          </a:prstGeom>
          <a:noFill/>
        </p:spPr>
        <p:txBody>
          <a:bodyPr wrap="square" rtlCol="0">
            <a:spAutoFit/>
          </a:bodyPr>
          <a:lstStyle/>
          <a:p>
            <a:r>
              <a:rPr lang="en-US" dirty="0" smtClean="0"/>
              <a:t>Change</a:t>
            </a:r>
            <a:endParaRPr lang="en-IN" dirty="0"/>
          </a:p>
        </p:txBody>
      </p:sp>
      <p:sp>
        <p:nvSpPr>
          <p:cNvPr id="15" name="TextBox 14"/>
          <p:cNvSpPr txBox="1"/>
          <p:nvPr/>
        </p:nvSpPr>
        <p:spPr>
          <a:xfrm>
            <a:off x="2999656" y="5661248"/>
            <a:ext cx="1489472" cy="646331"/>
          </a:xfrm>
          <a:prstGeom prst="rect">
            <a:avLst/>
          </a:prstGeom>
          <a:noFill/>
        </p:spPr>
        <p:txBody>
          <a:bodyPr wrap="square" rtlCol="0">
            <a:spAutoFit/>
          </a:bodyPr>
          <a:lstStyle/>
          <a:p>
            <a:pPr algn="ctr"/>
            <a:r>
              <a:rPr lang="en-US" dirty="0" smtClean="0"/>
              <a:t>Extreme Competition</a:t>
            </a:r>
            <a:endParaRPr lang="en-IN" dirty="0"/>
          </a:p>
        </p:txBody>
      </p:sp>
      <p:sp>
        <p:nvSpPr>
          <p:cNvPr id="16" name="TextBox 15"/>
          <p:cNvSpPr txBox="1"/>
          <p:nvPr/>
        </p:nvSpPr>
        <p:spPr>
          <a:xfrm>
            <a:off x="7248128" y="2483604"/>
            <a:ext cx="1440160" cy="369332"/>
          </a:xfrm>
          <a:prstGeom prst="rect">
            <a:avLst/>
          </a:prstGeom>
          <a:noFill/>
        </p:spPr>
        <p:txBody>
          <a:bodyPr wrap="square" rtlCol="0">
            <a:spAutoFit/>
          </a:bodyPr>
          <a:lstStyle/>
          <a:p>
            <a:pPr algn="ctr"/>
            <a:r>
              <a:rPr lang="en-US" dirty="0" smtClean="0"/>
              <a:t>Predictability</a:t>
            </a:r>
            <a:endParaRPr lang="en-IN" dirty="0"/>
          </a:p>
        </p:txBody>
      </p:sp>
      <p:sp>
        <p:nvSpPr>
          <p:cNvPr id="17" name="TextBox 16"/>
          <p:cNvSpPr txBox="1"/>
          <p:nvPr/>
        </p:nvSpPr>
        <p:spPr>
          <a:xfrm>
            <a:off x="7320136" y="3861048"/>
            <a:ext cx="1296144" cy="646331"/>
          </a:xfrm>
          <a:prstGeom prst="rect">
            <a:avLst/>
          </a:prstGeom>
          <a:noFill/>
        </p:spPr>
        <p:txBody>
          <a:bodyPr wrap="square" rtlCol="0">
            <a:spAutoFit/>
          </a:bodyPr>
          <a:lstStyle/>
          <a:p>
            <a:pPr algn="ctr"/>
            <a:r>
              <a:rPr lang="en-US" dirty="0" smtClean="0"/>
              <a:t>Maintaining Relevance</a:t>
            </a:r>
            <a:endParaRPr lang="en-IN" dirty="0"/>
          </a:p>
        </p:txBody>
      </p:sp>
      <p:sp>
        <p:nvSpPr>
          <p:cNvPr id="18" name="TextBox 17"/>
          <p:cNvSpPr txBox="1"/>
          <p:nvPr/>
        </p:nvSpPr>
        <p:spPr>
          <a:xfrm>
            <a:off x="7104112" y="5795972"/>
            <a:ext cx="1728192" cy="369332"/>
          </a:xfrm>
          <a:prstGeom prst="rect">
            <a:avLst/>
          </a:prstGeom>
          <a:noFill/>
        </p:spPr>
        <p:txBody>
          <a:bodyPr wrap="square" rtlCol="0">
            <a:spAutoFit/>
          </a:bodyPr>
          <a:lstStyle/>
          <a:p>
            <a:r>
              <a:rPr lang="en-US" dirty="0" smtClean="0"/>
              <a:t>Standardization</a:t>
            </a:r>
            <a:endParaRPr lang="en-IN" dirty="0"/>
          </a:p>
        </p:txBody>
      </p:sp>
      <p:sp>
        <p:nvSpPr>
          <p:cNvPr id="19" name="Rounded Rectangle 18"/>
          <p:cNvSpPr/>
          <p:nvPr/>
        </p:nvSpPr>
        <p:spPr>
          <a:xfrm>
            <a:off x="9192344" y="1700808"/>
            <a:ext cx="2592288" cy="1152128"/>
          </a:xfrm>
          <a:prstGeom prst="roundRect">
            <a:avLst/>
          </a:prstGeom>
          <a:noFill/>
          <a:ln>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p:cNvSpPr txBox="1"/>
          <p:nvPr/>
        </p:nvSpPr>
        <p:spPr>
          <a:xfrm>
            <a:off x="9192344" y="1844824"/>
            <a:ext cx="2592288" cy="830997"/>
          </a:xfrm>
          <a:prstGeom prst="rect">
            <a:avLst/>
          </a:prstGeom>
          <a:noFill/>
        </p:spPr>
        <p:txBody>
          <a:bodyPr wrap="square" rtlCol="0">
            <a:spAutoFit/>
          </a:bodyPr>
          <a:lstStyle/>
          <a:p>
            <a:pPr marL="342900" indent="-342900">
              <a:buAutoNum type="arabicPeriod"/>
            </a:pPr>
            <a:r>
              <a:rPr lang="en-US" sz="1600" dirty="0" smtClean="0"/>
              <a:t>Managing uncertainty</a:t>
            </a:r>
          </a:p>
          <a:p>
            <a:pPr marL="342900" indent="-342900">
              <a:buAutoNum type="arabicPeriod"/>
            </a:pPr>
            <a:r>
              <a:rPr lang="en-US" sz="1600" dirty="0" smtClean="0"/>
              <a:t>Forecasting Limitations</a:t>
            </a:r>
          </a:p>
          <a:p>
            <a:pPr marL="342900" indent="-342900">
              <a:buAutoNum type="arabicPeriod"/>
            </a:pPr>
            <a:r>
              <a:rPr lang="en-US" sz="1600" dirty="0" smtClean="0"/>
              <a:t>Risk Management</a:t>
            </a:r>
            <a:endParaRPr lang="en-IN" sz="1600" dirty="0"/>
          </a:p>
        </p:txBody>
      </p:sp>
      <p:sp>
        <p:nvSpPr>
          <p:cNvPr id="21" name="Rounded Rectangle 20"/>
          <p:cNvSpPr/>
          <p:nvPr/>
        </p:nvSpPr>
        <p:spPr>
          <a:xfrm>
            <a:off x="9192344" y="3573016"/>
            <a:ext cx="2592288" cy="115212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TextBox 21"/>
          <p:cNvSpPr txBox="1"/>
          <p:nvPr/>
        </p:nvSpPr>
        <p:spPr>
          <a:xfrm>
            <a:off x="9394576" y="3717032"/>
            <a:ext cx="2246040" cy="830997"/>
          </a:xfrm>
          <a:prstGeom prst="rect">
            <a:avLst/>
          </a:prstGeom>
          <a:noFill/>
        </p:spPr>
        <p:txBody>
          <a:bodyPr wrap="square" rtlCol="0">
            <a:spAutoFit/>
          </a:bodyPr>
          <a:lstStyle/>
          <a:p>
            <a:pPr marL="342900" indent="-342900">
              <a:buAutoNum type="arabicPeriod"/>
            </a:pPr>
            <a:r>
              <a:rPr lang="en-US" sz="1600" dirty="0" smtClean="0"/>
              <a:t>Brand Innovation</a:t>
            </a:r>
          </a:p>
          <a:p>
            <a:pPr marL="342900" indent="-342900">
              <a:buAutoNum type="arabicPeriod"/>
            </a:pPr>
            <a:r>
              <a:rPr lang="en-US" sz="1600" dirty="0" smtClean="0"/>
              <a:t>Customer Loyalty</a:t>
            </a:r>
          </a:p>
          <a:p>
            <a:pPr marL="342900" indent="-342900">
              <a:buAutoNum type="arabicPeriod"/>
            </a:pPr>
            <a:r>
              <a:rPr lang="en-US" sz="1600" dirty="0" smtClean="0"/>
              <a:t>Value Preposition</a:t>
            </a:r>
            <a:endParaRPr lang="en-IN" sz="1600" dirty="0"/>
          </a:p>
        </p:txBody>
      </p:sp>
      <p:sp>
        <p:nvSpPr>
          <p:cNvPr id="23" name="Rounded Rectangle 22"/>
          <p:cNvSpPr/>
          <p:nvPr/>
        </p:nvSpPr>
        <p:spPr>
          <a:xfrm>
            <a:off x="9264352" y="5301208"/>
            <a:ext cx="2592288" cy="1152128"/>
          </a:xfrm>
          <a:prstGeom prst="roundRect">
            <a:avLst/>
          </a:prstGeom>
          <a:noFill/>
          <a:ln>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TextBox 23"/>
          <p:cNvSpPr txBox="1"/>
          <p:nvPr/>
        </p:nvSpPr>
        <p:spPr>
          <a:xfrm>
            <a:off x="9408368" y="5445224"/>
            <a:ext cx="2304256" cy="830997"/>
          </a:xfrm>
          <a:prstGeom prst="rect">
            <a:avLst/>
          </a:prstGeom>
          <a:noFill/>
        </p:spPr>
        <p:txBody>
          <a:bodyPr wrap="square" rtlCol="0">
            <a:spAutoFit/>
          </a:bodyPr>
          <a:lstStyle/>
          <a:p>
            <a:pPr marL="342900" indent="-342900">
              <a:buAutoNum type="arabicPeriod"/>
            </a:pPr>
            <a:r>
              <a:rPr lang="en-US" sz="1600" dirty="0" smtClean="0"/>
              <a:t>Process Consistency</a:t>
            </a:r>
          </a:p>
          <a:p>
            <a:pPr marL="342900" indent="-342900">
              <a:buAutoNum type="arabicPeriod"/>
            </a:pPr>
            <a:r>
              <a:rPr lang="en-US" sz="1600" dirty="0" smtClean="0"/>
              <a:t>Quality Control</a:t>
            </a:r>
          </a:p>
          <a:p>
            <a:pPr marL="342900" indent="-342900">
              <a:buAutoNum type="arabicPeriod"/>
            </a:pPr>
            <a:r>
              <a:rPr lang="en-US" sz="1600" dirty="0" smtClean="0"/>
              <a:t>Compliance</a:t>
            </a:r>
            <a:endParaRPr lang="en-IN" sz="1600" dirty="0"/>
          </a:p>
        </p:txBody>
      </p:sp>
      <p:cxnSp>
        <p:nvCxnSpPr>
          <p:cNvPr id="28" name="Straight Arrow Connector 27"/>
          <p:cNvCxnSpPr/>
          <p:nvPr/>
        </p:nvCxnSpPr>
        <p:spPr>
          <a:xfrm>
            <a:off x="5879976" y="2483604"/>
            <a:ext cx="122413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flipH="1">
            <a:off x="4511824" y="2483604"/>
            <a:ext cx="1368152"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3" idx="0"/>
          </p:cNvCxnSpPr>
          <p:nvPr/>
        </p:nvCxnSpPr>
        <p:spPr>
          <a:xfrm flipV="1">
            <a:off x="5843972" y="2483604"/>
            <a:ext cx="9388" cy="94539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3" idx="6"/>
            <a:endCxn id="11" idx="1"/>
          </p:cNvCxnSpPr>
          <p:nvPr/>
        </p:nvCxnSpPr>
        <p:spPr>
          <a:xfrm>
            <a:off x="6600056" y="4185084"/>
            <a:ext cx="589372"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3" idx="2"/>
          </p:cNvCxnSpPr>
          <p:nvPr/>
        </p:nvCxnSpPr>
        <p:spPr>
          <a:xfrm flipH="1">
            <a:off x="4489128" y="4185084"/>
            <a:ext cx="59876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3" idx="4"/>
          </p:cNvCxnSpPr>
          <p:nvPr/>
        </p:nvCxnSpPr>
        <p:spPr>
          <a:xfrm>
            <a:off x="5843972" y="4941168"/>
            <a:ext cx="0" cy="108012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endCxn id="12" idx="1"/>
          </p:cNvCxnSpPr>
          <p:nvPr/>
        </p:nvCxnSpPr>
        <p:spPr>
          <a:xfrm>
            <a:off x="5843972" y="5985284"/>
            <a:ext cx="126014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endCxn id="8" idx="3"/>
          </p:cNvCxnSpPr>
          <p:nvPr/>
        </p:nvCxnSpPr>
        <p:spPr>
          <a:xfrm flipH="1">
            <a:off x="4511824" y="5985284"/>
            <a:ext cx="133214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9" idx="3"/>
            <a:endCxn id="19" idx="1"/>
          </p:cNvCxnSpPr>
          <p:nvPr/>
        </p:nvCxnSpPr>
        <p:spPr>
          <a:xfrm flipV="1">
            <a:off x="8714904" y="2276872"/>
            <a:ext cx="477440" cy="39604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a:stCxn id="11" idx="3"/>
            <a:endCxn id="21" idx="1"/>
          </p:cNvCxnSpPr>
          <p:nvPr/>
        </p:nvCxnSpPr>
        <p:spPr>
          <a:xfrm flipV="1">
            <a:off x="8714904" y="4149080"/>
            <a:ext cx="477440" cy="3600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a:endCxn id="23" idx="1"/>
          </p:cNvCxnSpPr>
          <p:nvPr/>
        </p:nvCxnSpPr>
        <p:spPr>
          <a:xfrm flipV="1">
            <a:off x="8688288" y="5877272"/>
            <a:ext cx="576064" cy="19061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70" name="Rounded Rectangle 69"/>
          <p:cNvSpPr/>
          <p:nvPr/>
        </p:nvSpPr>
        <p:spPr>
          <a:xfrm>
            <a:off x="191344" y="1700808"/>
            <a:ext cx="2402880" cy="1152128"/>
          </a:xfrm>
          <a:prstGeom prst="roundRect">
            <a:avLst/>
          </a:prstGeom>
          <a:noFill/>
          <a:ln>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1" name="TextBox 70"/>
          <p:cNvSpPr txBox="1"/>
          <p:nvPr/>
        </p:nvSpPr>
        <p:spPr>
          <a:xfrm>
            <a:off x="263352" y="1844824"/>
            <a:ext cx="2205632" cy="830997"/>
          </a:xfrm>
          <a:prstGeom prst="rect">
            <a:avLst/>
          </a:prstGeom>
          <a:noFill/>
        </p:spPr>
        <p:txBody>
          <a:bodyPr wrap="square" rtlCol="0">
            <a:spAutoFit/>
          </a:bodyPr>
          <a:lstStyle/>
          <a:p>
            <a:pPr marL="342900" indent="-342900">
              <a:buAutoNum type="arabicPeriod"/>
            </a:pPr>
            <a:r>
              <a:rPr lang="en-US" sz="1600" dirty="0" smtClean="0"/>
              <a:t>Scaling Operations</a:t>
            </a:r>
          </a:p>
          <a:p>
            <a:pPr marL="342900" indent="-342900">
              <a:buAutoNum type="arabicPeriod"/>
            </a:pPr>
            <a:r>
              <a:rPr lang="en-US" sz="1600" dirty="0" smtClean="0"/>
              <a:t>Talent Acquisition</a:t>
            </a:r>
          </a:p>
          <a:p>
            <a:pPr marL="342900" indent="-342900">
              <a:buAutoNum type="arabicPeriod"/>
            </a:pPr>
            <a:r>
              <a:rPr lang="en-US" sz="1600" dirty="0" smtClean="0"/>
              <a:t>Financial Resources</a:t>
            </a:r>
            <a:endParaRPr lang="en-IN" sz="1600" dirty="0"/>
          </a:p>
        </p:txBody>
      </p:sp>
      <p:sp>
        <p:nvSpPr>
          <p:cNvPr id="72" name="Rounded Rectangle 71"/>
          <p:cNvSpPr/>
          <p:nvPr/>
        </p:nvSpPr>
        <p:spPr>
          <a:xfrm>
            <a:off x="263352" y="3573016"/>
            <a:ext cx="2402880" cy="1152128"/>
          </a:xfrm>
          <a:prstGeom prst="roundRect">
            <a:avLst/>
          </a:prstGeom>
          <a:noFill/>
          <a:ln>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3" name="TextBox 72"/>
          <p:cNvSpPr txBox="1"/>
          <p:nvPr/>
        </p:nvSpPr>
        <p:spPr>
          <a:xfrm>
            <a:off x="407368" y="3573016"/>
            <a:ext cx="2088232" cy="1077218"/>
          </a:xfrm>
          <a:prstGeom prst="rect">
            <a:avLst/>
          </a:prstGeom>
          <a:noFill/>
        </p:spPr>
        <p:txBody>
          <a:bodyPr wrap="square" rtlCol="0">
            <a:spAutoFit/>
          </a:bodyPr>
          <a:lstStyle/>
          <a:p>
            <a:pPr marL="342900" indent="-342900">
              <a:buAutoNum type="arabicPeriod"/>
            </a:pPr>
            <a:r>
              <a:rPr lang="en-US" sz="1600" dirty="0" smtClean="0"/>
              <a:t>Adapting to Trends</a:t>
            </a:r>
          </a:p>
          <a:p>
            <a:pPr marL="342900" indent="-342900">
              <a:buAutoNum type="arabicPeriod"/>
            </a:pPr>
            <a:r>
              <a:rPr lang="en-US" sz="1600" dirty="0" smtClean="0"/>
              <a:t>Regulatory Shifts</a:t>
            </a:r>
          </a:p>
          <a:p>
            <a:pPr marL="342900" indent="-342900">
              <a:buAutoNum type="arabicPeriod"/>
            </a:pPr>
            <a:r>
              <a:rPr lang="en-US" sz="1600" dirty="0" smtClean="0"/>
              <a:t>Technological Advancements</a:t>
            </a:r>
            <a:endParaRPr lang="en-IN" sz="1600" dirty="0"/>
          </a:p>
        </p:txBody>
      </p:sp>
      <p:sp>
        <p:nvSpPr>
          <p:cNvPr id="74" name="Rounded Rectangle 73"/>
          <p:cNvSpPr/>
          <p:nvPr/>
        </p:nvSpPr>
        <p:spPr>
          <a:xfrm>
            <a:off x="263352" y="5301208"/>
            <a:ext cx="2402880" cy="1152128"/>
          </a:xfrm>
          <a:prstGeom prst="roundRect">
            <a:avLst/>
          </a:prstGeom>
          <a:noFill/>
          <a:ln>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5" name="TextBox 74"/>
          <p:cNvSpPr txBox="1"/>
          <p:nvPr/>
        </p:nvSpPr>
        <p:spPr>
          <a:xfrm>
            <a:off x="407368" y="5445224"/>
            <a:ext cx="2061616" cy="830997"/>
          </a:xfrm>
          <a:prstGeom prst="rect">
            <a:avLst/>
          </a:prstGeom>
          <a:noFill/>
        </p:spPr>
        <p:txBody>
          <a:bodyPr wrap="square" rtlCol="0">
            <a:spAutoFit/>
          </a:bodyPr>
          <a:lstStyle/>
          <a:p>
            <a:pPr marL="342900" indent="-342900">
              <a:buAutoNum type="arabicPeriod"/>
            </a:pPr>
            <a:r>
              <a:rPr lang="en-US" sz="1600" dirty="0" smtClean="0"/>
              <a:t>Price wars</a:t>
            </a:r>
          </a:p>
          <a:p>
            <a:pPr marL="342900" indent="-342900">
              <a:buAutoNum type="arabicPeriod"/>
            </a:pPr>
            <a:r>
              <a:rPr lang="en-US" sz="1600" dirty="0" smtClean="0"/>
              <a:t>Market Saturation</a:t>
            </a:r>
          </a:p>
          <a:p>
            <a:pPr marL="342900" indent="-342900">
              <a:buAutoNum type="arabicPeriod"/>
            </a:pPr>
            <a:r>
              <a:rPr lang="en-US" sz="1600" dirty="0" smtClean="0"/>
              <a:t>Differentiation</a:t>
            </a:r>
            <a:endParaRPr lang="en-IN" sz="1600" dirty="0"/>
          </a:p>
        </p:txBody>
      </p:sp>
      <p:cxnSp>
        <p:nvCxnSpPr>
          <p:cNvPr id="77" name="Straight Arrow Connector 76"/>
          <p:cNvCxnSpPr>
            <a:stCxn id="6" idx="1"/>
            <a:endCxn id="70" idx="3"/>
          </p:cNvCxnSpPr>
          <p:nvPr/>
        </p:nvCxnSpPr>
        <p:spPr>
          <a:xfrm flipH="1" flipV="1">
            <a:off x="2594224" y="2276872"/>
            <a:ext cx="477440" cy="364101"/>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a:stCxn id="15" idx="1"/>
          </p:cNvCxnSpPr>
          <p:nvPr/>
        </p:nvCxnSpPr>
        <p:spPr>
          <a:xfrm flipH="1" flipV="1">
            <a:off x="2666232" y="5795972"/>
            <a:ext cx="333424" cy="18844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p:cNvCxnSpPr>
            <a:stCxn id="7" idx="1"/>
            <a:endCxn id="72" idx="3"/>
          </p:cNvCxnSpPr>
          <p:nvPr/>
        </p:nvCxnSpPr>
        <p:spPr>
          <a:xfrm flipH="1" flipV="1">
            <a:off x="2666232" y="4149080"/>
            <a:ext cx="405432" cy="3600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183106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4"/>
            <a:ext cx="12192000" cy="620712"/>
          </a:xfrm>
          <a:solidFill>
            <a:srgbClr val="3333FF"/>
          </a:solidFill>
        </p:spPr>
        <p:txBody>
          <a:bodyPr>
            <a:normAutofit/>
          </a:bodyPr>
          <a:lstStyle/>
          <a:p>
            <a:r>
              <a:rPr lang="en-US" sz="3200" b="1" dirty="0" smtClean="0">
                <a:solidFill>
                  <a:schemeClr val="bg1"/>
                </a:solidFill>
              </a:rPr>
              <a:t>Design Thinking in Predicting Business Challenges</a:t>
            </a:r>
            <a:endParaRPr lang="en-IN" sz="3200" b="1" dirty="0">
              <a:solidFill>
                <a:schemeClr val="bg1"/>
              </a:solidFill>
            </a:endParaRPr>
          </a:p>
        </p:txBody>
      </p:sp>
      <p:sp>
        <p:nvSpPr>
          <p:cNvPr id="5" name="Slide Number Placeholder 4"/>
          <p:cNvSpPr>
            <a:spLocks noGrp="1"/>
          </p:cNvSpPr>
          <p:nvPr>
            <p:ph type="sldNum" sz="quarter" idx="12"/>
          </p:nvPr>
        </p:nvSpPr>
        <p:spPr/>
        <p:txBody>
          <a:bodyPr/>
          <a:lstStyle/>
          <a:p>
            <a:fld id="{F5C292C0-B0FF-4DAD-AFC8-67CB345CA3F6}" type="slidenum">
              <a:rPr lang="en-IN" smtClean="0"/>
              <a:pPr/>
              <a:t>9</a:t>
            </a:fld>
            <a:endParaRPr lang="en-IN"/>
          </a:p>
        </p:txBody>
      </p:sp>
      <p:graphicFrame>
        <p:nvGraphicFramePr>
          <p:cNvPr id="3" name="Table 2"/>
          <p:cNvGraphicFramePr>
            <a:graphicFrameLocks noGrp="1"/>
          </p:cNvGraphicFramePr>
          <p:nvPr>
            <p:extLst>
              <p:ext uri="{D42A27DB-BD31-4B8C-83A1-F6EECF244321}">
                <p14:modId xmlns:p14="http://schemas.microsoft.com/office/powerpoint/2010/main" val="3604526687"/>
              </p:ext>
            </p:extLst>
          </p:nvPr>
        </p:nvGraphicFramePr>
        <p:xfrm>
          <a:off x="263352" y="719666"/>
          <a:ext cx="11665295" cy="5516880"/>
        </p:xfrm>
        <a:graphic>
          <a:graphicData uri="http://schemas.openxmlformats.org/drawingml/2006/table">
            <a:tbl>
              <a:tblPr firstRow="1" bandRow="1">
                <a:tableStyleId>{21E4AEA4-8DFA-4A89-87EB-49C32662AFE0}</a:tableStyleId>
              </a:tblPr>
              <a:tblGrid>
                <a:gridCol w="792088"/>
                <a:gridCol w="2448272"/>
                <a:gridCol w="8424935"/>
              </a:tblGrid>
              <a:tr h="370840">
                <a:tc>
                  <a:txBody>
                    <a:bodyPr/>
                    <a:lstStyle/>
                    <a:p>
                      <a:r>
                        <a:rPr lang="en-US" sz="2000" dirty="0" smtClean="0"/>
                        <a:t>S No</a:t>
                      </a:r>
                      <a:endParaRPr lang="en-IN" sz="2000" dirty="0"/>
                    </a:p>
                  </a:txBody>
                  <a:tcPr/>
                </a:tc>
                <a:tc>
                  <a:txBody>
                    <a:bodyPr/>
                    <a:lstStyle/>
                    <a:p>
                      <a:pPr algn="ctr"/>
                      <a:r>
                        <a:rPr lang="en-US" sz="2000" dirty="0" smtClean="0"/>
                        <a:t>Approach</a:t>
                      </a:r>
                      <a:endParaRPr lang="en-IN" sz="2000" dirty="0"/>
                    </a:p>
                  </a:txBody>
                  <a:tcPr/>
                </a:tc>
                <a:tc>
                  <a:txBody>
                    <a:bodyPr/>
                    <a:lstStyle/>
                    <a:p>
                      <a:pPr algn="ctr"/>
                      <a:r>
                        <a:rPr lang="en-US" sz="2000" dirty="0" smtClean="0"/>
                        <a:t>Description</a:t>
                      </a:r>
                      <a:endParaRPr lang="en-IN" sz="2000" dirty="0"/>
                    </a:p>
                  </a:txBody>
                  <a:tcPr/>
                </a:tc>
              </a:tr>
              <a:tr h="370840">
                <a:tc>
                  <a:txBody>
                    <a:bodyPr/>
                    <a:lstStyle/>
                    <a:p>
                      <a:pPr algn="ctr"/>
                      <a:r>
                        <a:rPr lang="en-US" sz="2000" dirty="0" smtClean="0"/>
                        <a:t>1</a:t>
                      </a:r>
                      <a:endParaRPr lang="en-IN" sz="2000" dirty="0"/>
                    </a:p>
                  </a:txBody>
                  <a:tcPr/>
                </a:tc>
                <a:tc>
                  <a:txBody>
                    <a:bodyPr/>
                    <a:lstStyle/>
                    <a:p>
                      <a:r>
                        <a:rPr lang="en-US" sz="2000" dirty="0" smtClean="0"/>
                        <a:t>Empathy</a:t>
                      </a:r>
                      <a:endParaRPr lang="en-IN" sz="2000" dirty="0"/>
                    </a:p>
                  </a:txBody>
                  <a:tcPr/>
                </a:tc>
                <a:tc>
                  <a:txBody>
                    <a:bodyPr/>
                    <a:lstStyle/>
                    <a:p>
                      <a:r>
                        <a:rPr lang="en-US" sz="2000" dirty="0" smtClean="0"/>
                        <a:t>Empathy with users and stakeholders allows businesses anticipate challenges before they emerge by identifying unmet needs</a:t>
                      </a:r>
                      <a:endParaRPr lang="en-IN" sz="2000" dirty="0"/>
                    </a:p>
                  </a:txBody>
                  <a:tcPr/>
                </a:tc>
              </a:tr>
              <a:tr h="370840">
                <a:tc>
                  <a:txBody>
                    <a:bodyPr/>
                    <a:lstStyle/>
                    <a:p>
                      <a:pPr algn="ctr"/>
                      <a:r>
                        <a:rPr lang="en-US" sz="2000" dirty="0" smtClean="0"/>
                        <a:t>2</a:t>
                      </a:r>
                      <a:endParaRPr lang="en-IN" sz="2000" dirty="0"/>
                    </a:p>
                  </a:txBody>
                  <a:tcPr/>
                </a:tc>
                <a:tc>
                  <a:txBody>
                    <a:bodyPr/>
                    <a:lstStyle/>
                    <a:p>
                      <a:r>
                        <a:rPr lang="en-US" sz="2000" dirty="0" smtClean="0"/>
                        <a:t>Proactive Problem identification</a:t>
                      </a:r>
                      <a:endParaRPr lang="en-IN" sz="2000" dirty="0"/>
                    </a:p>
                  </a:txBody>
                  <a:tcPr/>
                </a:tc>
                <a:tc>
                  <a:txBody>
                    <a:bodyPr/>
                    <a:lstStyle/>
                    <a:p>
                      <a:r>
                        <a:rPr lang="en-US" sz="2000" dirty="0" smtClean="0"/>
                        <a:t>Thorough examination through Customer Journey maps</a:t>
                      </a:r>
                      <a:r>
                        <a:rPr lang="en-US" sz="2000" baseline="0" dirty="0" smtClean="0"/>
                        <a:t> uncover important and sensitive problems. This insight can help to take proactive steps and reduce gaps, predicting customer behavior changes etc.</a:t>
                      </a:r>
                      <a:endParaRPr lang="en-IN" sz="2000" dirty="0"/>
                    </a:p>
                  </a:txBody>
                  <a:tcPr/>
                </a:tc>
              </a:tr>
              <a:tr h="370840">
                <a:tc>
                  <a:txBody>
                    <a:bodyPr/>
                    <a:lstStyle/>
                    <a:p>
                      <a:pPr algn="ctr"/>
                      <a:r>
                        <a:rPr lang="en-US" sz="2000" dirty="0" smtClean="0"/>
                        <a:t>3</a:t>
                      </a:r>
                      <a:endParaRPr lang="en-IN" sz="2000" dirty="0"/>
                    </a:p>
                  </a:txBody>
                  <a:tcPr/>
                </a:tc>
                <a:tc>
                  <a:txBody>
                    <a:bodyPr/>
                    <a:lstStyle/>
                    <a:p>
                      <a:r>
                        <a:rPr lang="en-US" sz="2000" dirty="0" smtClean="0"/>
                        <a:t>Flexibility</a:t>
                      </a:r>
                      <a:r>
                        <a:rPr lang="en-US" sz="2000" baseline="0" dirty="0" smtClean="0"/>
                        <a:t> and adaptability</a:t>
                      </a:r>
                      <a:endParaRPr lang="en-IN" sz="2000" dirty="0"/>
                    </a:p>
                  </a:txBody>
                  <a:tcPr/>
                </a:tc>
                <a:tc>
                  <a:txBody>
                    <a:bodyPr/>
                    <a:lstStyle/>
                    <a:p>
                      <a:r>
                        <a:rPr lang="en-US" sz="2000" dirty="0" smtClean="0"/>
                        <a:t>Design thinking approach helps in encouraging adaptability and make continuous improvements. This is essential to responding and</a:t>
                      </a:r>
                      <a:r>
                        <a:rPr lang="en-US" sz="2000" baseline="0" dirty="0" smtClean="0"/>
                        <a:t> predicting challenges and make improvements</a:t>
                      </a:r>
                      <a:endParaRPr lang="en-IN" sz="2000" dirty="0"/>
                    </a:p>
                  </a:txBody>
                  <a:tcPr/>
                </a:tc>
              </a:tr>
              <a:tr h="370840">
                <a:tc>
                  <a:txBody>
                    <a:bodyPr/>
                    <a:lstStyle/>
                    <a:p>
                      <a:pPr algn="ctr"/>
                      <a:r>
                        <a:rPr lang="en-US" sz="2000" dirty="0" smtClean="0"/>
                        <a:t>4</a:t>
                      </a:r>
                      <a:endParaRPr lang="en-IN" sz="2000" dirty="0"/>
                    </a:p>
                  </a:txBody>
                  <a:tcPr/>
                </a:tc>
                <a:tc>
                  <a:txBody>
                    <a:bodyPr/>
                    <a:lstStyle/>
                    <a:p>
                      <a:r>
                        <a:rPr lang="en-US" sz="2000" dirty="0" smtClean="0"/>
                        <a:t>Culture of Experimentation</a:t>
                      </a:r>
                      <a:endParaRPr lang="en-IN" sz="2000" dirty="0"/>
                    </a:p>
                  </a:txBody>
                  <a:tcPr/>
                </a:tc>
                <a:tc>
                  <a:txBody>
                    <a:bodyPr/>
                    <a:lstStyle/>
                    <a:p>
                      <a:r>
                        <a:rPr lang="en-US" sz="2000" dirty="0" smtClean="0"/>
                        <a:t>By testing ideas and solutions at an early stage, businesses can identify the potential roadblocks and adapt their strategies</a:t>
                      </a:r>
                      <a:r>
                        <a:rPr lang="en-US" sz="2000" baseline="0" dirty="0" smtClean="0"/>
                        <a:t> accordingly</a:t>
                      </a:r>
                      <a:endParaRPr lang="en-IN" sz="2000" dirty="0"/>
                    </a:p>
                  </a:txBody>
                  <a:tcPr/>
                </a:tc>
              </a:tr>
              <a:tr h="370840">
                <a:tc>
                  <a:txBody>
                    <a:bodyPr/>
                    <a:lstStyle/>
                    <a:p>
                      <a:pPr algn="ctr"/>
                      <a:r>
                        <a:rPr lang="en-US" sz="2000" dirty="0" smtClean="0"/>
                        <a:t>5</a:t>
                      </a:r>
                      <a:endParaRPr lang="en-IN" sz="2000" dirty="0"/>
                    </a:p>
                  </a:txBody>
                  <a:tcPr/>
                </a:tc>
                <a:tc>
                  <a:txBody>
                    <a:bodyPr/>
                    <a:lstStyle/>
                    <a:p>
                      <a:r>
                        <a:rPr lang="en-US" sz="2000" dirty="0" smtClean="0"/>
                        <a:t>Better Decision making</a:t>
                      </a:r>
                      <a:endParaRPr lang="en-IN" sz="2000" dirty="0"/>
                    </a:p>
                  </a:txBody>
                  <a:tcPr/>
                </a:tc>
                <a:tc>
                  <a:txBody>
                    <a:bodyPr/>
                    <a:lstStyle/>
                    <a:p>
                      <a:r>
                        <a:rPr lang="en-US" sz="2000" dirty="0" smtClean="0"/>
                        <a:t>The into problem-solving process cross-functional collaboration adopted helps in bringing diverse perspectives which leads to improved decision making</a:t>
                      </a:r>
                      <a:endParaRPr lang="en-IN" sz="2000" dirty="0"/>
                    </a:p>
                  </a:txBody>
                  <a:tcPr/>
                </a:tc>
              </a:tr>
              <a:tr h="370840">
                <a:tc>
                  <a:txBody>
                    <a:bodyPr/>
                    <a:lstStyle/>
                    <a:p>
                      <a:pPr algn="ctr"/>
                      <a:r>
                        <a:rPr lang="en-US" sz="2000" dirty="0" smtClean="0"/>
                        <a:t>6</a:t>
                      </a:r>
                      <a:endParaRPr lang="en-IN" sz="2000" dirty="0"/>
                    </a:p>
                  </a:txBody>
                  <a:tcPr/>
                </a:tc>
                <a:tc>
                  <a:txBody>
                    <a:bodyPr/>
                    <a:lstStyle/>
                    <a:p>
                      <a:r>
                        <a:rPr lang="en-US" sz="2000" dirty="0" smtClean="0"/>
                        <a:t>Alignment with Customer Trends</a:t>
                      </a:r>
                      <a:r>
                        <a:rPr lang="en-US" sz="2000" baseline="0" dirty="0" smtClean="0"/>
                        <a:t> and Market needs</a:t>
                      </a:r>
                      <a:endParaRPr lang="en-IN" sz="2000" dirty="0"/>
                    </a:p>
                  </a:txBody>
                  <a:tcPr/>
                </a:tc>
                <a:tc>
                  <a:txBody>
                    <a:bodyPr/>
                    <a:lstStyle/>
                    <a:p>
                      <a:r>
                        <a:rPr lang="en-US" sz="2000" dirty="0" smtClean="0"/>
                        <a:t>Through regular customer feedback and research, the real time insights obtained are aligned with the changing trends and market shifts for better reach of customers</a:t>
                      </a:r>
                      <a:endParaRPr lang="en-IN" sz="2000" dirty="0"/>
                    </a:p>
                  </a:txBody>
                  <a:tcPr/>
                </a:tc>
              </a:tr>
            </a:tbl>
          </a:graphicData>
        </a:graphic>
      </p:graphicFrame>
    </p:spTree>
    <p:extLst>
      <p:ext uri="{BB962C8B-B14F-4D97-AF65-F5344CB8AC3E}">
        <p14:creationId xmlns:p14="http://schemas.microsoft.com/office/powerpoint/2010/main" val="410038558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4"/>
            <a:ext cx="12192000" cy="620712"/>
          </a:xfrm>
          <a:solidFill>
            <a:srgbClr val="3333FF"/>
          </a:solidFill>
        </p:spPr>
        <p:txBody>
          <a:bodyPr>
            <a:normAutofit/>
          </a:bodyPr>
          <a:lstStyle/>
          <a:p>
            <a:r>
              <a:rPr lang="en-US" sz="3200" b="1" dirty="0" smtClean="0">
                <a:solidFill>
                  <a:schemeClr val="bg1"/>
                </a:solidFill>
              </a:rPr>
              <a:t>Business Models</a:t>
            </a:r>
            <a:endParaRPr lang="en-IN" sz="3200" b="1" dirty="0">
              <a:solidFill>
                <a:schemeClr val="bg1"/>
              </a:solidFill>
            </a:endParaRPr>
          </a:p>
        </p:txBody>
      </p:sp>
      <p:sp>
        <p:nvSpPr>
          <p:cNvPr id="5" name="Slide Number Placeholder 4"/>
          <p:cNvSpPr>
            <a:spLocks noGrp="1"/>
          </p:cNvSpPr>
          <p:nvPr>
            <p:ph type="sldNum" sz="quarter" idx="12"/>
          </p:nvPr>
        </p:nvSpPr>
        <p:spPr/>
        <p:txBody>
          <a:bodyPr/>
          <a:lstStyle/>
          <a:p>
            <a:fld id="{F5C292C0-B0FF-4DAD-AFC8-67CB345CA3F6}" type="slidenum">
              <a:rPr lang="en-IN" smtClean="0"/>
              <a:pPr/>
              <a:t>10</a:t>
            </a:fld>
            <a:endParaRPr lang="en-IN"/>
          </a:p>
        </p:txBody>
      </p:sp>
      <p:sp>
        <p:nvSpPr>
          <p:cNvPr id="3" name="Rectangle 2"/>
          <p:cNvSpPr/>
          <p:nvPr/>
        </p:nvSpPr>
        <p:spPr>
          <a:xfrm>
            <a:off x="119336" y="875710"/>
            <a:ext cx="11737304" cy="1200329"/>
          </a:xfrm>
          <a:prstGeom prst="rect">
            <a:avLst/>
          </a:prstGeom>
          <a:ln>
            <a:solidFill>
              <a:srgbClr val="FF5050"/>
            </a:solidFill>
          </a:ln>
        </p:spPr>
        <p:txBody>
          <a:bodyPr wrap="square">
            <a:spAutoFit/>
          </a:bodyPr>
          <a:lstStyle/>
          <a:p>
            <a:pPr algn="ctr" fontAlgn="base"/>
            <a:r>
              <a:rPr lang="en-US" sz="2400" b="1" dirty="0">
                <a:solidFill>
                  <a:srgbClr val="FF3300"/>
                </a:solidFill>
                <a:latin typeface="Bookman Old Style" panose="02050604050505020204" pitchFamily="18" charset="0"/>
              </a:rPr>
              <a:t>A business model is a strategic plan of how a company will make money. </a:t>
            </a:r>
            <a:endParaRPr lang="en-US" sz="2400" b="1" dirty="0" smtClean="0">
              <a:solidFill>
                <a:srgbClr val="FF3300"/>
              </a:solidFill>
              <a:latin typeface="Bookman Old Style" panose="02050604050505020204" pitchFamily="18" charset="0"/>
            </a:endParaRPr>
          </a:p>
          <a:p>
            <a:pPr algn="ctr" fontAlgn="base"/>
            <a:r>
              <a:rPr lang="en-US" sz="2400" b="1" dirty="0" smtClean="0">
                <a:solidFill>
                  <a:srgbClr val="FF3300"/>
                </a:solidFill>
                <a:latin typeface="Bookman Old Style" panose="02050604050505020204" pitchFamily="18" charset="0"/>
              </a:rPr>
              <a:t>The </a:t>
            </a:r>
            <a:r>
              <a:rPr lang="en-US" sz="2400" b="1" dirty="0">
                <a:solidFill>
                  <a:srgbClr val="FF3300"/>
                </a:solidFill>
                <a:latin typeface="Bookman Old Style" panose="02050604050505020204" pitchFamily="18" charset="0"/>
              </a:rPr>
              <a:t>model describes the way a business will take its product, offer it to the market, and drive sales</a:t>
            </a:r>
            <a:endParaRPr lang="en-US" sz="2400" b="1" i="0" dirty="0">
              <a:solidFill>
                <a:srgbClr val="FF3300"/>
              </a:solidFill>
              <a:effectLst/>
              <a:latin typeface="Bookman Old Style" panose="02050604050505020204" pitchFamily="18" charset="0"/>
            </a:endParaRPr>
          </a:p>
        </p:txBody>
      </p:sp>
      <p:sp>
        <p:nvSpPr>
          <p:cNvPr id="8" name="TextBox 7"/>
          <p:cNvSpPr txBox="1"/>
          <p:nvPr/>
        </p:nvSpPr>
        <p:spPr>
          <a:xfrm>
            <a:off x="191344" y="2348880"/>
            <a:ext cx="11665296" cy="4154984"/>
          </a:xfrm>
          <a:prstGeom prst="rect">
            <a:avLst/>
          </a:prstGeom>
          <a:noFill/>
          <a:ln>
            <a:solidFill>
              <a:srgbClr val="00B050"/>
            </a:solidFill>
          </a:ln>
        </p:spPr>
        <p:txBody>
          <a:bodyPr wrap="square" rtlCol="0">
            <a:spAutoFit/>
          </a:bodyPr>
          <a:lstStyle/>
          <a:p>
            <a:r>
              <a:rPr lang="en-US" sz="2400" b="1" dirty="0"/>
              <a:t>Example of Business Models</a:t>
            </a:r>
          </a:p>
          <a:p>
            <a:r>
              <a:rPr lang="en-US" sz="2400" dirty="0"/>
              <a:t>Consider the vast portfolio of Microsoft. Over the past several decades, the company has expanded its product line across digital services, software, gaming, and more. Various business models, all within Microsoft, include but are not limited to:</a:t>
            </a:r>
          </a:p>
          <a:p>
            <a:pPr marL="342900" indent="-342900">
              <a:buFont typeface="Arial" panose="020B0604020202020204" pitchFamily="34" charset="0"/>
              <a:buChar char="•"/>
            </a:pPr>
            <a:r>
              <a:rPr lang="en-US" sz="2400" b="1" dirty="0"/>
              <a:t>Productivity and business processes</a:t>
            </a:r>
            <a:r>
              <a:rPr lang="en-US" sz="2400" dirty="0"/>
              <a:t>:</a:t>
            </a:r>
            <a:r>
              <a:rPr lang="en-US" sz="2400" b="1" dirty="0"/>
              <a:t> </a:t>
            </a:r>
            <a:r>
              <a:rPr lang="en-US" sz="2400" dirty="0"/>
              <a:t>Microsoft offers subscriptions to Office products and LinkedIn. These subscriptions may be based on product usage (i.e. the amount of data being uploaded to SharePoint).</a:t>
            </a:r>
          </a:p>
          <a:p>
            <a:pPr marL="342900" indent="-342900">
              <a:buFont typeface="Arial" panose="020B0604020202020204" pitchFamily="34" charset="0"/>
              <a:buChar char="•"/>
            </a:pPr>
            <a:r>
              <a:rPr lang="en-US" sz="2400" b="1" dirty="0"/>
              <a:t>Intelligent cloud</a:t>
            </a:r>
            <a:r>
              <a:rPr lang="en-US" sz="2400" dirty="0"/>
              <a:t>: Microsoft offers server products and cloud services for a subscription.</a:t>
            </a:r>
          </a:p>
          <a:p>
            <a:pPr marL="342900" indent="-342900">
              <a:buFont typeface="Arial" panose="020B0604020202020204" pitchFamily="34" charset="0"/>
              <a:buChar char="•"/>
            </a:pPr>
            <a:r>
              <a:rPr lang="en-US" sz="2400" b="1" dirty="0"/>
              <a:t>Personal computing</a:t>
            </a:r>
            <a:r>
              <a:rPr lang="en-US" sz="2400" dirty="0"/>
              <a:t>:</a:t>
            </a:r>
            <a:r>
              <a:rPr lang="en-US" sz="2400" b="1" dirty="0"/>
              <a:t> </a:t>
            </a:r>
            <a:r>
              <a:rPr lang="en-US" sz="2400" dirty="0"/>
              <a:t>Microsoft sells the Windows operating system as well as physically manufactured products such as Surface, PC components, and Xbox hardware. Residual Xbox sales include content, services, subscriptions, royalties, and advertising revenue</a:t>
            </a:r>
          </a:p>
        </p:txBody>
      </p:sp>
    </p:spTree>
    <p:extLst>
      <p:ext uri="{BB962C8B-B14F-4D97-AF65-F5344CB8AC3E}">
        <p14:creationId xmlns:p14="http://schemas.microsoft.com/office/powerpoint/2010/main" val="170664259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4"/>
            <a:ext cx="12192000" cy="620712"/>
          </a:xfrm>
          <a:solidFill>
            <a:srgbClr val="3333FF"/>
          </a:solidFill>
        </p:spPr>
        <p:txBody>
          <a:bodyPr>
            <a:normAutofit/>
          </a:bodyPr>
          <a:lstStyle/>
          <a:p>
            <a:r>
              <a:rPr lang="en-US" sz="3200" b="1" dirty="0" smtClean="0">
                <a:solidFill>
                  <a:schemeClr val="bg1"/>
                </a:solidFill>
              </a:rPr>
              <a:t>Components of Business Models</a:t>
            </a:r>
            <a:endParaRPr lang="en-IN" sz="3200" b="1" dirty="0">
              <a:solidFill>
                <a:schemeClr val="bg1"/>
              </a:solidFill>
            </a:endParaRPr>
          </a:p>
        </p:txBody>
      </p:sp>
      <p:sp>
        <p:nvSpPr>
          <p:cNvPr id="5" name="Slide Number Placeholder 4"/>
          <p:cNvSpPr>
            <a:spLocks noGrp="1"/>
          </p:cNvSpPr>
          <p:nvPr>
            <p:ph type="sldNum" sz="quarter" idx="12"/>
          </p:nvPr>
        </p:nvSpPr>
        <p:spPr/>
        <p:txBody>
          <a:bodyPr/>
          <a:lstStyle/>
          <a:p>
            <a:fld id="{F5C292C0-B0FF-4DAD-AFC8-67CB345CA3F6}" type="slidenum">
              <a:rPr lang="en-IN" smtClean="0"/>
              <a:pPr/>
              <a:t>11</a:t>
            </a:fld>
            <a:endParaRPr lang="en-IN"/>
          </a:p>
        </p:txBody>
      </p:sp>
      <p:sp>
        <p:nvSpPr>
          <p:cNvPr id="3" name="Rectangle 2"/>
          <p:cNvSpPr/>
          <p:nvPr/>
        </p:nvSpPr>
        <p:spPr>
          <a:xfrm>
            <a:off x="119336" y="692696"/>
            <a:ext cx="11737304" cy="615553"/>
          </a:xfrm>
          <a:prstGeom prst="rect">
            <a:avLst/>
          </a:prstGeom>
          <a:ln>
            <a:solidFill>
              <a:srgbClr val="FF5050"/>
            </a:solidFill>
          </a:ln>
        </p:spPr>
        <p:txBody>
          <a:bodyPr wrap="square">
            <a:spAutoFit/>
          </a:bodyPr>
          <a:lstStyle/>
          <a:p>
            <a:pPr algn="ctr" fontAlgn="base"/>
            <a:r>
              <a:rPr lang="en-US" sz="1700" b="1" dirty="0">
                <a:solidFill>
                  <a:srgbClr val="FF3300"/>
                </a:solidFill>
                <a:latin typeface="Bookman Old Style" panose="02050604050505020204" pitchFamily="18" charset="0"/>
              </a:rPr>
              <a:t>A business model is a strategic plan of how a company will make money. </a:t>
            </a:r>
            <a:endParaRPr lang="en-US" sz="1700" b="1" dirty="0" smtClean="0">
              <a:solidFill>
                <a:srgbClr val="FF3300"/>
              </a:solidFill>
              <a:latin typeface="Bookman Old Style" panose="02050604050505020204" pitchFamily="18" charset="0"/>
            </a:endParaRPr>
          </a:p>
          <a:p>
            <a:pPr algn="ctr" fontAlgn="base"/>
            <a:r>
              <a:rPr lang="en-US" sz="1700" b="1" dirty="0" smtClean="0">
                <a:solidFill>
                  <a:srgbClr val="FF3300"/>
                </a:solidFill>
                <a:latin typeface="Bookman Old Style" panose="02050604050505020204" pitchFamily="18" charset="0"/>
              </a:rPr>
              <a:t>The </a:t>
            </a:r>
            <a:r>
              <a:rPr lang="en-US" sz="1700" b="1" dirty="0">
                <a:solidFill>
                  <a:srgbClr val="FF3300"/>
                </a:solidFill>
                <a:latin typeface="Bookman Old Style" panose="02050604050505020204" pitchFamily="18" charset="0"/>
              </a:rPr>
              <a:t>model describes the way a business will take its product, offer it to the market, and drive sales</a:t>
            </a:r>
            <a:endParaRPr lang="en-US" sz="1700" b="1" i="0" dirty="0">
              <a:solidFill>
                <a:srgbClr val="FF3300"/>
              </a:solidFill>
              <a:effectLst/>
              <a:latin typeface="Bookman Old Style" panose="02050604050505020204"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3748171575"/>
              </p:ext>
            </p:extLst>
          </p:nvPr>
        </p:nvGraphicFramePr>
        <p:xfrm>
          <a:off x="335358" y="1522472"/>
          <a:ext cx="11521281" cy="4815840"/>
        </p:xfrm>
        <a:graphic>
          <a:graphicData uri="http://schemas.openxmlformats.org/drawingml/2006/table">
            <a:tbl>
              <a:tblPr firstRow="1" bandRow="1">
                <a:tableStyleId>{F5AB1C69-6EDB-4FF4-983F-18BD219EF322}</a:tableStyleId>
              </a:tblPr>
              <a:tblGrid>
                <a:gridCol w="936106"/>
                <a:gridCol w="2088232"/>
                <a:gridCol w="8496943"/>
              </a:tblGrid>
              <a:tr h="363473">
                <a:tc>
                  <a:txBody>
                    <a:bodyPr/>
                    <a:lstStyle/>
                    <a:p>
                      <a:pPr algn="ctr"/>
                      <a:r>
                        <a:rPr lang="en-US" sz="2000" dirty="0" smtClean="0"/>
                        <a:t>S No</a:t>
                      </a:r>
                      <a:endParaRPr lang="en-IN" sz="2000" dirty="0"/>
                    </a:p>
                  </a:txBody>
                  <a:tcPr/>
                </a:tc>
                <a:tc>
                  <a:txBody>
                    <a:bodyPr/>
                    <a:lstStyle/>
                    <a:p>
                      <a:pPr algn="ctr"/>
                      <a:r>
                        <a:rPr lang="en-US" sz="2000" dirty="0" smtClean="0"/>
                        <a:t>Component</a:t>
                      </a:r>
                      <a:endParaRPr lang="en-IN" sz="2000" dirty="0"/>
                    </a:p>
                  </a:txBody>
                  <a:tcPr/>
                </a:tc>
                <a:tc>
                  <a:txBody>
                    <a:bodyPr/>
                    <a:lstStyle/>
                    <a:p>
                      <a:pPr algn="ctr"/>
                      <a:r>
                        <a:rPr lang="en-US" sz="2000" dirty="0" smtClean="0"/>
                        <a:t>Description</a:t>
                      </a:r>
                      <a:endParaRPr lang="en-IN" sz="2000" dirty="0"/>
                    </a:p>
                  </a:txBody>
                  <a:tcPr/>
                </a:tc>
              </a:tr>
              <a:tr h="363473">
                <a:tc>
                  <a:txBody>
                    <a:bodyPr/>
                    <a:lstStyle/>
                    <a:p>
                      <a:pPr algn="ctr"/>
                      <a:r>
                        <a:rPr lang="en-US" sz="2000" dirty="0" smtClean="0"/>
                        <a:t>1</a:t>
                      </a:r>
                      <a:endParaRPr lang="en-IN" sz="2000" dirty="0"/>
                    </a:p>
                  </a:txBody>
                  <a:tcPr/>
                </a:tc>
                <a:tc>
                  <a:txBody>
                    <a:bodyPr/>
                    <a:lstStyle/>
                    <a:p>
                      <a:r>
                        <a:rPr lang="en-US" sz="2000" dirty="0" smtClean="0"/>
                        <a:t>Value Proposition</a:t>
                      </a:r>
                      <a:endParaRPr lang="en-IN" sz="2000" dirty="0"/>
                    </a:p>
                  </a:txBody>
                  <a:tcPr/>
                </a:tc>
                <a:tc>
                  <a:txBody>
                    <a:bodyPr/>
                    <a:lstStyle/>
                    <a:p>
                      <a:r>
                        <a:rPr lang="en-US" sz="2000" dirty="0" smtClean="0"/>
                        <a:t>It defines why a customer should choose one product or service or others. A compelling value proposition clearly articulates benefits, unique features and differentiators</a:t>
                      </a:r>
                      <a:endParaRPr lang="en-IN" sz="2000" dirty="0"/>
                    </a:p>
                  </a:txBody>
                  <a:tcPr/>
                </a:tc>
              </a:tr>
              <a:tr h="363473">
                <a:tc>
                  <a:txBody>
                    <a:bodyPr/>
                    <a:lstStyle/>
                    <a:p>
                      <a:pPr algn="ctr"/>
                      <a:r>
                        <a:rPr lang="en-US" sz="2000" dirty="0" smtClean="0"/>
                        <a:t>2</a:t>
                      </a:r>
                      <a:endParaRPr lang="en-IN" sz="2000" dirty="0"/>
                    </a:p>
                  </a:txBody>
                  <a:tcPr/>
                </a:tc>
                <a:tc>
                  <a:txBody>
                    <a:bodyPr/>
                    <a:lstStyle/>
                    <a:p>
                      <a:r>
                        <a:rPr lang="en-US" sz="2000" dirty="0" smtClean="0"/>
                        <a:t>Customer Segments</a:t>
                      </a:r>
                      <a:endParaRPr lang="en-IN" sz="2000" dirty="0"/>
                    </a:p>
                  </a:txBody>
                  <a:tcPr/>
                </a:tc>
                <a:tc>
                  <a:txBody>
                    <a:bodyPr/>
                    <a:lstStyle/>
                    <a:p>
                      <a:r>
                        <a:rPr lang="en-US" sz="2000" dirty="0" smtClean="0"/>
                        <a:t>Identifying specific groups of customers who will benefit from the product or service is critical. Understanding the demographics, preferences, and behaviors</a:t>
                      </a:r>
                      <a:r>
                        <a:rPr lang="en-US" sz="2000" baseline="0" dirty="0" smtClean="0"/>
                        <a:t> of these segments allows for targeted marketing and tailored offerings</a:t>
                      </a:r>
                      <a:endParaRPr lang="en-IN" sz="2000" dirty="0"/>
                    </a:p>
                  </a:txBody>
                  <a:tcPr/>
                </a:tc>
              </a:tr>
              <a:tr h="363473">
                <a:tc>
                  <a:txBody>
                    <a:bodyPr/>
                    <a:lstStyle/>
                    <a:p>
                      <a:pPr algn="ctr"/>
                      <a:r>
                        <a:rPr lang="en-US" sz="2000" dirty="0" smtClean="0"/>
                        <a:t>3</a:t>
                      </a:r>
                      <a:endParaRPr lang="en-IN" sz="2000" dirty="0"/>
                    </a:p>
                  </a:txBody>
                  <a:tcPr/>
                </a:tc>
                <a:tc>
                  <a:txBody>
                    <a:bodyPr/>
                    <a:lstStyle/>
                    <a:p>
                      <a:r>
                        <a:rPr lang="en-US" sz="2000" dirty="0" smtClean="0"/>
                        <a:t>Revenue streams</a:t>
                      </a:r>
                      <a:endParaRPr lang="en-IN" sz="2000" dirty="0"/>
                    </a:p>
                  </a:txBody>
                  <a:tcPr/>
                </a:tc>
                <a:tc>
                  <a:txBody>
                    <a:bodyPr/>
                    <a:lstStyle/>
                    <a:p>
                      <a:r>
                        <a:rPr lang="en-US" sz="2000" dirty="0" smtClean="0"/>
                        <a:t>It outlines how the business generates income</a:t>
                      </a:r>
                      <a:r>
                        <a:rPr lang="en-US" sz="2000" baseline="0" dirty="0" smtClean="0"/>
                        <a:t> such as direct sales, subscriptions, licensing, advertising etc. </a:t>
                      </a:r>
                      <a:endParaRPr lang="en-IN" sz="2000" dirty="0"/>
                    </a:p>
                  </a:txBody>
                  <a:tcPr/>
                </a:tc>
              </a:tr>
              <a:tr h="363473">
                <a:tc>
                  <a:txBody>
                    <a:bodyPr/>
                    <a:lstStyle/>
                    <a:p>
                      <a:pPr algn="ctr"/>
                      <a:r>
                        <a:rPr lang="en-US" sz="2000" dirty="0" smtClean="0"/>
                        <a:t>4</a:t>
                      </a:r>
                      <a:endParaRPr lang="en-IN" sz="2000" dirty="0"/>
                    </a:p>
                  </a:txBody>
                  <a:tcPr/>
                </a:tc>
                <a:tc>
                  <a:txBody>
                    <a:bodyPr/>
                    <a:lstStyle/>
                    <a:p>
                      <a:r>
                        <a:rPr lang="en-US" sz="2000" dirty="0" smtClean="0"/>
                        <a:t>Cost structure</a:t>
                      </a:r>
                      <a:endParaRPr lang="en-IN" sz="2000" dirty="0"/>
                    </a:p>
                  </a:txBody>
                  <a:tcPr/>
                </a:tc>
                <a:tc>
                  <a:txBody>
                    <a:bodyPr/>
                    <a:lstStyle/>
                    <a:p>
                      <a:r>
                        <a:rPr lang="en-US" sz="2000" dirty="0" smtClean="0"/>
                        <a:t>Understanding the costs</a:t>
                      </a:r>
                      <a:r>
                        <a:rPr lang="en-US" sz="2000" baseline="0" dirty="0" smtClean="0"/>
                        <a:t> associated with running the business including fixed and variable costs, is crucial. It helps identify key expenses and potential areas for cost reduction.</a:t>
                      </a:r>
                      <a:endParaRPr lang="en-IN" sz="2000" dirty="0"/>
                    </a:p>
                  </a:txBody>
                  <a:tcPr/>
                </a:tc>
              </a:tr>
              <a:tr h="363473">
                <a:tc>
                  <a:txBody>
                    <a:bodyPr/>
                    <a:lstStyle/>
                    <a:p>
                      <a:pPr algn="ctr"/>
                      <a:r>
                        <a:rPr lang="en-US" sz="2000" dirty="0" smtClean="0"/>
                        <a:t>5</a:t>
                      </a:r>
                      <a:endParaRPr lang="en-IN" sz="2000" dirty="0"/>
                    </a:p>
                  </a:txBody>
                  <a:tcPr/>
                </a:tc>
                <a:tc>
                  <a:txBody>
                    <a:bodyPr/>
                    <a:lstStyle/>
                    <a:p>
                      <a:r>
                        <a:rPr lang="en-US" sz="2000" dirty="0" smtClean="0"/>
                        <a:t>Key Resources</a:t>
                      </a:r>
                      <a:endParaRPr lang="en-IN" sz="2000" dirty="0"/>
                    </a:p>
                  </a:txBody>
                  <a:tcPr/>
                </a:tc>
                <a:tc>
                  <a:txBody>
                    <a:bodyPr/>
                    <a:lstStyle/>
                    <a:p>
                      <a:r>
                        <a:rPr lang="en-US" sz="2000" dirty="0" smtClean="0"/>
                        <a:t>Resources that will deliver at the end such</a:t>
                      </a:r>
                      <a:r>
                        <a:rPr lang="en-US" sz="2000" baseline="0" dirty="0" smtClean="0"/>
                        <a:t> as human resources, technology, intellectual property and physical assets are covered.</a:t>
                      </a:r>
                      <a:endParaRPr lang="en-IN" sz="2000" dirty="0"/>
                    </a:p>
                  </a:txBody>
                  <a:tcPr/>
                </a:tc>
              </a:tr>
            </a:tbl>
          </a:graphicData>
        </a:graphic>
      </p:graphicFrame>
    </p:spTree>
    <p:extLst>
      <p:ext uri="{BB962C8B-B14F-4D97-AF65-F5344CB8AC3E}">
        <p14:creationId xmlns:p14="http://schemas.microsoft.com/office/powerpoint/2010/main" val="182825343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4"/>
            <a:ext cx="12192000" cy="620712"/>
          </a:xfrm>
          <a:solidFill>
            <a:srgbClr val="3333FF"/>
          </a:solidFill>
        </p:spPr>
        <p:txBody>
          <a:bodyPr>
            <a:normAutofit/>
          </a:bodyPr>
          <a:lstStyle/>
          <a:p>
            <a:r>
              <a:rPr lang="en-US" sz="3200" b="1" dirty="0" smtClean="0">
                <a:solidFill>
                  <a:schemeClr val="bg1"/>
                </a:solidFill>
              </a:rPr>
              <a:t>Components of Business Models</a:t>
            </a:r>
            <a:endParaRPr lang="en-IN" sz="3200" b="1" dirty="0">
              <a:solidFill>
                <a:schemeClr val="bg1"/>
              </a:solidFill>
            </a:endParaRPr>
          </a:p>
        </p:txBody>
      </p:sp>
      <p:sp>
        <p:nvSpPr>
          <p:cNvPr id="5" name="Slide Number Placeholder 4"/>
          <p:cNvSpPr>
            <a:spLocks noGrp="1"/>
          </p:cNvSpPr>
          <p:nvPr>
            <p:ph type="sldNum" sz="quarter" idx="12"/>
          </p:nvPr>
        </p:nvSpPr>
        <p:spPr/>
        <p:txBody>
          <a:bodyPr/>
          <a:lstStyle/>
          <a:p>
            <a:fld id="{F5C292C0-B0FF-4DAD-AFC8-67CB345CA3F6}" type="slidenum">
              <a:rPr lang="en-IN" smtClean="0"/>
              <a:pPr/>
              <a:t>12</a:t>
            </a:fld>
            <a:endParaRPr lang="en-IN"/>
          </a:p>
        </p:txBody>
      </p:sp>
      <p:sp>
        <p:nvSpPr>
          <p:cNvPr id="3" name="Rectangle 2"/>
          <p:cNvSpPr/>
          <p:nvPr/>
        </p:nvSpPr>
        <p:spPr>
          <a:xfrm>
            <a:off x="119336" y="692696"/>
            <a:ext cx="11737304" cy="615553"/>
          </a:xfrm>
          <a:prstGeom prst="rect">
            <a:avLst/>
          </a:prstGeom>
          <a:ln>
            <a:solidFill>
              <a:srgbClr val="FF5050"/>
            </a:solidFill>
          </a:ln>
        </p:spPr>
        <p:txBody>
          <a:bodyPr wrap="square">
            <a:spAutoFit/>
          </a:bodyPr>
          <a:lstStyle/>
          <a:p>
            <a:pPr algn="ctr" fontAlgn="base"/>
            <a:r>
              <a:rPr lang="en-US" sz="1700" b="1" dirty="0">
                <a:solidFill>
                  <a:srgbClr val="FF3300"/>
                </a:solidFill>
                <a:latin typeface="Bookman Old Style" panose="02050604050505020204" pitchFamily="18" charset="0"/>
              </a:rPr>
              <a:t>A business model is a strategic plan of how a company will make money. </a:t>
            </a:r>
            <a:endParaRPr lang="en-US" sz="1700" b="1" dirty="0" smtClean="0">
              <a:solidFill>
                <a:srgbClr val="FF3300"/>
              </a:solidFill>
              <a:latin typeface="Bookman Old Style" panose="02050604050505020204" pitchFamily="18" charset="0"/>
            </a:endParaRPr>
          </a:p>
          <a:p>
            <a:pPr algn="ctr" fontAlgn="base"/>
            <a:r>
              <a:rPr lang="en-US" sz="1700" b="1" dirty="0" smtClean="0">
                <a:solidFill>
                  <a:srgbClr val="FF3300"/>
                </a:solidFill>
                <a:latin typeface="Bookman Old Style" panose="02050604050505020204" pitchFamily="18" charset="0"/>
              </a:rPr>
              <a:t>The </a:t>
            </a:r>
            <a:r>
              <a:rPr lang="en-US" sz="1700" b="1" dirty="0">
                <a:solidFill>
                  <a:srgbClr val="FF3300"/>
                </a:solidFill>
                <a:latin typeface="Bookman Old Style" panose="02050604050505020204" pitchFamily="18" charset="0"/>
              </a:rPr>
              <a:t>model describes the way a business will take its product, offer it to the market, and drive sales</a:t>
            </a:r>
            <a:endParaRPr lang="en-US" sz="1700" b="1" i="0" dirty="0">
              <a:solidFill>
                <a:srgbClr val="FF3300"/>
              </a:solidFill>
              <a:effectLst/>
              <a:latin typeface="Bookman Old Style" panose="02050604050505020204"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456964158"/>
              </p:ext>
            </p:extLst>
          </p:nvPr>
        </p:nvGraphicFramePr>
        <p:xfrm>
          <a:off x="335358" y="1643216"/>
          <a:ext cx="11521281" cy="4450080"/>
        </p:xfrm>
        <a:graphic>
          <a:graphicData uri="http://schemas.openxmlformats.org/drawingml/2006/table">
            <a:tbl>
              <a:tblPr firstRow="1" bandRow="1">
                <a:tableStyleId>{F5AB1C69-6EDB-4FF4-983F-18BD219EF322}</a:tableStyleId>
              </a:tblPr>
              <a:tblGrid>
                <a:gridCol w="936106"/>
                <a:gridCol w="1728192"/>
                <a:gridCol w="8856983"/>
              </a:tblGrid>
              <a:tr h="363473">
                <a:tc>
                  <a:txBody>
                    <a:bodyPr/>
                    <a:lstStyle/>
                    <a:p>
                      <a:pPr algn="ctr"/>
                      <a:r>
                        <a:rPr lang="en-US" sz="2000" dirty="0" smtClean="0"/>
                        <a:t>S No</a:t>
                      </a:r>
                      <a:endParaRPr lang="en-IN" sz="2000" dirty="0"/>
                    </a:p>
                  </a:txBody>
                  <a:tcPr/>
                </a:tc>
                <a:tc>
                  <a:txBody>
                    <a:bodyPr/>
                    <a:lstStyle/>
                    <a:p>
                      <a:pPr algn="ctr"/>
                      <a:r>
                        <a:rPr lang="en-US" sz="2000" dirty="0" smtClean="0"/>
                        <a:t>Component</a:t>
                      </a:r>
                      <a:endParaRPr lang="en-IN" sz="2000" dirty="0"/>
                    </a:p>
                  </a:txBody>
                  <a:tcPr/>
                </a:tc>
                <a:tc>
                  <a:txBody>
                    <a:bodyPr/>
                    <a:lstStyle/>
                    <a:p>
                      <a:pPr algn="ctr"/>
                      <a:r>
                        <a:rPr lang="en-US" sz="2000" dirty="0" smtClean="0"/>
                        <a:t>Description</a:t>
                      </a:r>
                      <a:endParaRPr lang="en-IN" sz="2000" dirty="0"/>
                    </a:p>
                  </a:txBody>
                  <a:tcPr/>
                </a:tc>
              </a:tr>
              <a:tr h="363473">
                <a:tc>
                  <a:txBody>
                    <a:bodyPr/>
                    <a:lstStyle/>
                    <a:p>
                      <a:pPr algn="ctr"/>
                      <a:r>
                        <a:rPr lang="en-US" sz="2200" dirty="0" smtClean="0"/>
                        <a:t>6</a:t>
                      </a:r>
                      <a:endParaRPr lang="en-IN" sz="2200" dirty="0"/>
                    </a:p>
                  </a:txBody>
                  <a:tcPr/>
                </a:tc>
                <a:tc>
                  <a:txBody>
                    <a:bodyPr/>
                    <a:lstStyle/>
                    <a:p>
                      <a:r>
                        <a:rPr lang="en-US" sz="2200" dirty="0" smtClean="0"/>
                        <a:t>Key activities</a:t>
                      </a:r>
                      <a:endParaRPr lang="en-IN" sz="2200" dirty="0"/>
                    </a:p>
                  </a:txBody>
                  <a:tcPr/>
                </a:tc>
                <a:tc>
                  <a:txBody>
                    <a:bodyPr/>
                    <a:lstStyle/>
                    <a:p>
                      <a:r>
                        <a:rPr lang="en-US" sz="2200" dirty="0" smtClean="0"/>
                        <a:t>This refers to the essential actions and processes required to deliver the value proposition, reach customers, and maintain customer relationships.</a:t>
                      </a:r>
                      <a:endParaRPr lang="en-IN" sz="2200" dirty="0"/>
                    </a:p>
                  </a:txBody>
                  <a:tcPr/>
                </a:tc>
              </a:tr>
              <a:tr h="363473">
                <a:tc>
                  <a:txBody>
                    <a:bodyPr/>
                    <a:lstStyle/>
                    <a:p>
                      <a:pPr algn="ctr"/>
                      <a:r>
                        <a:rPr lang="en-US" sz="2200" dirty="0" smtClean="0"/>
                        <a:t>7</a:t>
                      </a:r>
                      <a:endParaRPr lang="en-IN" sz="2200" dirty="0"/>
                    </a:p>
                  </a:txBody>
                  <a:tcPr/>
                </a:tc>
                <a:tc>
                  <a:txBody>
                    <a:bodyPr/>
                    <a:lstStyle/>
                    <a:p>
                      <a:r>
                        <a:rPr lang="en-US" sz="2200" dirty="0" smtClean="0"/>
                        <a:t>Channels</a:t>
                      </a:r>
                      <a:endParaRPr lang="en-IN" sz="2200" dirty="0"/>
                    </a:p>
                  </a:txBody>
                  <a:tcPr/>
                </a:tc>
                <a:tc>
                  <a:txBody>
                    <a:bodyPr/>
                    <a:lstStyle/>
                    <a:p>
                      <a:r>
                        <a:rPr lang="en-US" sz="2200" dirty="0" smtClean="0"/>
                        <a:t>The avenues both offline and online, through which the</a:t>
                      </a:r>
                      <a:r>
                        <a:rPr lang="en-US" sz="2200" baseline="0" dirty="0" smtClean="0"/>
                        <a:t> company delivers its value proposition to customers. Channels may include physical stores, e-commerce platforms, social media and distribution partnerships</a:t>
                      </a:r>
                      <a:endParaRPr lang="en-IN" sz="2200" dirty="0"/>
                    </a:p>
                  </a:txBody>
                  <a:tcPr/>
                </a:tc>
              </a:tr>
              <a:tr h="363473">
                <a:tc>
                  <a:txBody>
                    <a:bodyPr/>
                    <a:lstStyle/>
                    <a:p>
                      <a:pPr algn="ctr"/>
                      <a:r>
                        <a:rPr lang="en-US" sz="2200" dirty="0" smtClean="0"/>
                        <a:t>8</a:t>
                      </a:r>
                      <a:endParaRPr lang="en-IN" sz="2200" dirty="0"/>
                    </a:p>
                  </a:txBody>
                  <a:tcPr/>
                </a:tc>
                <a:tc>
                  <a:txBody>
                    <a:bodyPr/>
                    <a:lstStyle/>
                    <a:p>
                      <a:r>
                        <a:rPr lang="en-US" sz="2200" dirty="0" smtClean="0"/>
                        <a:t>Customer Relationships</a:t>
                      </a:r>
                      <a:endParaRPr lang="en-IN" sz="2200" dirty="0"/>
                    </a:p>
                  </a:txBody>
                  <a:tcPr/>
                </a:tc>
                <a:tc>
                  <a:txBody>
                    <a:bodyPr/>
                    <a:lstStyle/>
                    <a:p>
                      <a:r>
                        <a:rPr lang="en-US" sz="2200" dirty="0" smtClean="0"/>
                        <a:t>Understanding how to engage with customers and build loyalty is vital. This can range from</a:t>
                      </a:r>
                      <a:r>
                        <a:rPr lang="en-US" sz="2200" baseline="0" dirty="0" smtClean="0"/>
                        <a:t> personalized service and community engagement to automated support systems</a:t>
                      </a:r>
                      <a:endParaRPr lang="en-IN" sz="2200" dirty="0"/>
                    </a:p>
                  </a:txBody>
                  <a:tcPr/>
                </a:tc>
              </a:tr>
              <a:tr h="363473">
                <a:tc>
                  <a:txBody>
                    <a:bodyPr/>
                    <a:lstStyle/>
                    <a:p>
                      <a:pPr algn="ctr"/>
                      <a:r>
                        <a:rPr lang="en-US" sz="2200" dirty="0" smtClean="0"/>
                        <a:t>9</a:t>
                      </a:r>
                      <a:endParaRPr lang="en-IN" sz="2200" dirty="0"/>
                    </a:p>
                  </a:txBody>
                  <a:tcPr/>
                </a:tc>
                <a:tc>
                  <a:txBody>
                    <a:bodyPr/>
                    <a:lstStyle/>
                    <a:p>
                      <a:r>
                        <a:rPr lang="en-US" sz="2200" dirty="0" smtClean="0"/>
                        <a:t>Key Partnerships</a:t>
                      </a:r>
                      <a:endParaRPr lang="en-IN" sz="2200" dirty="0"/>
                    </a:p>
                  </a:txBody>
                  <a:tcPr/>
                </a:tc>
                <a:tc>
                  <a:txBody>
                    <a:bodyPr/>
                    <a:lstStyle/>
                    <a:p>
                      <a:r>
                        <a:rPr lang="en-US" sz="2200" dirty="0" smtClean="0"/>
                        <a:t>Collaborations with suppliers, distributors, and strategic partners can enhance the business model.</a:t>
                      </a:r>
                      <a:r>
                        <a:rPr lang="en-US" sz="2200" baseline="0" dirty="0" smtClean="0"/>
                        <a:t> Partnerships can provide access to resources, technology or markets that may be challenging to achieve independently</a:t>
                      </a:r>
                      <a:endParaRPr lang="en-IN" sz="2200" dirty="0"/>
                    </a:p>
                  </a:txBody>
                  <a:tcPr/>
                </a:tc>
              </a:tr>
            </a:tbl>
          </a:graphicData>
        </a:graphic>
      </p:graphicFrame>
    </p:spTree>
    <p:extLst>
      <p:ext uri="{BB962C8B-B14F-4D97-AF65-F5344CB8AC3E}">
        <p14:creationId xmlns:p14="http://schemas.microsoft.com/office/powerpoint/2010/main" val="158814634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4"/>
            <a:ext cx="12192000" cy="620712"/>
          </a:xfrm>
          <a:solidFill>
            <a:srgbClr val="3333FF"/>
          </a:solidFill>
        </p:spPr>
        <p:txBody>
          <a:bodyPr>
            <a:normAutofit/>
          </a:bodyPr>
          <a:lstStyle/>
          <a:p>
            <a:r>
              <a:rPr lang="en-US" sz="3200" b="1" dirty="0" smtClean="0">
                <a:solidFill>
                  <a:schemeClr val="bg1"/>
                </a:solidFill>
              </a:rPr>
              <a:t>Testing of Business Models</a:t>
            </a:r>
            <a:endParaRPr lang="en-IN" sz="3200" b="1" dirty="0">
              <a:solidFill>
                <a:schemeClr val="bg1"/>
              </a:solidFill>
            </a:endParaRPr>
          </a:p>
        </p:txBody>
      </p:sp>
      <p:sp>
        <p:nvSpPr>
          <p:cNvPr id="5" name="Slide Number Placeholder 4"/>
          <p:cNvSpPr>
            <a:spLocks noGrp="1"/>
          </p:cNvSpPr>
          <p:nvPr>
            <p:ph type="sldNum" sz="quarter" idx="12"/>
          </p:nvPr>
        </p:nvSpPr>
        <p:spPr/>
        <p:txBody>
          <a:bodyPr/>
          <a:lstStyle/>
          <a:p>
            <a:fld id="{F5C292C0-B0FF-4DAD-AFC8-67CB345CA3F6}" type="slidenum">
              <a:rPr lang="en-IN" smtClean="0"/>
              <a:pPr/>
              <a:t>13</a:t>
            </a:fld>
            <a:endParaRPr lang="en-IN"/>
          </a:p>
        </p:txBody>
      </p:sp>
      <p:sp>
        <p:nvSpPr>
          <p:cNvPr id="3" name="Rectangle 2"/>
          <p:cNvSpPr/>
          <p:nvPr/>
        </p:nvSpPr>
        <p:spPr>
          <a:xfrm>
            <a:off x="119336" y="692696"/>
            <a:ext cx="11737304" cy="615553"/>
          </a:xfrm>
          <a:prstGeom prst="rect">
            <a:avLst/>
          </a:prstGeom>
          <a:ln>
            <a:solidFill>
              <a:srgbClr val="FF5050"/>
            </a:solidFill>
          </a:ln>
        </p:spPr>
        <p:txBody>
          <a:bodyPr wrap="square">
            <a:spAutoFit/>
          </a:bodyPr>
          <a:lstStyle/>
          <a:p>
            <a:pPr algn="ctr" fontAlgn="base"/>
            <a:r>
              <a:rPr lang="en-US" sz="1700" b="1" dirty="0">
                <a:solidFill>
                  <a:srgbClr val="FF3300"/>
                </a:solidFill>
                <a:latin typeface="Bookman Old Style" panose="02050604050505020204" pitchFamily="18" charset="0"/>
              </a:rPr>
              <a:t>A business model is a strategic plan of how a company will make money. </a:t>
            </a:r>
            <a:endParaRPr lang="en-US" sz="1700" b="1" dirty="0" smtClean="0">
              <a:solidFill>
                <a:srgbClr val="FF3300"/>
              </a:solidFill>
              <a:latin typeface="Bookman Old Style" panose="02050604050505020204" pitchFamily="18" charset="0"/>
            </a:endParaRPr>
          </a:p>
          <a:p>
            <a:pPr algn="ctr" fontAlgn="base"/>
            <a:r>
              <a:rPr lang="en-US" sz="1700" b="1" dirty="0" smtClean="0">
                <a:solidFill>
                  <a:srgbClr val="FF3300"/>
                </a:solidFill>
                <a:latin typeface="Bookman Old Style" panose="02050604050505020204" pitchFamily="18" charset="0"/>
              </a:rPr>
              <a:t>The </a:t>
            </a:r>
            <a:r>
              <a:rPr lang="en-US" sz="1700" b="1" dirty="0">
                <a:solidFill>
                  <a:srgbClr val="FF3300"/>
                </a:solidFill>
                <a:latin typeface="Bookman Old Style" panose="02050604050505020204" pitchFamily="18" charset="0"/>
              </a:rPr>
              <a:t>model describes the way a business will take its product, offer it to the market, and drive sales</a:t>
            </a:r>
            <a:endParaRPr lang="en-US" sz="1700" b="1" i="0" dirty="0">
              <a:solidFill>
                <a:srgbClr val="FF3300"/>
              </a:solidFill>
              <a:effectLst/>
              <a:latin typeface="Bookman Old Style" panose="02050604050505020204"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3857676096"/>
              </p:ext>
            </p:extLst>
          </p:nvPr>
        </p:nvGraphicFramePr>
        <p:xfrm>
          <a:off x="335358" y="1522472"/>
          <a:ext cx="11521281" cy="4907280"/>
        </p:xfrm>
        <a:graphic>
          <a:graphicData uri="http://schemas.openxmlformats.org/drawingml/2006/table">
            <a:tbl>
              <a:tblPr firstRow="1" bandRow="1">
                <a:tableStyleId>{F5AB1C69-6EDB-4FF4-983F-18BD219EF322}</a:tableStyleId>
              </a:tblPr>
              <a:tblGrid>
                <a:gridCol w="936106"/>
                <a:gridCol w="1584176"/>
                <a:gridCol w="9000999"/>
              </a:tblGrid>
              <a:tr h="363473">
                <a:tc>
                  <a:txBody>
                    <a:bodyPr/>
                    <a:lstStyle/>
                    <a:p>
                      <a:pPr algn="ctr"/>
                      <a:r>
                        <a:rPr lang="en-US" sz="2000" dirty="0" smtClean="0"/>
                        <a:t>S No</a:t>
                      </a:r>
                      <a:endParaRPr lang="en-IN" sz="2000" dirty="0"/>
                    </a:p>
                  </a:txBody>
                  <a:tcPr/>
                </a:tc>
                <a:tc>
                  <a:txBody>
                    <a:bodyPr/>
                    <a:lstStyle/>
                    <a:p>
                      <a:pPr algn="ctr"/>
                      <a:r>
                        <a:rPr lang="en-US" sz="2000" dirty="0" smtClean="0"/>
                        <a:t>Component</a:t>
                      </a:r>
                      <a:endParaRPr lang="en-IN" sz="2000" dirty="0"/>
                    </a:p>
                  </a:txBody>
                  <a:tcPr/>
                </a:tc>
                <a:tc>
                  <a:txBody>
                    <a:bodyPr/>
                    <a:lstStyle/>
                    <a:p>
                      <a:pPr algn="ctr"/>
                      <a:r>
                        <a:rPr lang="en-US" sz="2000" dirty="0" smtClean="0"/>
                        <a:t>Description</a:t>
                      </a:r>
                      <a:endParaRPr lang="en-IN" sz="2000" dirty="0"/>
                    </a:p>
                  </a:txBody>
                  <a:tcPr/>
                </a:tc>
              </a:tr>
              <a:tr h="363473">
                <a:tc>
                  <a:txBody>
                    <a:bodyPr/>
                    <a:lstStyle/>
                    <a:p>
                      <a:pPr algn="ctr"/>
                      <a:r>
                        <a:rPr lang="en-US" sz="1900" dirty="0" smtClean="0"/>
                        <a:t>1</a:t>
                      </a:r>
                      <a:endParaRPr lang="en-IN" sz="1900" dirty="0"/>
                    </a:p>
                  </a:txBody>
                  <a:tcPr/>
                </a:tc>
                <a:tc>
                  <a:txBody>
                    <a:bodyPr/>
                    <a:lstStyle/>
                    <a:p>
                      <a:r>
                        <a:rPr lang="en-US" sz="1900" dirty="0" smtClean="0"/>
                        <a:t>Market Research</a:t>
                      </a:r>
                      <a:endParaRPr lang="en-IN" sz="1900" dirty="0"/>
                    </a:p>
                  </a:txBody>
                  <a:tcPr/>
                </a:tc>
                <a:tc>
                  <a:txBody>
                    <a:bodyPr/>
                    <a:lstStyle/>
                    <a:p>
                      <a:r>
                        <a:rPr lang="en-US" sz="1900" dirty="0" smtClean="0"/>
                        <a:t>Conducting</a:t>
                      </a:r>
                      <a:r>
                        <a:rPr lang="en-US" sz="1900" baseline="0" dirty="0" smtClean="0"/>
                        <a:t> surveys, focus groups, and interview with potential customers help gather insights into their needs, preferences and willingness to pay. This data helps to make adjustments to value proposition and overall model</a:t>
                      </a:r>
                      <a:endParaRPr lang="en-IN" sz="1900" dirty="0"/>
                    </a:p>
                  </a:txBody>
                  <a:tcPr/>
                </a:tc>
              </a:tr>
              <a:tr h="363473">
                <a:tc>
                  <a:txBody>
                    <a:bodyPr/>
                    <a:lstStyle/>
                    <a:p>
                      <a:pPr algn="ctr"/>
                      <a:r>
                        <a:rPr lang="en-US" sz="1900" dirty="0" smtClean="0"/>
                        <a:t>2</a:t>
                      </a:r>
                      <a:endParaRPr lang="en-IN" sz="1900" dirty="0"/>
                    </a:p>
                  </a:txBody>
                  <a:tcPr/>
                </a:tc>
                <a:tc>
                  <a:txBody>
                    <a:bodyPr/>
                    <a:lstStyle/>
                    <a:p>
                      <a:r>
                        <a:rPr lang="en-US" sz="1900" dirty="0" smtClean="0"/>
                        <a:t>Pilot Programs and MVPs</a:t>
                      </a:r>
                      <a:endParaRPr lang="en-IN" sz="1900" dirty="0"/>
                    </a:p>
                  </a:txBody>
                  <a:tcPr/>
                </a:tc>
                <a:tc>
                  <a:txBody>
                    <a:bodyPr/>
                    <a:lstStyle/>
                    <a:p>
                      <a:r>
                        <a:rPr lang="en-US" sz="1900" dirty="0" smtClean="0"/>
                        <a:t>Creating Minimum Value Products (MVPs) allows startups to test their</a:t>
                      </a:r>
                      <a:r>
                        <a:rPr lang="en-US" sz="1900" baseline="0" dirty="0" smtClean="0"/>
                        <a:t> concepts in the market with minimal investment. MVPs are simplified versions of the product that include just enough features to meet initial customer needs</a:t>
                      </a:r>
                      <a:endParaRPr lang="en-IN" sz="1900" dirty="0"/>
                    </a:p>
                  </a:txBody>
                  <a:tcPr/>
                </a:tc>
              </a:tr>
              <a:tr h="363473">
                <a:tc>
                  <a:txBody>
                    <a:bodyPr/>
                    <a:lstStyle/>
                    <a:p>
                      <a:pPr algn="ctr"/>
                      <a:r>
                        <a:rPr lang="en-US" sz="1900" dirty="0" smtClean="0"/>
                        <a:t>3</a:t>
                      </a:r>
                      <a:endParaRPr lang="en-IN" sz="1900" dirty="0"/>
                    </a:p>
                  </a:txBody>
                  <a:tcPr/>
                </a:tc>
                <a:tc>
                  <a:txBody>
                    <a:bodyPr/>
                    <a:lstStyle/>
                    <a:p>
                      <a:r>
                        <a:rPr lang="en-US" sz="1900" dirty="0" smtClean="0"/>
                        <a:t>Feedback Loops</a:t>
                      </a:r>
                      <a:endParaRPr lang="en-IN" sz="1900" dirty="0"/>
                    </a:p>
                  </a:txBody>
                  <a:tcPr/>
                </a:tc>
                <a:tc>
                  <a:txBody>
                    <a:bodyPr/>
                    <a:lstStyle/>
                    <a:p>
                      <a:r>
                        <a:rPr lang="en-US" sz="1900" dirty="0" smtClean="0"/>
                        <a:t>Regularly</a:t>
                      </a:r>
                      <a:r>
                        <a:rPr lang="en-US" sz="1900" baseline="0" dirty="0" smtClean="0"/>
                        <a:t> soliciting feedback from users enables continuous improvement. This can be done through surveys, user testing sessions, and analytics to assess how customers interact with the product</a:t>
                      </a:r>
                      <a:endParaRPr lang="en-IN" sz="1900" dirty="0"/>
                    </a:p>
                  </a:txBody>
                  <a:tcPr/>
                </a:tc>
              </a:tr>
              <a:tr h="363473">
                <a:tc>
                  <a:txBody>
                    <a:bodyPr/>
                    <a:lstStyle/>
                    <a:p>
                      <a:pPr algn="ctr"/>
                      <a:r>
                        <a:rPr lang="en-US" sz="1900" dirty="0" smtClean="0"/>
                        <a:t>4</a:t>
                      </a:r>
                      <a:endParaRPr lang="en-IN" sz="1900" dirty="0"/>
                    </a:p>
                  </a:txBody>
                  <a:tcPr/>
                </a:tc>
                <a:tc>
                  <a:txBody>
                    <a:bodyPr/>
                    <a:lstStyle/>
                    <a:p>
                      <a:r>
                        <a:rPr lang="en-US" sz="1900" dirty="0" smtClean="0"/>
                        <a:t>Metrics and KPIs</a:t>
                      </a:r>
                      <a:endParaRPr lang="en-IN" sz="1900" dirty="0"/>
                    </a:p>
                  </a:txBody>
                  <a:tcPr/>
                </a:tc>
                <a:tc>
                  <a:txBody>
                    <a:bodyPr/>
                    <a:lstStyle/>
                    <a:p>
                      <a:r>
                        <a:rPr lang="en-US" sz="1900" dirty="0" smtClean="0"/>
                        <a:t>Establishing</a:t>
                      </a:r>
                      <a:r>
                        <a:rPr lang="en-US" sz="1900" baseline="0" dirty="0" smtClean="0"/>
                        <a:t> Key Performance Indicators helps measure the success of business model. Metrics can include customer acquisition cost, lifetime value, churn rate, and conversion rates providing actionable insights</a:t>
                      </a:r>
                      <a:endParaRPr lang="en-IN" sz="1900" dirty="0"/>
                    </a:p>
                  </a:txBody>
                  <a:tcPr/>
                </a:tc>
              </a:tr>
              <a:tr h="363473">
                <a:tc>
                  <a:txBody>
                    <a:bodyPr/>
                    <a:lstStyle/>
                    <a:p>
                      <a:pPr algn="ctr"/>
                      <a:r>
                        <a:rPr lang="en-US" sz="1900" dirty="0" smtClean="0"/>
                        <a:t>5</a:t>
                      </a:r>
                      <a:endParaRPr lang="en-IN" sz="1900" dirty="0"/>
                    </a:p>
                  </a:txBody>
                  <a:tcPr/>
                </a:tc>
                <a:tc>
                  <a:txBody>
                    <a:bodyPr/>
                    <a:lstStyle/>
                    <a:p>
                      <a:r>
                        <a:rPr lang="en-US" sz="1900" dirty="0" smtClean="0"/>
                        <a:t>Iteration</a:t>
                      </a:r>
                      <a:endParaRPr lang="en-IN" sz="1900" dirty="0"/>
                    </a:p>
                  </a:txBody>
                  <a:tcPr/>
                </a:tc>
                <a:tc>
                  <a:txBody>
                    <a:bodyPr/>
                    <a:lstStyle/>
                    <a:p>
                      <a:r>
                        <a:rPr lang="en-US" sz="1900" dirty="0" smtClean="0"/>
                        <a:t>Based on feedback and performance data, businesses should be prepared to iterate on their model for refining the value proposition,</a:t>
                      </a:r>
                      <a:r>
                        <a:rPr lang="en-US" sz="1900" baseline="0" dirty="0" smtClean="0"/>
                        <a:t> adjusting the price etc.</a:t>
                      </a:r>
                      <a:endParaRPr lang="en-IN" sz="1900" dirty="0"/>
                    </a:p>
                  </a:txBody>
                  <a:tcPr/>
                </a:tc>
              </a:tr>
            </a:tbl>
          </a:graphicData>
        </a:graphic>
      </p:graphicFrame>
    </p:spTree>
    <p:extLst>
      <p:ext uri="{BB962C8B-B14F-4D97-AF65-F5344CB8AC3E}">
        <p14:creationId xmlns:p14="http://schemas.microsoft.com/office/powerpoint/2010/main" val="232298700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4"/>
            <a:ext cx="9696400" cy="620712"/>
          </a:xfrm>
          <a:solidFill>
            <a:srgbClr val="3333FF"/>
          </a:solidFill>
        </p:spPr>
        <p:txBody>
          <a:bodyPr>
            <a:normAutofit/>
          </a:bodyPr>
          <a:lstStyle/>
          <a:p>
            <a:r>
              <a:rPr lang="en-US" sz="3200" b="1" dirty="0" smtClean="0">
                <a:solidFill>
                  <a:schemeClr val="bg1"/>
                </a:solidFill>
              </a:rPr>
              <a:t>Process of Developing and Testing the Business Models</a:t>
            </a:r>
            <a:endParaRPr lang="en-IN" sz="3200" b="1" dirty="0">
              <a:solidFill>
                <a:schemeClr val="bg1"/>
              </a:solidFill>
            </a:endParaRPr>
          </a:p>
        </p:txBody>
      </p:sp>
      <p:sp>
        <p:nvSpPr>
          <p:cNvPr id="5" name="Slide Number Placeholder 4"/>
          <p:cNvSpPr>
            <a:spLocks noGrp="1"/>
          </p:cNvSpPr>
          <p:nvPr>
            <p:ph type="sldNum" sz="quarter" idx="12"/>
          </p:nvPr>
        </p:nvSpPr>
        <p:spPr/>
        <p:txBody>
          <a:bodyPr/>
          <a:lstStyle/>
          <a:p>
            <a:fld id="{F5C292C0-B0FF-4DAD-AFC8-67CB345CA3F6}" type="slidenum">
              <a:rPr lang="en-IN" smtClean="0"/>
              <a:pPr/>
              <a:t>14</a:t>
            </a:fld>
            <a:endParaRPr lang="en-IN"/>
          </a:p>
        </p:txBody>
      </p:sp>
      <p:sp>
        <p:nvSpPr>
          <p:cNvPr id="3" name="Rectangle 2"/>
          <p:cNvSpPr/>
          <p:nvPr/>
        </p:nvSpPr>
        <p:spPr>
          <a:xfrm>
            <a:off x="263352" y="797223"/>
            <a:ext cx="9217024" cy="615553"/>
          </a:xfrm>
          <a:prstGeom prst="rect">
            <a:avLst/>
          </a:prstGeom>
          <a:ln>
            <a:solidFill>
              <a:srgbClr val="FF5050"/>
            </a:solidFill>
          </a:ln>
        </p:spPr>
        <p:txBody>
          <a:bodyPr wrap="square">
            <a:spAutoFit/>
          </a:bodyPr>
          <a:lstStyle/>
          <a:p>
            <a:pPr algn="ctr" fontAlgn="base"/>
            <a:r>
              <a:rPr lang="en-US" sz="1700" b="1" dirty="0" smtClean="0">
                <a:solidFill>
                  <a:srgbClr val="C00000"/>
                </a:solidFill>
                <a:latin typeface="Bookman Old Style" panose="02050604050505020204" pitchFamily="18" charset="0"/>
              </a:rPr>
              <a:t>Assume a smart watch with integrated AI features for health monitoring is designed and a business </a:t>
            </a:r>
            <a:r>
              <a:rPr lang="en-US" sz="1700" b="1" dirty="0">
                <a:solidFill>
                  <a:srgbClr val="C00000"/>
                </a:solidFill>
                <a:latin typeface="Bookman Old Style" panose="02050604050505020204" pitchFamily="18" charset="0"/>
              </a:rPr>
              <a:t>model is </a:t>
            </a:r>
            <a:r>
              <a:rPr lang="en-US" sz="1700" b="1" dirty="0" smtClean="0">
                <a:solidFill>
                  <a:srgbClr val="C00000"/>
                </a:solidFill>
                <a:latin typeface="Bookman Old Style" panose="02050604050505020204" pitchFamily="18" charset="0"/>
              </a:rPr>
              <a:t>to be developed.</a:t>
            </a:r>
            <a:endParaRPr lang="en-US" sz="1700" b="1" i="0" dirty="0">
              <a:solidFill>
                <a:srgbClr val="C00000"/>
              </a:solidFill>
              <a:effectLst/>
              <a:latin typeface="Bookman Old Style" panose="02050604050505020204" pitchFamily="18" charset="0"/>
            </a:endParaRPr>
          </a:p>
        </p:txBody>
      </p:sp>
      <p:sp>
        <p:nvSpPr>
          <p:cNvPr id="6" name="TextBox 5"/>
          <p:cNvSpPr txBox="1"/>
          <p:nvPr/>
        </p:nvSpPr>
        <p:spPr>
          <a:xfrm>
            <a:off x="263352" y="1628800"/>
            <a:ext cx="5760640" cy="4401205"/>
          </a:xfrm>
          <a:prstGeom prst="rect">
            <a:avLst/>
          </a:prstGeom>
          <a:noFill/>
          <a:ln>
            <a:solidFill>
              <a:srgbClr val="FF5050"/>
            </a:solidFill>
          </a:ln>
        </p:spPr>
        <p:txBody>
          <a:bodyPr wrap="square" rtlCol="0">
            <a:spAutoFit/>
          </a:bodyPr>
          <a:lstStyle/>
          <a:p>
            <a:pPr marL="285750" indent="-285750">
              <a:buFont typeface="Arial" panose="020B0604020202020204" pitchFamily="34" charset="0"/>
              <a:buChar char="•"/>
            </a:pPr>
            <a:r>
              <a:rPr lang="en-US" sz="2000" b="1" dirty="0" smtClean="0"/>
              <a:t>Step-1:</a:t>
            </a:r>
            <a:r>
              <a:rPr lang="en-US" sz="2000" dirty="0" smtClean="0"/>
              <a:t> Outline the ideas through Business Canvas Map</a:t>
            </a:r>
          </a:p>
          <a:p>
            <a:pPr marL="285750" indent="-285750">
              <a:buFont typeface="Arial" panose="020B0604020202020204" pitchFamily="34" charset="0"/>
              <a:buChar char="•"/>
            </a:pPr>
            <a:r>
              <a:rPr lang="en-US" sz="2000" b="1" dirty="0" smtClean="0"/>
              <a:t>Step-2: </a:t>
            </a:r>
            <a:r>
              <a:rPr lang="en-US" sz="2000" dirty="0" smtClean="0"/>
              <a:t>Identify the key partners including manufacturers, software developers and health advisors</a:t>
            </a:r>
          </a:p>
          <a:p>
            <a:pPr marL="285750" indent="-285750">
              <a:buFont typeface="Arial" panose="020B0604020202020204" pitchFamily="34" charset="0"/>
              <a:buChar char="•"/>
            </a:pPr>
            <a:r>
              <a:rPr lang="en-US" sz="2000" b="1" dirty="0" smtClean="0"/>
              <a:t>Step-3: </a:t>
            </a:r>
            <a:r>
              <a:rPr lang="en-US" sz="2000" dirty="0" smtClean="0"/>
              <a:t>Identify the possible revenue streams and channels, both offline and online</a:t>
            </a:r>
          </a:p>
          <a:p>
            <a:pPr marL="285750" indent="-285750">
              <a:buFont typeface="Arial" panose="020B0604020202020204" pitchFamily="34" charset="0"/>
              <a:buChar char="•"/>
            </a:pPr>
            <a:r>
              <a:rPr lang="en-US" sz="2000" b="1" dirty="0" smtClean="0"/>
              <a:t>Step-4:</a:t>
            </a:r>
            <a:r>
              <a:rPr lang="en-US" sz="2000" dirty="0" smtClean="0"/>
              <a:t> </a:t>
            </a:r>
            <a:r>
              <a:rPr lang="en-US" sz="2000" b="1" dirty="0" smtClean="0">
                <a:solidFill>
                  <a:srgbClr val="C00000"/>
                </a:solidFill>
              </a:rPr>
              <a:t>Decide to ensure the users require it and buy it</a:t>
            </a:r>
          </a:p>
          <a:p>
            <a:pPr marL="285750" indent="-285750">
              <a:buFont typeface="Arial" panose="020B0604020202020204" pitchFamily="34" charset="0"/>
              <a:buChar char="•"/>
            </a:pPr>
            <a:r>
              <a:rPr lang="en-US" sz="2000" b="1" dirty="0" smtClean="0"/>
              <a:t>Step-5: </a:t>
            </a:r>
            <a:r>
              <a:rPr lang="en-US" sz="2000" dirty="0" smtClean="0"/>
              <a:t>Conduct Empathy based interviews for the insights of customers and health awareness</a:t>
            </a:r>
          </a:p>
          <a:p>
            <a:pPr marL="285750" indent="-285750">
              <a:buFont typeface="Arial" panose="020B0604020202020204" pitchFamily="34" charset="0"/>
              <a:buChar char="•"/>
            </a:pPr>
            <a:r>
              <a:rPr lang="en-US" sz="2000" b="1" dirty="0" smtClean="0"/>
              <a:t>Step-6:</a:t>
            </a:r>
            <a:r>
              <a:rPr lang="en-US" sz="2000" dirty="0" smtClean="0"/>
              <a:t> Analyze the data – how many are willing to buy or subscribe, ceiling price etc.</a:t>
            </a:r>
          </a:p>
          <a:p>
            <a:pPr marL="285750" indent="-285750">
              <a:buFont typeface="Arial" panose="020B0604020202020204" pitchFamily="34" charset="0"/>
              <a:buChar char="•"/>
            </a:pPr>
            <a:r>
              <a:rPr lang="en-US" sz="2000" b="1" dirty="0" smtClean="0"/>
              <a:t>Step-7:</a:t>
            </a:r>
            <a:r>
              <a:rPr lang="en-US" sz="2000" dirty="0" smtClean="0"/>
              <a:t> Adjust the Business model to suit the data</a:t>
            </a:r>
          </a:p>
        </p:txBody>
      </p:sp>
      <p:sp>
        <p:nvSpPr>
          <p:cNvPr id="7" name="TextBox 6"/>
          <p:cNvSpPr txBox="1"/>
          <p:nvPr/>
        </p:nvSpPr>
        <p:spPr>
          <a:xfrm>
            <a:off x="6240016" y="2348880"/>
            <a:ext cx="5760640" cy="4401205"/>
          </a:xfrm>
          <a:prstGeom prst="rect">
            <a:avLst/>
          </a:prstGeom>
          <a:noFill/>
          <a:ln>
            <a:solidFill>
              <a:srgbClr val="FF5050"/>
            </a:solidFill>
          </a:ln>
        </p:spPr>
        <p:txBody>
          <a:bodyPr wrap="square" rtlCol="0">
            <a:spAutoFit/>
          </a:bodyPr>
          <a:lstStyle/>
          <a:p>
            <a:pPr marL="285750" indent="-285750">
              <a:buFont typeface="Arial" panose="020B0604020202020204" pitchFamily="34" charset="0"/>
              <a:buChar char="•"/>
            </a:pPr>
            <a:r>
              <a:rPr lang="en-US" sz="2000" b="1" dirty="0"/>
              <a:t>Step-8:</a:t>
            </a:r>
            <a:r>
              <a:rPr lang="en-US" sz="2000" dirty="0"/>
              <a:t> </a:t>
            </a:r>
            <a:r>
              <a:rPr lang="en-US" sz="2000" dirty="0" smtClean="0"/>
              <a:t>Develop </a:t>
            </a:r>
            <a:r>
              <a:rPr lang="en-US" sz="2000" dirty="0"/>
              <a:t>strategies for the investors, about the highlights of the product</a:t>
            </a:r>
            <a:endParaRPr lang="en-IN" sz="2000" dirty="0"/>
          </a:p>
          <a:p>
            <a:pPr marL="285750" indent="-285750">
              <a:buFont typeface="Arial" panose="020B0604020202020204" pitchFamily="34" charset="0"/>
              <a:buChar char="•"/>
            </a:pPr>
            <a:r>
              <a:rPr lang="en-US" sz="2000" b="1" dirty="0" smtClean="0"/>
              <a:t>Step-9:</a:t>
            </a:r>
            <a:r>
              <a:rPr lang="en-US" sz="2000" dirty="0" smtClean="0"/>
              <a:t> Test the prototype and take the initial feedback</a:t>
            </a:r>
          </a:p>
          <a:p>
            <a:pPr marL="285750" indent="-285750">
              <a:buFont typeface="Arial" panose="020B0604020202020204" pitchFamily="34" charset="0"/>
              <a:buChar char="•"/>
            </a:pPr>
            <a:r>
              <a:rPr lang="en-US" sz="2000" b="1" dirty="0" smtClean="0"/>
              <a:t>Step-10: </a:t>
            </a:r>
            <a:r>
              <a:rPr lang="en-US" sz="2000" dirty="0" smtClean="0"/>
              <a:t>Analyze the feedback </a:t>
            </a:r>
          </a:p>
          <a:p>
            <a:pPr marL="285750" indent="-285750">
              <a:buFont typeface="Arial" panose="020B0604020202020204" pitchFamily="34" charset="0"/>
              <a:buChar char="•"/>
            </a:pPr>
            <a:r>
              <a:rPr lang="en-US" sz="2000" b="1" dirty="0" smtClean="0"/>
              <a:t>Step-11: </a:t>
            </a:r>
            <a:r>
              <a:rPr lang="en-US" sz="2000" dirty="0" smtClean="0"/>
              <a:t>Highlight the success stories of prototype advantages through physical models and social media </a:t>
            </a:r>
          </a:p>
          <a:p>
            <a:pPr marL="285750" indent="-285750">
              <a:buFont typeface="Arial" panose="020B0604020202020204" pitchFamily="34" charset="0"/>
              <a:buChar char="•"/>
            </a:pPr>
            <a:r>
              <a:rPr lang="en-US" sz="2000" b="1" dirty="0" smtClean="0"/>
              <a:t>Step-12:</a:t>
            </a:r>
            <a:r>
              <a:rPr lang="en-US" sz="2000" dirty="0" smtClean="0"/>
              <a:t> Attract the investors with all the information and make them convinced</a:t>
            </a:r>
          </a:p>
          <a:p>
            <a:pPr marL="285750" indent="-285750">
              <a:buFont typeface="Arial" panose="020B0604020202020204" pitchFamily="34" charset="0"/>
              <a:buChar char="•"/>
            </a:pPr>
            <a:r>
              <a:rPr lang="en-US" sz="2000" b="1" dirty="0" smtClean="0"/>
              <a:t>Step-13: </a:t>
            </a:r>
            <a:r>
              <a:rPr lang="en-US" sz="2000" dirty="0" smtClean="0"/>
              <a:t>Launch the product successfully</a:t>
            </a:r>
          </a:p>
          <a:p>
            <a:pPr marL="285750" indent="-285750">
              <a:buFont typeface="Arial" panose="020B0604020202020204" pitchFamily="34" charset="0"/>
              <a:buChar char="•"/>
            </a:pPr>
            <a:r>
              <a:rPr lang="en-US" sz="2000" b="1" dirty="0" smtClean="0"/>
              <a:t>Step-14:</a:t>
            </a:r>
            <a:r>
              <a:rPr lang="en-US" sz="2000" dirty="0" smtClean="0"/>
              <a:t> Collect the continuous feedback and upgrade the versions of the product for customer acceptance</a:t>
            </a: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96720" y="116632"/>
            <a:ext cx="2143125" cy="2143125"/>
          </a:xfrm>
          <a:prstGeom prst="rect">
            <a:avLst/>
          </a:prstGeom>
        </p:spPr>
      </p:pic>
      <p:sp>
        <p:nvSpPr>
          <p:cNvPr id="9" name="Oval 8"/>
          <p:cNvSpPr/>
          <p:nvPr/>
        </p:nvSpPr>
        <p:spPr>
          <a:xfrm>
            <a:off x="9696400" y="116632"/>
            <a:ext cx="2304256" cy="214312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20999613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sldNum" sz="quarter" idx="4294967295"/>
          </p:nvPr>
        </p:nvSpPr>
        <p:spPr>
          <a:xfrm>
            <a:off x="9732901" y="5634822"/>
            <a:ext cx="169768" cy="346249"/>
          </a:xfrm>
          <a:prstGeom prst="rect">
            <a:avLst/>
          </a:prstGeom>
        </p:spPr>
        <p:txBody>
          <a:bodyPr vert="horz" wrap="square" lIns="0" tIns="0" rIns="0" bIns="0" rtlCol="0">
            <a:spAutoFit/>
          </a:bodyPr>
          <a:lstStyle/>
          <a:p>
            <a:pPr marL="67239">
              <a:lnSpc>
                <a:spcPts val="922"/>
              </a:lnSpc>
            </a:pPr>
            <a:fld id="{81D60167-4931-47E6-BA6A-407CBD079E47}" type="slidenum">
              <a:rPr spc="-44" dirty="0"/>
              <a:pPr marL="67239">
                <a:lnSpc>
                  <a:spcPts val="922"/>
                </a:lnSpc>
              </a:pPr>
              <a:t>15</a:t>
            </a:fld>
            <a:endParaRPr spc="-44" dirty="0"/>
          </a:p>
        </p:txBody>
      </p:sp>
      <p:sp>
        <p:nvSpPr>
          <p:cNvPr id="7" name="Title 1"/>
          <p:cNvSpPr>
            <a:spLocks noGrp="1"/>
          </p:cNvSpPr>
          <p:nvPr>
            <p:ph type="title"/>
          </p:nvPr>
        </p:nvSpPr>
        <p:spPr>
          <a:xfrm>
            <a:off x="0" y="-27384"/>
            <a:ext cx="12192000" cy="633412"/>
          </a:xfrm>
          <a:solidFill>
            <a:srgbClr val="3333FF"/>
          </a:solidFill>
        </p:spPr>
        <p:txBody>
          <a:bodyPr>
            <a:normAutofit/>
          </a:bodyPr>
          <a:lstStyle/>
          <a:p>
            <a:r>
              <a:rPr lang="en-IN" sz="3200" b="1" dirty="0" smtClean="0">
                <a:solidFill>
                  <a:schemeClr val="bg1"/>
                </a:solidFill>
              </a:rPr>
              <a:t>Business Strategy, Challenges and Business Model - Activity</a:t>
            </a:r>
            <a:endParaRPr lang="en-IN" sz="3200" b="1" dirty="0">
              <a:solidFill>
                <a:schemeClr val="bg1"/>
              </a:solidFill>
            </a:endParaRPr>
          </a:p>
        </p:txBody>
      </p:sp>
      <p:sp>
        <p:nvSpPr>
          <p:cNvPr id="2" name="TextBox 1"/>
          <p:cNvSpPr txBox="1"/>
          <p:nvPr/>
        </p:nvSpPr>
        <p:spPr>
          <a:xfrm>
            <a:off x="3647728" y="764704"/>
            <a:ext cx="1800200" cy="523220"/>
          </a:xfrm>
          <a:prstGeom prst="rect">
            <a:avLst/>
          </a:prstGeom>
          <a:noFill/>
        </p:spPr>
        <p:txBody>
          <a:bodyPr wrap="square" rtlCol="0">
            <a:spAutoFit/>
          </a:bodyPr>
          <a:lstStyle/>
          <a:p>
            <a:pPr algn="ctr"/>
            <a:r>
              <a:rPr lang="en-US" sz="2800" b="1" dirty="0" smtClean="0">
                <a:solidFill>
                  <a:srgbClr val="C00000"/>
                </a:solidFill>
              </a:rPr>
              <a:t>Activity </a:t>
            </a:r>
            <a:endParaRPr lang="en-IN" sz="2800" b="1" dirty="0">
              <a:solidFill>
                <a:srgbClr val="C00000"/>
              </a:solidFill>
            </a:endParaRPr>
          </a:p>
        </p:txBody>
      </p:sp>
      <p:sp>
        <p:nvSpPr>
          <p:cNvPr id="3" name="5-Point Star 2"/>
          <p:cNvSpPr/>
          <p:nvPr/>
        </p:nvSpPr>
        <p:spPr>
          <a:xfrm>
            <a:off x="2038902" y="684729"/>
            <a:ext cx="814796" cy="577338"/>
          </a:xfrm>
          <a:prstGeom prst="star5">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5-Point Star 7"/>
          <p:cNvSpPr/>
          <p:nvPr/>
        </p:nvSpPr>
        <p:spPr>
          <a:xfrm>
            <a:off x="71978" y="684729"/>
            <a:ext cx="814796" cy="577338"/>
          </a:xfrm>
          <a:prstGeom prst="star5">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C00000"/>
              </a:solidFill>
            </a:endParaRPr>
          </a:p>
        </p:txBody>
      </p:sp>
      <p:sp>
        <p:nvSpPr>
          <p:cNvPr id="9" name="5-Point Star 8"/>
          <p:cNvSpPr/>
          <p:nvPr/>
        </p:nvSpPr>
        <p:spPr>
          <a:xfrm>
            <a:off x="1055440" y="710586"/>
            <a:ext cx="814796" cy="577338"/>
          </a:xfrm>
          <a:prstGeom prst="star5">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2" name="object 3"/>
          <p:cNvPicPr/>
          <p:nvPr/>
        </p:nvPicPr>
        <p:blipFill>
          <a:blip r:embed="rId3" cstate="print"/>
          <a:stretch>
            <a:fillRect/>
          </a:stretch>
        </p:blipFill>
        <p:spPr>
          <a:xfrm>
            <a:off x="8172212" y="692696"/>
            <a:ext cx="3670271" cy="2952327"/>
          </a:xfrm>
          <a:prstGeom prst="rect">
            <a:avLst/>
          </a:prstGeom>
        </p:spPr>
      </p:pic>
      <p:pic>
        <p:nvPicPr>
          <p:cNvPr id="11" name="Picture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172212" y="3717031"/>
            <a:ext cx="3712062" cy="2577626"/>
          </a:xfrm>
          <a:prstGeom prst="rect">
            <a:avLst/>
          </a:prstGeom>
        </p:spPr>
      </p:pic>
      <p:sp>
        <p:nvSpPr>
          <p:cNvPr id="4" name="TextBox 3"/>
          <p:cNvSpPr txBox="1"/>
          <p:nvPr/>
        </p:nvSpPr>
        <p:spPr>
          <a:xfrm>
            <a:off x="263352" y="1571612"/>
            <a:ext cx="7547160" cy="3785652"/>
          </a:xfrm>
          <a:prstGeom prst="rect">
            <a:avLst/>
          </a:prstGeom>
          <a:noFill/>
          <a:ln>
            <a:solidFill>
              <a:srgbClr val="FF3300"/>
            </a:solidFill>
          </a:ln>
        </p:spPr>
        <p:txBody>
          <a:bodyPr wrap="square" rtlCol="0">
            <a:spAutoFit/>
          </a:bodyPr>
          <a:lstStyle/>
          <a:p>
            <a:pPr marL="285750" indent="-285750">
              <a:lnSpc>
                <a:spcPct val="150000"/>
              </a:lnSpc>
              <a:buFont typeface="Arial" panose="020B0604020202020204" pitchFamily="34" charset="0"/>
              <a:buChar char="•"/>
            </a:pPr>
            <a:r>
              <a:rPr lang="en-US" sz="2000" dirty="0"/>
              <a:t>Students should </a:t>
            </a:r>
            <a:r>
              <a:rPr lang="en-US" sz="2000" dirty="0" smtClean="0"/>
              <a:t>identify a problem for Business development </a:t>
            </a:r>
          </a:p>
          <a:p>
            <a:pPr marL="742950" lvl="1" indent="-285750">
              <a:lnSpc>
                <a:spcPct val="150000"/>
              </a:lnSpc>
              <a:buFont typeface="Arial" panose="020B0604020202020204" pitchFamily="34" charset="0"/>
              <a:buChar char="•"/>
            </a:pPr>
            <a:r>
              <a:rPr lang="en-US" sz="2000" dirty="0" smtClean="0"/>
              <a:t>any household accessories </a:t>
            </a:r>
            <a:r>
              <a:rPr lang="en-US" sz="2000" dirty="0" err="1" smtClean="0"/>
              <a:t>eg</a:t>
            </a:r>
            <a:r>
              <a:rPr lang="en-US" sz="2000" dirty="0" smtClean="0"/>
              <a:t>. TV, AC, Washing machine, smart watch, smart phone etc., </a:t>
            </a:r>
          </a:p>
          <a:p>
            <a:pPr marL="742950" lvl="1" indent="-285750">
              <a:lnSpc>
                <a:spcPct val="150000"/>
              </a:lnSpc>
              <a:buFont typeface="Arial" panose="020B0604020202020204" pitchFamily="34" charset="0"/>
              <a:buChar char="•"/>
            </a:pPr>
            <a:r>
              <a:rPr lang="en-US" sz="2000" dirty="0" smtClean="0"/>
              <a:t>or automobiles </a:t>
            </a:r>
            <a:r>
              <a:rPr lang="en-US" sz="2000" dirty="0" err="1" smtClean="0"/>
              <a:t>eg</a:t>
            </a:r>
            <a:r>
              <a:rPr lang="en-US" sz="2000" dirty="0" smtClean="0"/>
              <a:t>. Scooter, Bike, Car etc. </a:t>
            </a:r>
          </a:p>
          <a:p>
            <a:pPr marL="742950" lvl="1" indent="-285750">
              <a:lnSpc>
                <a:spcPct val="150000"/>
              </a:lnSpc>
              <a:buFont typeface="Arial" panose="020B0604020202020204" pitchFamily="34" charset="0"/>
              <a:buChar char="•"/>
            </a:pPr>
            <a:r>
              <a:rPr lang="en-US" sz="2000" dirty="0" smtClean="0"/>
              <a:t>or any other</a:t>
            </a:r>
          </a:p>
          <a:p>
            <a:pPr marL="285750" indent="-285750">
              <a:lnSpc>
                <a:spcPct val="150000"/>
              </a:lnSpc>
              <a:buFont typeface="Arial" panose="020B0604020202020204" pitchFamily="34" charset="0"/>
              <a:buChar char="•"/>
            </a:pPr>
            <a:r>
              <a:rPr lang="en-US" sz="2000" dirty="0" smtClean="0"/>
              <a:t>Identify and list out the Challenges anticipated in their Business</a:t>
            </a:r>
          </a:p>
          <a:p>
            <a:pPr marL="285750" indent="-285750">
              <a:lnSpc>
                <a:spcPct val="150000"/>
              </a:lnSpc>
              <a:buFont typeface="Arial" panose="020B0604020202020204" pitchFamily="34" charset="0"/>
              <a:buChar char="•"/>
            </a:pPr>
            <a:r>
              <a:rPr lang="en-US" sz="2000" dirty="0" smtClean="0"/>
              <a:t>Develop their own Business strategies, and the Business Model</a:t>
            </a:r>
          </a:p>
          <a:p>
            <a:pPr marL="285750" indent="-285750">
              <a:lnSpc>
                <a:spcPct val="150000"/>
              </a:lnSpc>
              <a:buFont typeface="Arial" panose="020B0604020202020204" pitchFamily="34" charset="0"/>
              <a:buChar char="•"/>
            </a:pPr>
            <a:r>
              <a:rPr lang="en-US" sz="2000" dirty="0" smtClean="0"/>
              <a:t>Illustrate the steps undertaken in the process</a:t>
            </a:r>
          </a:p>
        </p:txBody>
      </p:sp>
    </p:spTree>
    <p:extLst>
      <p:ext uri="{BB962C8B-B14F-4D97-AF65-F5344CB8AC3E}">
        <p14:creationId xmlns:p14="http://schemas.microsoft.com/office/powerpoint/2010/main" val="19804613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91544" y="1257683"/>
            <a:ext cx="8225094" cy="4331558"/>
          </a:xfrm>
          <a:prstGeom prst="rect">
            <a:avLst/>
          </a:prstGeom>
        </p:spPr>
      </p:pic>
      <p:sp>
        <p:nvSpPr>
          <p:cNvPr id="5" name="Rectangle 4"/>
          <p:cNvSpPr/>
          <p:nvPr/>
        </p:nvSpPr>
        <p:spPr>
          <a:xfrm>
            <a:off x="623392" y="476672"/>
            <a:ext cx="11017224" cy="597666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Slide Number Placeholder 1"/>
          <p:cNvSpPr>
            <a:spLocks noGrp="1"/>
          </p:cNvSpPr>
          <p:nvPr>
            <p:ph type="sldNum" sz="quarter" idx="12"/>
          </p:nvPr>
        </p:nvSpPr>
        <p:spPr/>
        <p:txBody>
          <a:bodyPr/>
          <a:lstStyle/>
          <a:p>
            <a:fld id="{F5C292C0-B0FF-4DAD-AFC8-67CB345CA3F6}" type="slidenum">
              <a:rPr lang="en-IN" smtClean="0"/>
              <a:pPr/>
              <a:t>16</a:t>
            </a:fld>
            <a:endParaRPr lang="en-IN"/>
          </a:p>
        </p:txBody>
      </p:sp>
    </p:spTree>
    <p:extLst>
      <p:ext uri="{BB962C8B-B14F-4D97-AF65-F5344CB8AC3E}">
        <p14:creationId xmlns:p14="http://schemas.microsoft.com/office/powerpoint/2010/main" val="10132899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1569</TotalTime>
  <Words>1513</Words>
  <Application>Microsoft Office PowerPoint</Application>
  <PresentationFormat>Widescreen</PresentationFormat>
  <Paragraphs>203</Paragraphs>
  <Slides>16</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Bookman Old Style</vt:lpstr>
      <vt:lpstr>Calibri</vt:lpstr>
      <vt:lpstr>Office Theme</vt:lpstr>
      <vt:lpstr>DESIGN THINKING AND INNOVATION</vt:lpstr>
      <vt:lpstr>Elements of Design Thinking</vt:lpstr>
      <vt:lpstr>Elements of Design Thinking</vt:lpstr>
      <vt:lpstr>Design Thinking in Business Innovation</vt:lpstr>
      <vt:lpstr>Implementing Design Thinking in Business Strategy</vt:lpstr>
      <vt:lpstr>Principles of Design Thinking in  Strategic Innovation</vt:lpstr>
      <vt:lpstr>Benefits of Design Thinking in  Strategic Innovation</vt:lpstr>
      <vt:lpstr>Business Challenges</vt:lpstr>
      <vt:lpstr>Design Thinking in Predicting Business Challenges</vt:lpstr>
      <vt:lpstr>Business Models</vt:lpstr>
      <vt:lpstr>Components of Business Models</vt:lpstr>
      <vt:lpstr>Components of Business Models</vt:lpstr>
      <vt:lpstr>Testing of Business Models</vt:lpstr>
      <vt:lpstr>Process of Developing and Testing the Business Models</vt:lpstr>
      <vt:lpstr>Business Strategy, Challenges and Business Model - Activity</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Microsoft account</cp:lastModifiedBy>
  <cp:revision>188</cp:revision>
  <dcterms:created xsi:type="dcterms:W3CDTF">2024-12-26T04:05:46Z</dcterms:created>
  <dcterms:modified xsi:type="dcterms:W3CDTF">2026-03-22T13:49:08Z</dcterms:modified>
</cp:coreProperties>
</file>