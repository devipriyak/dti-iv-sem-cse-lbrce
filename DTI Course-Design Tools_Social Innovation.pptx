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jpg" ContentType="image/jp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media/image10.jpg" ContentType="image/jpeg"/>
  <Override PartName="/ppt/media/image15.jpg" ContentType="image/jpeg"/>
  <Override PartName="/ppt/media/image18.jpg" ContentType="image/jpeg"/>
  <Override PartName="/ppt/media/image19.jpg" ContentType="image/jpeg"/>
  <Override PartName="/ppt/notesSlides/notesSlide1.xml" ContentType="application/vnd.openxmlformats-officedocument.presentationml.notesSlide+xml"/>
  <Override PartName="/ppt/media/image21.jpg" ContentType="image/jpeg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0"/>
  </p:notesMasterIdLst>
  <p:sldIdLst>
    <p:sldId id="290" r:id="rId2"/>
    <p:sldId id="262" r:id="rId3"/>
    <p:sldId id="258" r:id="rId4"/>
    <p:sldId id="295" r:id="rId5"/>
    <p:sldId id="323" r:id="rId6"/>
    <p:sldId id="325" r:id="rId7"/>
    <p:sldId id="324" r:id="rId8"/>
    <p:sldId id="321" r:id="rId9"/>
    <p:sldId id="322" r:id="rId10"/>
    <p:sldId id="320" r:id="rId11"/>
    <p:sldId id="326" r:id="rId12"/>
    <p:sldId id="327" r:id="rId13"/>
    <p:sldId id="328" r:id="rId14"/>
    <p:sldId id="329" r:id="rId15"/>
    <p:sldId id="301" r:id="rId16"/>
    <p:sldId id="330" r:id="rId17"/>
    <p:sldId id="319" r:id="rId18"/>
    <p:sldId id="280" r:id="rId1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 xmlns="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3333FF"/>
    <a:srgbClr val="FF3300"/>
    <a:srgbClr val="FF9933"/>
    <a:srgbClr val="0000FF"/>
    <a:srgbClr val="FF3399"/>
    <a:srgbClr val="006600"/>
    <a:srgbClr val="0066FF"/>
    <a:srgbClr val="FF99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xmlns="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>
        <p:scale>
          <a:sx n="76" d="100"/>
          <a:sy n="76" d="100"/>
        </p:scale>
        <p:origin x="-480" y="210"/>
      </p:cViewPr>
      <p:guideLst>
        <p:guide orient="horz" pos="2160"/>
        <p:guide pos="384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 varScale="1">
      <p:scale>
        <a:sx n="1" d="1"/>
        <a:sy n="1" d="1"/>
      </p:scale>
      <p:origin x="0" y="-1752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B340993-5D51-410F-831E-C7D6C3FC6C9D}" type="datetimeFigureOut">
              <a:rPr lang="en-IN" smtClean="0"/>
              <a:t>19-02-2025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BA56AD6-7EAA-43A0-B422-3816FBA76F8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0773533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BA56AD6-7EAA-43A0-B422-3816FBA76F81}" type="slidenum">
              <a:rPr lang="en-IN" smtClean="0"/>
              <a:t>17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5339312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6"/>
            <a:ext cx="103632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E96280-2DD8-4637-AEF8-FD341147BCD2}" type="datetime1">
              <a:rPr lang="en-US" smtClean="0"/>
              <a:t>2/19/2025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C292C0-B0FF-4DAD-AFC8-67CB345CA3F6}" type="slidenum">
              <a:rPr lang="en-IN" smtClean="0"/>
              <a:pPr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8C0E23-58D2-406D-9AD1-2404728CFFA6}" type="datetime1">
              <a:rPr lang="en-US" smtClean="0"/>
              <a:t>2/19/2025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C292C0-B0FF-4DAD-AFC8-67CB345CA3F6}" type="slidenum">
              <a:rPr lang="en-IN" smtClean="0"/>
              <a:pPr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2BA738-6D80-48A1-8BCD-D6BE169D7B03}" type="datetime1">
              <a:rPr lang="en-US" smtClean="0"/>
              <a:t>2/19/2025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C292C0-B0FF-4DAD-AFC8-67CB345CA3F6}" type="slidenum">
              <a:rPr lang="en-IN" smtClean="0"/>
              <a:pPr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D331A3-FAB7-48B6-B0E1-D1F10E24C426}" type="datetime1">
              <a:rPr lang="en-US" smtClean="0"/>
              <a:t>2/19/2025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C292C0-B0FF-4DAD-AFC8-67CB345CA3F6}" type="slidenum">
              <a:rPr lang="en-IN" smtClean="0"/>
              <a:pPr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8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8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6D1E56-D4EC-464E-BF1C-EBBF7856C257}" type="datetime1">
              <a:rPr lang="en-US" smtClean="0"/>
              <a:t>2/19/2025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C292C0-B0FF-4DAD-AFC8-67CB345CA3F6}" type="slidenum">
              <a:rPr lang="en-IN" smtClean="0"/>
              <a:pPr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3314FD-2DD5-47C7-9063-0FE1ACDAB2C6}" type="datetime1">
              <a:rPr lang="en-US" smtClean="0"/>
              <a:t>2/19/2025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C292C0-B0FF-4DAD-AFC8-67CB345CA3F6}" type="slidenum">
              <a:rPr lang="en-IN" smtClean="0"/>
              <a:pPr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5F5E16-B69D-4C21-A0BA-B8E2BF0B31B0}" type="datetime1">
              <a:rPr lang="en-US" smtClean="0"/>
              <a:t>2/19/2025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C292C0-B0FF-4DAD-AFC8-67CB345CA3F6}" type="slidenum">
              <a:rPr lang="en-IN" smtClean="0"/>
              <a:pPr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1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1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1" y="1435101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27A03D-856C-4B78-9D18-6EFF78581535}" type="datetime1">
              <a:rPr lang="en-US" smtClean="0"/>
              <a:t>2/19/2025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C292C0-B0FF-4DAD-AFC8-67CB345CA3F6}" type="slidenum">
              <a:rPr lang="en-IN" smtClean="0"/>
              <a:pPr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4E3F39-0EA5-44AF-A791-E1653585019B}" type="datetime1">
              <a:rPr lang="en-US" smtClean="0"/>
              <a:t>2/19/2025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C292C0-B0FF-4DAD-AFC8-67CB345CA3F6}" type="slidenum">
              <a:rPr lang="en-IN" smtClean="0"/>
              <a:pPr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66CF84-CA24-49DB-A530-89F9925E528A}" type="datetime1">
              <a:rPr lang="en-US" smtClean="0"/>
              <a:t>2/19/2025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C292C0-B0FF-4DAD-AFC8-67CB345CA3F6}" type="slidenum">
              <a:rPr lang="en-IN" smtClean="0"/>
              <a:pPr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39"/>
            <a:ext cx="27432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39"/>
            <a:ext cx="80264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068D27-62C9-4106-A485-46065231F5DA}" type="datetime1">
              <a:rPr lang="en-US" smtClean="0"/>
              <a:t>2/19/2025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C292C0-B0FF-4DAD-AFC8-67CB345CA3F6}" type="slidenum">
              <a:rPr lang="en-IN" smtClean="0"/>
              <a:pPr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600201"/>
            <a:ext cx="109728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71FA180-EDEF-4285-B883-B806A21B4528}" type="datetime1">
              <a:rPr lang="en-US" smtClean="0"/>
              <a:t>2/19/2025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5C292C0-B0FF-4DAD-AFC8-67CB345CA3F6}" type="slidenum">
              <a:rPr lang="en-IN" smtClean="0"/>
              <a:pPr/>
              <a:t>‹#›</a:t>
            </a:fld>
            <a:endParaRPr lang="en-I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g"/><Relationship Id="rId2" Type="http://schemas.openxmlformats.org/officeDocument/2006/relationships/image" Target="../media/image7.jpg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9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g"/><Relationship Id="rId2" Type="http://schemas.openxmlformats.org/officeDocument/2006/relationships/image" Target="../media/image10.jpg"/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6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6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jpg"/><Relationship Id="rId1" Type="http://schemas.openxmlformats.org/officeDocument/2006/relationships/slideLayout" Target="../slideLayouts/slideLayout6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jpeg"/><Relationship Id="rId1" Type="http://schemas.openxmlformats.org/officeDocument/2006/relationships/slideLayout" Target="../slideLayouts/slideLayout6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jpg"/><Relationship Id="rId1" Type="http://schemas.openxmlformats.org/officeDocument/2006/relationships/slideLayout" Target="../slideLayouts/slideLayout6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jpg"/><Relationship Id="rId1" Type="http://schemas.openxmlformats.org/officeDocument/2006/relationships/slideLayout" Target="../slideLayouts/slideLayout6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22.jpeg"/><Relationship Id="rId4" Type="http://schemas.openxmlformats.org/officeDocument/2006/relationships/image" Target="../media/image21.jpg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-24"/>
            <a:ext cx="12192000" cy="857256"/>
          </a:xfrm>
          <a:solidFill>
            <a:srgbClr val="0000FF"/>
          </a:solidFill>
        </p:spPr>
        <p:txBody>
          <a:bodyPr>
            <a:normAutofit/>
          </a:bodyPr>
          <a:lstStyle/>
          <a:p>
            <a:r>
              <a:rPr lang="en-IN" sz="4000" b="1" dirty="0">
                <a:solidFill>
                  <a:schemeClr val="bg1"/>
                </a:solidFill>
              </a:rPr>
              <a:t>DESIGN THINKING AND INNOVATION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63352" y="5301208"/>
            <a:ext cx="11665296" cy="1421928"/>
          </a:xfrm>
          <a:prstGeom prst="rect">
            <a:avLst/>
          </a:prstGeom>
          <a:noFill/>
          <a:ln>
            <a:solidFill>
              <a:srgbClr val="FF3300"/>
            </a:solidFill>
          </a:ln>
        </p:spPr>
        <p:txBody>
          <a:bodyPr wrap="square" rtlCol="0">
            <a:spAutoFit/>
          </a:bodyPr>
          <a:lstStyle/>
          <a:p>
            <a:pPr algn="ctr">
              <a:lnSpc>
                <a:spcPct val="120000"/>
              </a:lnSpc>
            </a:pPr>
            <a:r>
              <a:rPr lang="en-IN" sz="2400" b="1" dirty="0">
                <a:solidFill>
                  <a:srgbClr val="C00000"/>
                </a:solidFill>
              </a:rPr>
              <a:t>Dr </a:t>
            </a:r>
            <a:r>
              <a:rPr lang="en-IN" sz="2400" b="1" dirty="0" smtClean="0">
                <a:solidFill>
                  <a:srgbClr val="C00000"/>
                </a:solidFill>
              </a:rPr>
              <a:t>D. </a:t>
            </a:r>
            <a:r>
              <a:rPr lang="en-IN" sz="2400" b="1" dirty="0" err="1" smtClean="0">
                <a:solidFill>
                  <a:srgbClr val="C00000"/>
                </a:solidFill>
              </a:rPr>
              <a:t>Venkata</a:t>
            </a:r>
            <a:r>
              <a:rPr lang="en-IN" sz="2400" b="1" dirty="0" smtClean="0">
                <a:solidFill>
                  <a:srgbClr val="C00000"/>
                </a:solidFill>
              </a:rPr>
              <a:t> </a:t>
            </a:r>
            <a:r>
              <a:rPr lang="en-IN" sz="2400" b="1" dirty="0" err="1" smtClean="0">
                <a:solidFill>
                  <a:srgbClr val="C00000"/>
                </a:solidFill>
              </a:rPr>
              <a:t>Subbaiah</a:t>
            </a:r>
            <a:endParaRPr lang="en-IN" sz="2400" b="1" dirty="0">
              <a:solidFill>
                <a:srgbClr val="C00000"/>
              </a:solidFill>
            </a:endParaRPr>
          </a:p>
          <a:p>
            <a:pPr algn="ctr">
              <a:lnSpc>
                <a:spcPct val="120000"/>
              </a:lnSpc>
            </a:pPr>
            <a:r>
              <a:rPr lang="en-IN" sz="2400" b="1" dirty="0"/>
              <a:t>Professor, </a:t>
            </a:r>
            <a:r>
              <a:rPr lang="en-IN" sz="2400" b="1" dirty="0" smtClean="0"/>
              <a:t>CSE</a:t>
            </a:r>
            <a:r>
              <a:rPr lang="en-IN" sz="2400" b="1" dirty="0" smtClean="0"/>
              <a:t> </a:t>
            </a:r>
            <a:r>
              <a:rPr lang="en-IN" sz="2400" b="1" dirty="0"/>
              <a:t>Department</a:t>
            </a:r>
          </a:p>
          <a:p>
            <a:pPr algn="ctr">
              <a:lnSpc>
                <a:spcPct val="120000"/>
              </a:lnSpc>
            </a:pPr>
            <a:r>
              <a:rPr lang="en-IN" sz="2400" b="1" dirty="0" err="1"/>
              <a:t>Lakireddy</a:t>
            </a:r>
            <a:r>
              <a:rPr lang="en-IN" sz="2400" b="1" dirty="0"/>
              <a:t> Bali Reddy College of Engineering (A), </a:t>
            </a:r>
            <a:r>
              <a:rPr lang="en-IN" sz="2400" b="1" dirty="0" err="1"/>
              <a:t>Mylavaram</a:t>
            </a:r>
            <a:endParaRPr lang="en-IN" sz="2400" b="1" dirty="0"/>
          </a:p>
        </p:txBody>
      </p:sp>
      <p:sp>
        <p:nvSpPr>
          <p:cNvPr id="16386" name="AutoShape 2" descr="Design Thinking for Product Development at Welingkar"/>
          <p:cNvSpPr>
            <a:spLocks noChangeAspect="1" noChangeArrowheads="1"/>
          </p:cNvSpPr>
          <p:nvPr/>
        </p:nvSpPr>
        <p:spPr bwMode="auto">
          <a:xfrm>
            <a:off x="1679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23792" y="1412776"/>
            <a:ext cx="3024336" cy="3024336"/>
          </a:xfrm>
          <a:prstGeom prst="rect">
            <a:avLst/>
          </a:prstGeom>
        </p:spPr>
      </p:pic>
      <p:sp>
        <p:nvSpPr>
          <p:cNvPr id="4" name="Oval 3"/>
          <p:cNvSpPr/>
          <p:nvPr/>
        </p:nvSpPr>
        <p:spPr>
          <a:xfrm>
            <a:off x="4079776" y="1196752"/>
            <a:ext cx="3456384" cy="3600400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C292C0-B0FF-4DAD-AFC8-67CB345CA3F6}" type="slidenum">
              <a:rPr lang="en-IN" smtClean="0"/>
              <a:pPr/>
              <a:t>1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1883567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-24"/>
            <a:ext cx="12192000" cy="642942"/>
          </a:xfrm>
          <a:solidFill>
            <a:srgbClr val="0000FF"/>
          </a:solidFill>
        </p:spPr>
        <p:txBody>
          <a:bodyPr>
            <a:normAutofit/>
          </a:bodyPr>
          <a:lstStyle/>
          <a:p>
            <a:r>
              <a:rPr lang="en-IN" sz="3200" b="1" dirty="0">
                <a:solidFill>
                  <a:schemeClr val="bg1"/>
                </a:solidFill>
              </a:rPr>
              <a:t>Elements of Design Thinking</a:t>
            </a:r>
          </a:p>
        </p:txBody>
      </p:sp>
      <p:pic>
        <p:nvPicPr>
          <p:cNvPr id="4" name="Picture 3" descr="DT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8010" y="1120848"/>
            <a:ext cx="11032566" cy="5569735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952596" y="1059404"/>
            <a:ext cx="292895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i="1" dirty="0">
                <a:solidFill>
                  <a:srgbClr val="FF3300"/>
                </a:solidFill>
              </a:rPr>
              <a:t>Innovation/Outcome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C292C0-B0FF-4DAD-AFC8-67CB345CA3F6}" type="slidenum">
              <a:rPr lang="en-IN" smtClean="0"/>
              <a:pPr/>
              <a:t>2</a:t>
            </a:fld>
            <a:endParaRPr lang="en-IN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22737"/>
            <a:ext cx="12192000" cy="571504"/>
          </a:xfrm>
          <a:solidFill>
            <a:srgbClr val="0000FF"/>
          </a:solidFill>
        </p:spPr>
        <p:txBody>
          <a:bodyPr>
            <a:normAutofit fontScale="90000"/>
          </a:bodyPr>
          <a:lstStyle/>
          <a:p>
            <a:r>
              <a:rPr lang="en-IN" sz="3600" b="1" dirty="0">
                <a:solidFill>
                  <a:schemeClr val="bg1"/>
                </a:solidFill>
              </a:rPr>
              <a:t>Elements of Design Thinking</a:t>
            </a:r>
          </a:p>
        </p:txBody>
      </p:sp>
      <p:pic>
        <p:nvPicPr>
          <p:cNvPr id="4" name="Picture 3" descr="DT2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66976" y="723644"/>
            <a:ext cx="7215238" cy="5576349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3024166" y="6429396"/>
            <a:ext cx="1071570" cy="338554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IN" sz="1600" b="1" dirty="0">
                <a:solidFill>
                  <a:srgbClr val="FF0000"/>
                </a:solidFill>
              </a:rPr>
              <a:t>INSIGHTS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24364" y="6448032"/>
            <a:ext cx="928694" cy="338554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IN" sz="1600" b="1" dirty="0">
                <a:solidFill>
                  <a:srgbClr val="FF0000"/>
                </a:solidFill>
              </a:rPr>
              <a:t>NEEDS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595934" y="6448033"/>
            <a:ext cx="1148138" cy="338554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IN" sz="1600" b="1" dirty="0">
                <a:solidFill>
                  <a:srgbClr val="FF0000"/>
                </a:solidFill>
              </a:rPr>
              <a:t>CONCEPTS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81818" y="6448032"/>
            <a:ext cx="1071570" cy="338554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IN" sz="1600" b="1" dirty="0">
                <a:solidFill>
                  <a:srgbClr val="FF0000"/>
                </a:solidFill>
              </a:rPr>
              <a:t>MODELS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382016" y="6429396"/>
            <a:ext cx="1071570" cy="338554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IN" sz="1600" b="1" dirty="0">
                <a:solidFill>
                  <a:srgbClr val="FF0000"/>
                </a:solidFill>
              </a:rPr>
              <a:t>REFINE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C292C0-B0FF-4DAD-AFC8-67CB345CA3F6}" type="slidenum">
              <a:rPr lang="en-IN" smtClean="0"/>
              <a:pPr/>
              <a:t>3</a:t>
            </a:fld>
            <a:endParaRPr lang="en-IN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object 5"/>
          <p:cNvSpPr txBox="1">
            <a:spLocks noGrp="1"/>
          </p:cNvSpPr>
          <p:nvPr>
            <p:ph type="sldNum" sz="quarter" idx="4294967295"/>
          </p:nvPr>
        </p:nvSpPr>
        <p:spPr>
          <a:xfrm>
            <a:off x="9732901" y="5634822"/>
            <a:ext cx="169768" cy="34624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67239">
              <a:lnSpc>
                <a:spcPts val="922"/>
              </a:lnSpc>
            </a:pPr>
            <a:fld id="{81D60167-4931-47E6-BA6A-407CBD079E47}" type="slidenum">
              <a:rPr spc="-44" dirty="0"/>
              <a:pPr marL="67239">
                <a:lnSpc>
                  <a:spcPts val="922"/>
                </a:lnSpc>
              </a:pPr>
              <a:t>4</a:t>
            </a:fld>
            <a:endParaRPr spc="-44" dirty="0"/>
          </a:p>
        </p:txBody>
      </p:sp>
      <p:sp>
        <p:nvSpPr>
          <p:cNvPr id="7" name="Title 1"/>
          <p:cNvSpPr>
            <a:spLocks noGrp="1"/>
          </p:cNvSpPr>
          <p:nvPr>
            <p:ph type="title"/>
          </p:nvPr>
        </p:nvSpPr>
        <p:spPr>
          <a:xfrm>
            <a:off x="0" y="-27384"/>
            <a:ext cx="12192000" cy="633412"/>
          </a:xfrm>
          <a:solidFill>
            <a:srgbClr val="0000FF"/>
          </a:solidFill>
        </p:spPr>
        <p:txBody>
          <a:bodyPr>
            <a:noAutofit/>
          </a:bodyPr>
          <a:lstStyle/>
          <a:p>
            <a:r>
              <a:rPr lang="en-IN" sz="3600" b="1" dirty="0" smtClean="0">
                <a:solidFill>
                  <a:schemeClr val="bg1"/>
                </a:solidFill>
              </a:rPr>
              <a:t>Design Thinking Tools</a:t>
            </a:r>
            <a:endParaRPr lang="en-IN" sz="3600" b="1" dirty="0">
              <a:solidFill>
                <a:schemeClr val="bg1"/>
              </a:solidFill>
            </a:endParaRPr>
          </a:p>
        </p:txBody>
      </p:sp>
      <p:sp>
        <p:nvSpPr>
          <p:cNvPr id="10" name="Content Placeholder 2"/>
          <p:cNvSpPr txBox="1">
            <a:spLocks/>
          </p:cNvSpPr>
          <p:nvPr/>
        </p:nvSpPr>
        <p:spPr>
          <a:xfrm>
            <a:off x="263352" y="1052736"/>
            <a:ext cx="4392488" cy="5040560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>
            <a:solidFill>
              <a:schemeClr val="accent1"/>
            </a:solidFill>
          </a:ln>
        </p:spPr>
        <p:txBody>
          <a:bodyPr>
            <a:normAutofit lnSpcReduction="10000"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50000"/>
              </a:lnSpc>
            </a:pPr>
            <a:r>
              <a:rPr lang="en-US" sz="2800" b="1" dirty="0" smtClean="0">
                <a:solidFill>
                  <a:srgbClr val="0000FF"/>
                </a:solidFill>
                <a:latin typeface="Arial Narrow" panose="020B0606020202030204" pitchFamily="34" charset="0"/>
              </a:rPr>
              <a:t>Persona</a:t>
            </a:r>
          </a:p>
          <a:p>
            <a:pPr>
              <a:lnSpc>
                <a:spcPct val="150000"/>
              </a:lnSpc>
            </a:pPr>
            <a:r>
              <a:rPr lang="en-US" sz="2800" b="1" dirty="0" smtClean="0">
                <a:solidFill>
                  <a:srgbClr val="0000FF"/>
                </a:solidFill>
                <a:latin typeface="Arial Narrow" panose="020B0606020202030204" pitchFamily="34" charset="0"/>
              </a:rPr>
              <a:t>Customer Journey Maps</a:t>
            </a:r>
          </a:p>
          <a:p>
            <a:pPr>
              <a:lnSpc>
                <a:spcPct val="150000"/>
              </a:lnSpc>
            </a:pPr>
            <a:r>
              <a:rPr lang="en-US" sz="2800" b="1" dirty="0" smtClean="0">
                <a:solidFill>
                  <a:srgbClr val="0000FF"/>
                </a:solidFill>
                <a:latin typeface="Arial Narrow" panose="020B0606020202030204" pitchFamily="34" charset="0"/>
              </a:rPr>
              <a:t>Brainstorming</a:t>
            </a:r>
          </a:p>
          <a:p>
            <a:pPr>
              <a:lnSpc>
                <a:spcPct val="150000"/>
              </a:lnSpc>
            </a:pPr>
            <a:r>
              <a:rPr lang="en-US" sz="2800" b="1" dirty="0" smtClean="0">
                <a:solidFill>
                  <a:srgbClr val="0000FF"/>
                </a:solidFill>
                <a:latin typeface="Arial Narrow" panose="020B0606020202030204" pitchFamily="34" charset="0"/>
              </a:rPr>
              <a:t>Empathy Mapping</a:t>
            </a:r>
          </a:p>
          <a:p>
            <a:pPr>
              <a:lnSpc>
                <a:spcPct val="150000"/>
              </a:lnSpc>
            </a:pPr>
            <a:r>
              <a:rPr lang="en-US" sz="2800" b="1" dirty="0" smtClean="0">
                <a:solidFill>
                  <a:srgbClr val="0000FF"/>
                </a:solidFill>
                <a:latin typeface="Arial Narrow" panose="020B0606020202030204" pitchFamily="34" charset="0"/>
              </a:rPr>
              <a:t>Story Boarding</a:t>
            </a:r>
          </a:p>
          <a:p>
            <a:pPr>
              <a:lnSpc>
                <a:spcPct val="150000"/>
              </a:lnSpc>
            </a:pPr>
            <a:r>
              <a:rPr lang="en-US" sz="2800" b="1" dirty="0" smtClean="0">
                <a:solidFill>
                  <a:srgbClr val="0000FF"/>
                </a:solidFill>
                <a:latin typeface="Arial Narrow" panose="020B0606020202030204" pitchFamily="34" charset="0"/>
              </a:rPr>
              <a:t>Prototyping Tools</a:t>
            </a:r>
          </a:p>
          <a:p>
            <a:pPr>
              <a:lnSpc>
                <a:spcPct val="150000"/>
              </a:lnSpc>
            </a:pPr>
            <a:r>
              <a:rPr lang="en-US" sz="2800" b="1" dirty="0" smtClean="0">
                <a:solidFill>
                  <a:srgbClr val="0000FF"/>
                </a:solidFill>
                <a:latin typeface="Arial Narrow" panose="020B0606020202030204" pitchFamily="34" charset="0"/>
              </a:rPr>
              <a:t>SWOT Analysis</a:t>
            </a: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87888" y="1556792"/>
            <a:ext cx="6700292" cy="3810000"/>
          </a:xfrm>
          <a:prstGeom prst="rect">
            <a:avLst/>
          </a:prstGeom>
          <a:ln>
            <a:solidFill>
              <a:srgbClr val="FF3300"/>
            </a:solidFill>
          </a:ln>
        </p:spPr>
      </p:pic>
    </p:spTree>
    <p:extLst>
      <p:ext uri="{BB962C8B-B14F-4D97-AF65-F5344CB8AC3E}">
        <p14:creationId xmlns:p14="http://schemas.microsoft.com/office/powerpoint/2010/main" val="139580514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-24"/>
            <a:ext cx="5807968" cy="620712"/>
          </a:xfrm>
          <a:solidFill>
            <a:srgbClr val="3333FF"/>
          </a:solidFill>
        </p:spPr>
        <p:txBody>
          <a:bodyPr>
            <a:normAutofit/>
          </a:bodyPr>
          <a:lstStyle/>
          <a:p>
            <a:r>
              <a:rPr lang="en-IN" sz="3200" b="1" dirty="0" smtClean="0">
                <a:solidFill>
                  <a:schemeClr val="bg1"/>
                </a:solidFill>
              </a:rPr>
              <a:t>Design Thinking Tools: Persona</a:t>
            </a:r>
            <a:endParaRPr lang="en-IN" sz="3200" b="1" dirty="0">
              <a:solidFill>
                <a:schemeClr val="bg1"/>
              </a:solidFill>
            </a:endParaRPr>
          </a:p>
        </p:txBody>
      </p:sp>
      <p:pic>
        <p:nvPicPr>
          <p:cNvPr id="4" name="Picture 3" descr="DT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23992" y="188640"/>
            <a:ext cx="5884198" cy="6408712"/>
          </a:xfrm>
          <a:prstGeom prst="rect">
            <a:avLst/>
          </a:prstGeom>
          <a:ln>
            <a:solidFill>
              <a:srgbClr val="FF3300"/>
            </a:solidFill>
          </a:ln>
        </p:spPr>
      </p:pic>
      <p:sp>
        <p:nvSpPr>
          <p:cNvPr id="3" name="TextBox 2"/>
          <p:cNvSpPr txBox="1"/>
          <p:nvPr/>
        </p:nvSpPr>
        <p:spPr>
          <a:xfrm>
            <a:off x="119336" y="764704"/>
            <a:ext cx="5544616" cy="3416320"/>
          </a:xfrm>
          <a:prstGeom prst="rect">
            <a:avLst/>
          </a:prstGeom>
          <a:noFill/>
          <a:ln>
            <a:solidFill>
              <a:srgbClr val="00B050"/>
            </a:solidFill>
          </a:ln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400" b="1" dirty="0" smtClean="0">
                <a:solidFill>
                  <a:srgbClr val="C00000"/>
                </a:solidFill>
              </a:rPr>
              <a:t>PERSONA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b="1" dirty="0" smtClean="0">
                <a:solidFill>
                  <a:srgbClr val="0000FF"/>
                </a:solidFill>
              </a:rPr>
              <a:t>A brief CV of a person or Customer or User with short information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b="1" dirty="0" smtClean="0">
                <a:solidFill>
                  <a:srgbClr val="0000FF"/>
                </a:solidFill>
              </a:rPr>
              <a:t>It highlights his particulars, Interests, Aspirations, Challenges, Needs, Values and Behaviors followed by a summary</a:t>
            </a:r>
            <a:endParaRPr lang="en-IN" sz="2400" b="1" dirty="0">
              <a:solidFill>
                <a:srgbClr val="0000FF"/>
              </a:solidFill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C292C0-B0FF-4DAD-AFC8-67CB345CA3F6}" type="slidenum">
              <a:rPr lang="en-IN" smtClean="0"/>
              <a:pPr/>
              <a:t>5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60956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-24"/>
            <a:ext cx="3143672" cy="1124768"/>
          </a:xfrm>
          <a:solidFill>
            <a:srgbClr val="0000FF"/>
          </a:solidFill>
        </p:spPr>
        <p:txBody>
          <a:bodyPr>
            <a:normAutofit/>
          </a:bodyPr>
          <a:lstStyle/>
          <a:p>
            <a:r>
              <a:rPr lang="en-IN" sz="2800" b="1" dirty="0" smtClean="0">
                <a:solidFill>
                  <a:schemeClr val="bg1"/>
                </a:solidFill>
              </a:rPr>
              <a:t>Design Thinking Tools: Persona</a:t>
            </a:r>
            <a:endParaRPr lang="en-IN" sz="2800" b="1" dirty="0">
              <a:solidFill>
                <a:schemeClr val="bg1"/>
              </a:solidFill>
            </a:endParaRPr>
          </a:p>
        </p:txBody>
      </p:sp>
      <p:sp>
        <p:nvSpPr>
          <p:cNvPr id="24580" name="AutoShape 4" descr="80% of Companies Say Growth Mindset ..."/>
          <p:cNvSpPr>
            <a:spLocks noChangeAspect="1" noChangeArrowheads="1"/>
          </p:cNvSpPr>
          <p:nvPr/>
        </p:nvSpPr>
        <p:spPr bwMode="auto">
          <a:xfrm>
            <a:off x="1679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pic>
        <p:nvPicPr>
          <p:cNvPr id="6" name="Picture 5" descr="DT9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87688" y="161758"/>
            <a:ext cx="8568952" cy="6416431"/>
          </a:xfrm>
          <a:prstGeom prst="rect">
            <a:avLst/>
          </a:prstGeom>
          <a:ln>
            <a:solidFill>
              <a:srgbClr val="FF3300"/>
            </a:solidFill>
          </a:ln>
        </p:spPr>
      </p:pic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C292C0-B0FF-4DAD-AFC8-67CB345CA3F6}" type="slidenum">
              <a:rPr lang="en-IN" smtClean="0"/>
              <a:pPr/>
              <a:t>6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6832304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-24"/>
            <a:ext cx="12192000" cy="785819"/>
          </a:xfrm>
          <a:solidFill>
            <a:srgbClr val="0000FF"/>
          </a:solidFill>
        </p:spPr>
        <p:txBody>
          <a:bodyPr>
            <a:normAutofit/>
          </a:bodyPr>
          <a:lstStyle/>
          <a:p>
            <a:r>
              <a:rPr lang="en-IN" sz="3200" b="1" dirty="0" smtClean="0">
                <a:solidFill>
                  <a:schemeClr val="bg1"/>
                </a:solidFill>
              </a:rPr>
              <a:t>Design Thinking Tools: Customer Journey Maps</a:t>
            </a:r>
            <a:endParaRPr lang="en-IN" sz="3200" b="1" dirty="0">
              <a:solidFill>
                <a:schemeClr val="bg1"/>
              </a:solidFill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1775520" y="951111"/>
            <a:ext cx="8352928" cy="461665"/>
          </a:xfrm>
          <a:prstGeom prst="rect">
            <a:avLst/>
          </a:prstGeom>
          <a:noFill/>
          <a:ln>
            <a:solidFill>
              <a:srgbClr val="0066FF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IN" sz="2400" b="1" dirty="0" smtClean="0">
                <a:solidFill>
                  <a:srgbClr val="FF0000"/>
                </a:solidFill>
              </a:rPr>
              <a:t>Customer Journey Maps: Online Purchase of a Product</a:t>
            </a:r>
            <a:endParaRPr lang="en-IN" sz="2400" b="1" dirty="0">
              <a:solidFill>
                <a:srgbClr val="FF0000"/>
              </a:solidFill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407368" y="2060848"/>
            <a:ext cx="1656184" cy="923330"/>
          </a:xfrm>
          <a:prstGeom prst="rect">
            <a:avLst/>
          </a:prstGeom>
          <a:noFill/>
          <a:ln>
            <a:solidFill>
              <a:srgbClr val="0066FF"/>
            </a:solidFill>
          </a:ln>
        </p:spPr>
        <p:txBody>
          <a:bodyPr wrap="square" rtlCol="0">
            <a:spAutoFit/>
          </a:bodyPr>
          <a:lstStyle/>
          <a:p>
            <a:r>
              <a:rPr lang="en-US" b="1" dirty="0" smtClean="0">
                <a:solidFill>
                  <a:srgbClr val="00B050"/>
                </a:solidFill>
              </a:rPr>
              <a:t>Open the App based on requirement</a:t>
            </a:r>
            <a:endParaRPr lang="en-IN" b="1" dirty="0">
              <a:solidFill>
                <a:srgbClr val="00B050"/>
              </a:solidFill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2567608" y="2060848"/>
            <a:ext cx="1656184" cy="646331"/>
          </a:xfrm>
          <a:prstGeom prst="rect">
            <a:avLst/>
          </a:prstGeom>
          <a:noFill/>
          <a:ln>
            <a:solidFill>
              <a:srgbClr val="0066FF"/>
            </a:solidFill>
          </a:ln>
        </p:spPr>
        <p:txBody>
          <a:bodyPr wrap="square" rtlCol="0">
            <a:spAutoFit/>
          </a:bodyPr>
          <a:lstStyle/>
          <a:p>
            <a:r>
              <a:rPr lang="en-US" dirty="0" smtClean="0"/>
              <a:t>Browse the products</a:t>
            </a:r>
            <a:endParaRPr lang="en-IN" dirty="0"/>
          </a:p>
        </p:txBody>
      </p:sp>
      <p:sp>
        <p:nvSpPr>
          <p:cNvPr id="9" name="TextBox 8"/>
          <p:cNvSpPr txBox="1"/>
          <p:nvPr/>
        </p:nvSpPr>
        <p:spPr>
          <a:xfrm>
            <a:off x="4799856" y="2060848"/>
            <a:ext cx="1296144" cy="646331"/>
          </a:xfrm>
          <a:prstGeom prst="rect">
            <a:avLst/>
          </a:prstGeom>
          <a:noFill/>
          <a:ln>
            <a:solidFill>
              <a:srgbClr val="0066FF"/>
            </a:solidFill>
          </a:ln>
        </p:spPr>
        <p:txBody>
          <a:bodyPr wrap="square" rtlCol="0">
            <a:spAutoFit/>
          </a:bodyPr>
          <a:lstStyle/>
          <a:p>
            <a:r>
              <a:rPr lang="en-US" dirty="0" smtClean="0"/>
              <a:t>Select the product</a:t>
            </a:r>
            <a:endParaRPr lang="en-IN" dirty="0"/>
          </a:p>
        </p:txBody>
      </p:sp>
      <p:sp>
        <p:nvSpPr>
          <p:cNvPr id="10" name="TextBox 9"/>
          <p:cNvSpPr txBox="1"/>
          <p:nvPr/>
        </p:nvSpPr>
        <p:spPr>
          <a:xfrm>
            <a:off x="6816080" y="2060848"/>
            <a:ext cx="1584176" cy="646331"/>
          </a:xfrm>
          <a:prstGeom prst="rect">
            <a:avLst/>
          </a:prstGeom>
          <a:noFill/>
          <a:ln>
            <a:solidFill>
              <a:srgbClr val="0066FF"/>
            </a:solidFill>
          </a:ln>
        </p:spPr>
        <p:txBody>
          <a:bodyPr wrap="square" rtlCol="0">
            <a:spAutoFit/>
          </a:bodyPr>
          <a:lstStyle/>
          <a:p>
            <a:r>
              <a:rPr lang="en-US" dirty="0" smtClean="0"/>
              <a:t>Check the specifications</a:t>
            </a:r>
            <a:endParaRPr lang="en-IN" dirty="0"/>
          </a:p>
        </p:txBody>
      </p:sp>
      <p:sp>
        <p:nvSpPr>
          <p:cNvPr id="12" name="TextBox 11"/>
          <p:cNvSpPr txBox="1"/>
          <p:nvPr/>
        </p:nvSpPr>
        <p:spPr>
          <a:xfrm>
            <a:off x="9048328" y="2060848"/>
            <a:ext cx="1656184" cy="646331"/>
          </a:xfrm>
          <a:prstGeom prst="rect">
            <a:avLst/>
          </a:prstGeom>
          <a:noFill/>
          <a:ln>
            <a:solidFill>
              <a:srgbClr val="0066FF"/>
            </a:solidFill>
          </a:ln>
        </p:spPr>
        <p:txBody>
          <a:bodyPr wrap="square" rtlCol="0">
            <a:spAutoFit/>
          </a:bodyPr>
          <a:lstStyle/>
          <a:p>
            <a:r>
              <a:rPr lang="en-US" dirty="0" smtClean="0"/>
              <a:t>Check the rates and Offers</a:t>
            </a:r>
            <a:endParaRPr lang="en-IN" dirty="0"/>
          </a:p>
        </p:txBody>
      </p:sp>
      <p:sp>
        <p:nvSpPr>
          <p:cNvPr id="13" name="TextBox 12"/>
          <p:cNvSpPr txBox="1"/>
          <p:nvPr/>
        </p:nvSpPr>
        <p:spPr>
          <a:xfrm>
            <a:off x="9120336" y="3430741"/>
            <a:ext cx="1656184" cy="646331"/>
          </a:xfrm>
          <a:prstGeom prst="rect">
            <a:avLst/>
          </a:prstGeom>
          <a:noFill/>
          <a:ln>
            <a:solidFill>
              <a:srgbClr val="0066FF"/>
            </a:solidFill>
          </a:ln>
        </p:spPr>
        <p:txBody>
          <a:bodyPr wrap="square" rtlCol="0">
            <a:spAutoFit/>
          </a:bodyPr>
          <a:lstStyle/>
          <a:p>
            <a:r>
              <a:rPr lang="en-US" dirty="0" smtClean="0"/>
              <a:t>Open another App</a:t>
            </a:r>
            <a:endParaRPr lang="en-IN" dirty="0"/>
          </a:p>
        </p:txBody>
      </p:sp>
      <p:sp>
        <p:nvSpPr>
          <p:cNvPr id="14" name="TextBox 13"/>
          <p:cNvSpPr txBox="1"/>
          <p:nvPr/>
        </p:nvSpPr>
        <p:spPr>
          <a:xfrm>
            <a:off x="5159896" y="3430741"/>
            <a:ext cx="3312368" cy="646331"/>
          </a:xfrm>
          <a:prstGeom prst="rect">
            <a:avLst/>
          </a:prstGeom>
          <a:noFill/>
          <a:ln>
            <a:solidFill>
              <a:srgbClr val="0066FF"/>
            </a:solidFill>
          </a:ln>
        </p:spPr>
        <p:txBody>
          <a:bodyPr wrap="square" rtlCol="0">
            <a:spAutoFit/>
          </a:bodyPr>
          <a:lstStyle/>
          <a:p>
            <a:r>
              <a:rPr lang="en-US" dirty="0" smtClean="0"/>
              <a:t>Repeat the Process: Product selection, Specs, Price Discounts</a:t>
            </a:r>
            <a:endParaRPr lang="en-IN" dirty="0"/>
          </a:p>
        </p:txBody>
      </p:sp>
      <p:sp>
        <p:nvSpPr>
          <p:cNvPr id="15" name="TextBox 14"/>
          <p:cNvSpPr txBox="1"/>
          <p:nvPr/>
        </p:nvSpPr>
        <p:spPr>
          <a:xfrm>
            <a:off x="2711624" y="3429000"/>
            <a:ext cx="1656184" cy="646331"/>
          </a:xfrm>
          <a:prstGeom prst="rect">
            <a:avLst/>
          </a:prstGeom>
          <a:noFill/>
          <a:ln>
            <a:solidFill>
              <a:srgbClr val="0066FF"/>
            </a:solidFill>
          </a:ln>
        </p:spPr>
        <p:txBody>
          <a:bodyPr wrap="square" rtlCol="0">
            <a:spAutoFit/>
          </a:bodyPr>
          <a:lstStyle/>
          <a:p>
            <a:r>
              <a:rPr lang="en-US" dirty="0" smtClean="0"/>
              <a:t>Compare the Prices</a:t>
            </a:r>
            <a:endParaRPr lang="en-IN" dirty="0"/>
          </a:p>
        </p:txBody>
      </p:sp>
      <p:sp>
        <p:nvSpPr>
          <p:cNvPr id="16" name="TextBox 15"/>
          <p:cNvSpPr txBox="1"/>
          <p:nvPr/>
        </p:nvSpPr>
        <p:spPr>
          <a:xfrm>
            <a:off x="407368" y="3429000"/>
            <a:ext cx="1656184" cy="923330"/>
          </a:xfrm>
          <a:prstGeom prst="rect">
            <a:avLst/>
          </a:prstGeom>
          <a:noFill/>
          <a:ln>
            <a:solidFill>
              <a:srgbClr val="0066FF"/>
            </a:solidFill>
          </a:ln>
        </p:spPr>
        <p:txBody>
          <a:bodyPr wrap="square" rtlCol="0">
            <a:spAutoFit/>
          </a:bodyPr>
          <a:lstStyle/>
          <a:p>
            <a:r>
              <a:rPr lang="en-US" dirty="0" smtClean="0"/>
              <a:t>Take Feedback from Neighbors or Users</a:t>
            </a:r>
            <a:endParaRPr lang="en-IN" dirty="0"/>
          </a:p>
        </p:txBody>
      </p:sp>
      <p:sp>
        <p:nvSpPr>
          <p:cNvPr id="17" name="TextBox 16"/>
          <p:cNvSpPr txBox="1"/>
          <p:nvPr/>
        </p:nvSpPr>
        <p:spPr>
          <a:xfrm>
            <a:off x="407368" y="4941168"/>
            <a:ext cx="1656184" cy="923330"/>
          </a:xfrm>
          <a:prstGeom prst="rect">
            <a:avLst/>
          </a:prstGeom>
          <a:noFill/>
          <a:ln>
            <a:solidFill>
              <a:srgbClr val="0066FF"/>
            </a:solidFill>
          </a:ln>
        </p:spPr>
        <p:txBody>
          <a:bodyPr wrap="square" rtlCol="0">
            <a:spAutoFit/>
          </a:bodyPr>
          <a:lstStyle/>
          <a:p>
            <a:r>
              <a:rPr lang="en-US" dirty="0" smtClean="0"/>
              <a:t>Check with Reviews of the Product</a:t>
            </a:r>
            <a:endParaRPr lang="en-IN" dirty="0"/>
          </a:p>
        </p:txBody>
      </p:sp>
      <p:sp>
        <p:nvSpPr>
          <p:cNvPr id="18" name="TextBox 17"/>
          <p:cNvSpPr txBox="1"/>
          <p:nvPr/>
        </p:nvSpPr>
        <p:spPr>
          <a:xfrm>
            <a:off x="2639616" y="4942909"/>
            <a:ext cx="1656184" cy="923330"/>
          </a:xfrm>
          <a:prstGeom prst="rect">
            <a:avLst/>
          </a:prstGeom>
          <a:noFill/>
          <a:ln>
            <a:solidFill>
              <a:srgbClr val="0066FF"/>
            </a:solidFill>
          </a:ln>
        </p:spPr>
        <p:txBody>
          <a:bodyPr wrap="square" rtlCol="0">
            <a:spAutoFit/>
          </a:bodyPr>
          <a:lstStyle/>
          <a:p>
            <a:r>
              <a:rPr lang="en-US" dirty="0" smtClean="0"/>
              <a:t>Check with Payment and Delivery Option</a:t>
            </a:r>
            <a:endParaRPr lang="en-IN" dirty="0"/>
          </a:p>
        </p:txBody>
      </p:sp>
      <p:sp>
        <p:nvSpPr>
          <p:cNvPr id="19" name="TextBox 18"/>
          <p:cNvSpPr txBox="1"/>
          <p:nvPr/>
        </p:nvSpPr>
        <p:spPr>
          <a:xfrm>
            <a:off x="4871864" y="4942909"/>
            <a:ext cx="2448272" cy="923330"/>
          </a:xfrm>
          <a:prstGeom prst="rect">
            <a:avLst/>
          </a:prstGeom>
          <a:noFill/>
          <a:ln>
            <a:solidFill>
              <a:srgbClr val="0066FF"/>
            </a:solidFill>
          </a:ln>
        </p:spPr>
        <p:txBody>
          <a:bodyPr wrap="square" rtlCol="0">
            <a:spAutoFit/>
          </a:bodyPr>
          <a:lstStyle/>
          <a:p>
            <a:r>
              <a:rPr lang="en-US" dirty="0" smtClean="0"/>
              <a:t>Check with Discounts on a  Credit Card payment</a:t>
            </a:r>
            <a:endParaRPr lang="en-IN" dirty="0"/>
          </a:p>
        </p:txBody>
      </p:sp>
      <p:sp>
        <p:nvSpPr>
          <p:cNvPr id="4" name="Right Arrow 3"/>
          <p:cNvSpPr/>
          <p:nvPr/>
        </p:nvSpPr>
        <p:spPr>
          <a:xfrm>
            <a:off x="2063552" y="2276872"/>
            <a:ext cx="504056" cy="107141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0" name="Right Arrow 19"/>
          <p:cNvSpPr/>
          <p:nvPr/>
        </p:nvSpPr>
        <p:spPr>
          <a:xfrm>
            <a:off x="4223792" y="2276872"/>
            <a:ext cx="504056" cy="107141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1" name="Right Arrow 20"/>
          <p:cNvSpPr/>
          <p:nvPr/>
        </p:nvSpPr>
        <p:spPr>
          <a:xfrm>
            <a:off x="6096000" y="2276872"/>
            <a:ext cx="648072" cy="107141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2" name="Right Arrow 21"/>
          <p:cNvSpPr/>
          <p:nvPr/>
        </p:nvSpPr>
        <p:spPr>
          <a:xfrm>
            <a:off x="8400256" y="2276872"/>
            <a:ext cx="648072" cy="107141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3" name="Right Arrow 22"/>
          <p:cNvSpPr/>
          <p:nvPr/>
        </p:nvSpPr>
        <p:spPr>
          <a:xfrm rot="10800000">
            <a:off x="2063552" y="3717032"/>
            <a:ext cx="576064" cy="76153"/>
          </a:xfrm>
          <a:prstGeom prst="rightArrow">
            <a:avLst/>
          </a:prstGeom>
          <a:ln>
            <a:solidFill>
              <a:srgbClr val="FF33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4" name="Right Arrow 23"/>
          <p:cNvSpPr/>
          <p:nvPr/>
        </p:nvSpPr>
        <p:spPr>
          <a:xfrm rot="10800000">
            <a:off x="4367808" y="3681899"/>
            <a:ext cx="792088" cy="111286"/>
          </a:xfrm>
          <a:prstGeom prst="rightArrow">
            <a:avLst/>
          </a:prstGeom>
          <a:ln>
            <a:solidFill>
              <a:srgbClr val="FF33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5" name="Right Arrow 24"/>
          <p:cNvSpPr/>
          <p:nvPr/>
        </p:nvSpPr>
        <p:spPr>
          <a:xfrm rot="10800000">
            <a:off x="8472264" y="3645025"/>
            <a:ext cx="576064" cy="72008"/>
          </a:xfrm>
          <a:prstGeom prst="rightArrow">
            <a:avLst/>
          </a:prstGeom>
          <a:ln>
            <a:solidFill>
              <a:srgbClr val="FF33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6" name="Right Arrow 25"/>
          <p:cNvSpPr/>
          <p:nvPr/>
        </p:nvSpPr>
        <p:spPr>
          <a:xfrm>
            <a:off x="2063552" y="5301208"/>
            <a:ext cx="576064" cy="144016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7" name="Right Arrow 26"/>
          <p:cNvSpPr/>
          <p:nvPr/>
        </p:nvSpPr>
        <p:spPr>
          <a:xfrm>
            <a:off x="4295800" y="5301208"/>
            <a:ext cx="576064" cy="144016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8" name="TextBox 27"/>
          <p:cNvSpPr txBox="1"/>
          <p:nvPr/>
        </p:nvSpPr>
        <p:spPr>
          <a:xfrm>
            <a:off x="8040216" y="4941168"/>
            <a:ext cx="2664296" cy="646331"/>
          </a:xfrm>
          <a:prstGeom prst="rect">
            <a:avLst/>
          </a:prstGeom>
          <a:noFill/>
          <a:ln>
            <a:solidFill>
              <a:srgbClr val="0066FF"/>
            </a:solidFill>
          </a:ln>
        </p:spPr>
        <p:txBody>
          <a:bodyPr wrap="square" rtlCol="0">
            <a:spAutoFit/>
          </a:bodyPr>
          <a:lstStyle/>
          <a:p>
            <a:r>
              <a:rPr lang="en-US" b="1" dirty="0" smtClean="0">
                <a:solidFill>
                  <a:srgbClr val="C00000"/>
                </a:solidFill>
              </a:rPr>
              <a:t>Take a decision, Order and Receive the product</a:t>
            </a:r>
            <a:endParaRPr lang="en-IN" b="1" dirty="0">
              <a:solidFill>
                <a:srgbClr val="C00000"/>
              </a:solidFill>
            </a:endParaRPr>
          </a:p>
        </p:txBody>
      </p:sp>
      <p:sp>
        <p:nvSpPr>
          <p:cNvPr id="29" name="Right Arrow 28"/>
          <p:cNvSpPr/>
          <p:nvPr/>
        </p:nvSpPr>
        <p:spPr>
          <a:xfrm>
            <a:off x="7320136" y="5301208"/>
            <a:ext cx="720080" cy="144016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6" name="Down Arrow 5"/>
          <p:cNvSpPr/>
          <p:nvPr/>
        </p:nvSpPr>
        <p:spPr>
          <a:xfrm>
            <a:off x="9984432" y="2707179"/>
            <a:ext cx="144016" cy="721821"/>
          </a:xfrm>
          <a:prstGeom prst="downArrow">
            <a:avLst/>
          </a:prstGeom>
          <a:ln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0" name="Down Arrow 29"/>
          <p:cNvSpPr/>
          <p:nvPr/>
        </p:nvSpPr>
        <p:spPr>
          <a:xfrm>
            <a:off x="911424" y="4352330"/>
            <a:ext cx="144016" cy="588838"/>
          </a:xfrm>
          <a:prstGeom prst="downArrow">
            <a:avLst/>
          </a:prstGeom>
          <a:ln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C292C0-B0FF-4DAD-AFC8-67CB345CA3F6}" type="slidenum">
              <a:rPr lang="en-IN" smtClean="0"/>
              <a:pPr/>
              <a:t>7</a:t>
            </a:fld>
            <a:endParaRPr lang="en-IN"/>
          </a:p>
        </p:txBody>
      </p:sp>
      <p:sp>
        <p:nvSpPr>
          <p:cNvPr id="7" name="TextBox 6"/>
          <p:cNvSpPr txBox="1"/>
          <p:nvPr/>
        </p:nvSpPr>
        <p:spPr>
          <a:xfrm>
            <a:off x="407368" y="6125234"/>
            <a:ext cx="10945216" cy="400110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sz="2000" dirty="0" smtClean="0"/>
              <a:t>These maps illustrate the steps a customer takes while interacting with a product or a service</a:t>
            </a:r>
            <a:endParaRPr lang="en-IN" sz="2000" dirty="0"/>
          </a:p>
        </p:txBody>
      </p:sp>
    </p:spTree>
    <p:extLst>
      <p:ext uri="{BB962C8B-B14F-4D97-AF65-F5344CB8AC3E}">
        <p14:creationId xmlns:p14="http://schemas.microsoft.com/office/powerpoint/2010/main" val="198991017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91344" y="779364"/>
            <a:ext cx="3816424" cy="2577628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551384" y="3443660"/>
            <a:ext cx="3096344" cy="3153692"/>
          </a:xfrm>
          <a:prstGeom prst="rect">
            <a:avLst/>
          </a:prstGeom>
        </p:spPr>
      </p:pic>
      <p:sp>
        <p:nvSpPr>
          <p:cNvPr id="5" name="object 5"/>
          <p:cNvSpPr txBox="1">
            <a:spLocks noGrp="1"/>
          </p:cNvSpPr>
          <p:nvPr>
            <p:ph type="sldNum" sz="quarter" idx="4294967295"/>
          </p:nvPr>
        </p:nvSpPr>
        <p:spPr>
          <a:xfrm>
            <a:off x="9732901" y="5634822"/>
            <a:ext cx="169768" cy="34624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67239">
              <a:lnSpc>
                <a:spcPts val="922"/>
              </a:lnSpc>
            </a:pPr>
            <a:fld id="{81D60167-4931-47E6-BA6A-407CBD079E47}" type="slidenum">
              <a:rPr spc="-44" dirty="0"/>
              <a:pPr marL="67239">
                <a:lnSpc>
                  <a:spcPts val="922"/>
                </a:lnSpc>
              </a:pPr>
              <a:t>8</a:t>
            </a:fld>
            <a:endParaRPr spc="-44" dirty="0"/>
          </a:p>
        </p:txBody>
      </p:sp>
      <p:sp>
        <p:nvSpPr>
          <p:cNvPr id="7" name="Title 1"/>
          <p:cNvSpPr>
            <a:spLocks noGrp="1"/>
          </p:cNvSpPr>
          <p:nvPr>
            <p:ph type="title"/>
          </p:nvPr>
        </p:nvSpPr>
        <p:spPr>
          <a:xfrm>
            <a:off x="0" y="-27384"/>
            <a:ext cx="12192000" cy="633412"/>
          </a:xfrm>
          <a:solidFill>
            <a:srgbClr val="0000FF"/>
          </a:solidFill>
        </p:spPr>
        <p:txBody>
          <a:bodyPr>
            <a:normAutofit/>
          </a:bodyPr>
          <a:lstStyle/>
          <a:p>
            <a:r>
              <a:rPr lang="en-IN" sz="3200" b="1" dirty="0" smtClean="0">
                <a:solidFill>
                  <a:schemeClr val="bg1"/>
                </a:solidFill>
              </a:rPr>
              <a:t>Design Thinking Tools: Brainstorming</a:t>
            </a:r>
            <a:endParaRPr lang="en-IN" sz="3200" b="1" dirty="0">
              <a:solidFill>
                <a:schemeClr val="bg1"/>
              </a:solidFill>
            </a:endParaRPr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83832" y="1898830"/>
            <a:ext cx="7200800" cy="4050450"/>
          </a:xfrm>
          <a:prstGeom prst="rect">
            <a:avLst/>
          </a:prstGeom>
          <a:ln>
            <a:solidFill>
              <a:srgbClr val="C00000"/>
            </a:solidFill>
          </a:ln>
        </p:spPr>
      </p:pic>
      <p:sp>
        <p:nvSpPr>
          <p:cNvPr id="9" name="TextBox 8"/>
          <p:cNvSpPr txBox="1"/>
          <p:nvPr/>
        </p:nvSpPr>
        <p:spPr>
          <a:xfrm>
            <a:off x="4583832" y="910461"/>
            <a:ext cx="7200800" cy="738664"/>
          </a:xfrm>
          <a:prstGeom prst="rect">
            <a:avLst/>
          </a:prstGeom>
          <a:noFill/>
          <a:ln>
            <a:solidFill>
              <a:srgbClr val="C00000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2200" b="1" dirty="0" smtClean="0">
                <a:solidFill>
                  <a:srgbClr val="3333FF"/>
                </a:solidFill>
                <a:cs typeface="Times New Roman"/>
              </a:rPr>
              <a:t>Divergence</a:t>
            </a:r>
            <a:r>
              <a:rPr lang="en-US" sz="2000" b="1" dirty="0" smtClean="0">
                <a:solidFill>
                  <a:srgbClr val="3333FF"/>
                </a:solidFill>
                <a:cs typeface="Times New Roman"/>
              </a:rPr>
              <a:t>: Bringing</a:t>
            </a:r>
            <a:r>
              <a:rPr lang="en-US" sz="2000" b="1" spc="125" dirty="0" smtClean="0">
                <a:solidFill>
                  <a:srgbClr val="3333FF"/>
                </a:solidFill>
                <a:cs typeface="Times New Roman"/>
              </a:rPr>
              <a:t>  </a:t>
            </a:r>
            <a:r>
              <a:rPr lang="en-US" sz="2000" b="1" dirty="0">
                <a:solidFill>
                  <a:srgbClr val="3333FF"/>
                </a:solidFill>
                <a:cs typeface="Times New Roman"/>
              </a:rPr>
              <a:t>multiple</a:t>
            </a:r>
            <a:r>
              <a:rPr lang="en-US" sz="2000" b="1" spc="114" dirty="0">
                <a:solidFill>
                  <a:srgbClr val="3333FF"/>
                </a:solidFill>
                <a:cs typeface="Times New Roman"/>
              </a:rPr>
              <a:t>  </a:t>
            </a:r>
            <a:r>
              <a:rPr lang="en-US" sz="2000" b="1" spc="-10" dirty="0">
                <a:solidFill>
                  <a:srgbClr val="3333FF"/>
                </a:solidFill>
                <a:cs typeface="Times New Roman"/>
              </a:rPr>
              <a:t>expertise </a:t>
            </a:r>
            <a:r>
              <a:rPr lang="en-US" sz="2000" b="1" dirty="0">
                <a:solidFill>
                  <a:srgbClr val="3333FF"/>
                </a:solidFill>
                <a:cs typeface="Times New Roman"/>
              </a:rPr>
              <a:t>and</a:t>
            </a:r>
            <a:r>
              <a:rPr lang="en-US" sz="2000" b="1" spc="80" dirty="0">
                <a:solidFill>
                  <a:srgbClr val="3333FF"/>
                </a:solidFill>
                <a:cs typeface="Times New Roman"/>
              </a:rPr>
              <a:t>  </a:t>
            </a:r>
            <a:r>
              <a:rPr lang="en-US" sz="2000" b="1" dirty="0">
                <a:solidFill>
                  <a:srgbClr val="3333FF"/>
                </a:solidFill>
                <a:cs typeface="Times New Roman"/>
              </a:rPr>
              <a:t>multiple</a:t>
            </a:r>
            <a:r>
              <a:rPr lang="en-US" sz="2000" b="1" spc="80" dirty="0">
                <a:solidFill>
                  <a:srgbClr val="3333FF"/>
                </a:solidFill>
                <a:cs typeface="Times New Roman"/>
              </a:rPr>
              <a:t>  </a:t>
            </a:r>
            <a:r>
              <a:rPr lang="en-US" sz="2000" b="1" dirty="0">
                <a:solidFill>
                  <a:srgbClr val="3333FF"/>
                </a:solidFill>
                <a:cs typeface="Times New Roman"/>
              </a:rPr>
              <a:t>perspectives</a:t>
            </a:r>
            <a:r>
              <a:rPr lang="en-US" sz="2000" b="1" spc="60" dirty="0">
                <a:solidFill>
                  <a:srgbClr val="3333FF"/>
                </a:solidFill>
                <a:cs typeface="Times New Roman"/>
              </a:rPr>
              <a:t>  </a:t>
            </a:r>
            <a:r>
              <a:rPr lang="en-US" sz="2000" b="1" dirty="0">
                <a:solidFill>
                  <a:srgbClr val="3333FF"/>
                </a:solidFill>
                <a:cs typeface="Times New Roman"/>
              </a:rPr>
              <a:t>at</a:t>
            </a:r>
            <a:r>
              <a:rPr lang="en-US" sz="2000" b="1" spc="80" dirty="0">
                <a:solidFill>
                  <a:srgbClr val="3333FF"/>
                </a:solidFill>
                <a:cs typeface="Times New Roman"/>
              </a:rPr>
              <a:t>  </a:t>
            </a:r>
            <a:r>
              <a:rPr lang="en-US" sz="2000" b="1" dirty="0">
                <a:solidFill>
                  <a:srgbClr val="3333FF"/>
                </a:solidFill>
                <a:cs typeface="Times New Roman"/>
              </a:rPr>
              <a:t>the</a:t>
            </a:r>
            <a:r>
              <a:rPr lang="en-US" sz="2000" b="1" spc="80" dirty="0">
                <a:solidFill>
                  <a:srgbClr val="3333FF"/>
                </a:solidFill>
                <a:cs typeface="Times New Roman"/>
              </a:rPr>
              <a:t>  </a:t>
            </a:r>
            <a:r>
              <a:rPr lang="en-US" sz="2000" b="1" dirty="0">
                <a:solidFill>
                  <a:srgbClr val="3333FF"/>
                </a:solidFill>
                <a:cs typeface="Times New Roman"/>
              </a:rPr>
              <a:t>same</a:t>
            </a:r>
            <a:r>
              <a:rPr lang="en-US" sz="2000" b="1" spc="75" dirty="0">
                <a:solidFill>
                  <a:srgbClr val="3333FF"/>
                </a:solidFill>
                <a:cs typeface="Times New Roman"/>
              </a:rPr>
              <a:t>  </a:t>
            </a:r>
            <a:r>
              <a:rPr lang="en-US" sz="2000" b="1" dirty="0">
                <a:solidFill>
                  <a:srgbClr val="3333FF"/>
                </a:solidFill>
                <a:cs typeface="Times New Roman"/>
              </a:rPr>
              <a:t>time</a:t>
            </a:r>
            <a:r>
              <a:rPr lang="en-US" sz="2000" b="1" spc="80" dirty="0">
                <a:solidFill>
                  <a:srgbClr val="3333FF"/>
                </a:solidFill>
                <a:cs typeface="Times New Roman"/>
              </a:rPr>
              <a:t>  </a:t>
            </a:r>
            <a:r>
              <a:rPr lang="en-US" sz="2000" b="1" spc="-25" dirty="0">
                <a:solidFill>
                  <a:srgbClr val="3333FF"/>
                </a:solidFill>
                <a:cs typeface="Times New Roman"/>
              </a:rPr>
              <a:t>to </a:t>
            </a:r>
            <a:r>
              <a:rPr lang="en-US" sz="2000" b="1" dirty="0">
                <a:solidFill>
                  <a:srgbClr val="3333FF"/>
                </a:solidFill>
                <a:cs typeface="Times New Roman"/>
              </a:rPr>
              <a:t>generate</a:t>
            </a:r>
            <a:r>
              <a:rPr lang="en-US" sz="2000" b="1" spc="-45" dirty="0">
                <a:solidFill>
                  <a:srgbClr val="3333FF"/>
                </a:solidFill>
                <a:cs typeface="Times New Roman"/>
              </a:rPr>
              <a:t> </a:t>
            </a:r>
            <a:r>
              <a:rPr lang="en-US" sz="2000" b="1" spc="-10" dirty="0">
                <a:solidFill>
                  <a:srgbClr val="3333FF"/>
                </a:solidFill>
                <a:cs typeface="Times New Roman"/>
              </a:rPr>
              <a:t>ideas</a:t>
            </a:r>
            <a:r>
              <a:rPr lang="en-US" sz="2000" b="1" spc="-10" dirty="0" smtClean="0">
                <a:solidFill>
                  <a:srgbClr val="3333FF"/>
                </a:solidFill>
                <a:cs typeface="Times New Roman"/>
              </a:rPr>
              <a:t>.</a:t>
            </a:r>
            <a:endParaRPr lang="en-US" sz="2000" b="1" dirty="0">
              <a:solidFill>
                <a:srgbClr val="3333FF"/>
              </a:solidFill>
              <a:cs typeface="Times New Roman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6744072" y="5991671"/>
            <a:ext cx="259228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b="1" dirty="0" smtClean="0">
                <a:solidFill>
                  <a:srgbClr val="C00000"/>
                </a:solidFill>
                <a:cs typeface="Times New Roman"/>
              </a:rPr>
              <a:t>NO</a:t>
            </a:r>
            <a:r>
              <a:rPr lang="en-US" sz="2400" b="1" spc="10" dirty="0" smtClean="0">
                <a:solidFill>
                  <a:srgbClr val="C00000"/>
                </a:solidFill>
                <a:cs typeface="Times New Roman"/>
              </a:rPr>
              <a:t> </a:t>
            </a:r>
            <a:r>
              <a:rPr lang="en-US" sz="2400" b="1" dirty="0" smtClean="0">
                <a:solidFill>
                  <a:srgbClr val="C00000"/>
                </a:solidFill>
                <a:cs typeface="Times New Roman"/>
              </a:rPr>
              <a:t>IDEA</a:t>
            </a:r>
            <a:r>
              <a:rPr lang="en-US" sz="2400" b="1" spc="-25" dirty="0" smtClean="0">
                <a:solidFill>
                  <a:srgbClr val="C00000"/>
                </a:solidFill>
                <a:cs typeface="Times New Roman"/>
              </a:rPr>
              <a:t> </a:t>
            </a:r>
            <a:r>
              <a:rPr lang="en-US" sz="2400" b="1" dirty="0" smtClean="0">
                <a:solidFill>
                  <a:srgbClr val="C00000"/>
                </a:solidFill>
                <a:cs typeface="Times New Roman"/>
              </a:rPr>
              <a:t>IS</a:t>
            </a:r>
            <a:r>
              <a:rPr lang="en-US" sz="2400" b="1" spc="15" dirty="0" smtClean="0">
                <a:solidFill>
                  <a:srgbClr val="C00000"/>
                </a:solidFill>
                <a:cs typeface="Times New Roman"/>
              </a:rPr>
              <a:t> </a:t>
            </a:r>
            <a:r>
              <a:rPr lang="en-US" sz="2400" b="1" spc="-10" dirty="0" smtClean="0">
                <a:solidFill>
                  <a:srgbClr val="C00000"/>
                </a:solidFill>
                <a:cs typeface="Times New Roman"/>
              </a:rPr>
              <a:t>BAD</a:t>
            </a:r>
            <a:endParaRPr lang="en-US" sz="2400" b="1" dirty="0">
              <a:solidFill>
                <a:srgbClr val="C00000"/>
              </a:solidFill>
              <a:cs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324327686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object 5"/>
          <p:cNvSpPr txBox="1">
            <a:spLocks noGrp="1"/>
          </p:cNvSpPr>
          <p:nvPr>
            <p:ph type="sldNum" sz="quarter" idx="4294967295"/>
          </p:nvPr>
        </p:nvSpPr>
        <p:spPr>
          <a:xfrm>
            <a:off x="9732901" y="5634822"/>
            <a:ext cx="169768" cy="34624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67239">
              <a:lnSpc>
                <a:spcPts val="922"/>
              </a:lnSpc>
            </a:pPr>
            <a:fld id="{81D60167-4931-47E6-BA6A-407CBD079E47}" type="slidenum">
              <a:rPr spc="-44" dirty="0"/>
              <a:pPr marL="67239">
                <a:lnSpc>
                  <a:spcPts val="922"/>
                </a:lnSpc>
              </a:pPr>
              <a:t>9</a:t>
            </a:fld>
            <a:endParaRPr spc="-44" dirty="0"/>
          </a:p>
        </p:txBody>
      </p:sp>
      <p:sp>
        <p:nvSpPr>
          <p:cNvPr id="7" name="Title 1"/>
          <p:cNvSpPr>
            <a:spLocks noGrp="1"/>
          </p:cNvSpPr>
          <p:nvPr>
            <p:ph type="title"/>
          </p:nvPr>
        </p:nvSpPr>
        <p:spPr>
          <a:xfrm>
            <a:off x="0" y="-27384"/>
            <a:ext cx="12192000" cy="633412"/>
          </a:xfrm>
          <a:solidFill>
            <a:srgbClr val="3333FF"/>
          </a:solidFill>
        </p:spPr>
        <p:txBody>
          <a:bodyPr>
            <a:normAutofit/>
          </a:bodyPr>
          <a:lstStyle/>
          <a:p>
            <a:r>
              <a:rPr lang="en-IN" sz="3200" b="1" dirty="0" smtClean="0">
                <a:solidFill>
                  <a:schemeClr val="bg1"/>
                </a:solidFill>
              </a:rPr>
              <a:t>Design Thinking Tools: Brainstorming</a:t>
            </a:r>
            <a:endParaRPr lang="en-IN" sz="3200" b="1" dirty="0">
              <a:solidFill>
                <a:schemeClr val="bg1"/>
              </a:solidFill>
            </a:endParaRPr>
          </a:p>
        </p:txBody>
      </p:sp>
      <p:sp>
        <p:nvSpPr>
          <p:cNvPr id="10" name="object 4"/>
          <p:cNvSpPr txBox="1"/>
          <p:nvPr/>
        </p:nvSpPr>
        <p:spPr>
          <a:xfrm>
            <a:off x="191344" y="764704"/>
            <a:ext cx="4536504" cy="3063659"/>
          </a:xfrm>
          <a:prstGeom prst="rect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2200" b="1" dirty="0">
                <a:cs typeface="Times New Roman"/>
              </a:rPr>
              <a:t>Brainstorming</a:t>
            </a:r>
            <a:r>
              <a:rPr sz="2200" b="1" spc="35" dirty="0">
                <a:cs typeface="Times New Roman"/>
              </a:rPr>
              <a:t> </a:t>
            </a:r>
            <a:r>
              <a:rPr sz="2200" b="1" dirty="0">
                <a:cs typeface="Times New Roman"/>
              </a:rPr>
              <a:t>is</a:t>
            </a:r>
            <a:r>
              <a:rPr sz="2200" b="1" spc="15" dirty="0">
                <a:cs typeface="Times New Roman"/>
              </a:rPr>
              <a:t> </a:t>
            </a:r>
            <a:r>
              <a:rPr sz="2200" b="1" dirty="0">
                <a:cs typeface="Times New Roman"/>
              </a:rPr>
              <a:t>an</a:t>
            </a:r>
            <a:r>
              <a:rPr sz="2200" b="1" spc="35" dirty="0">
                <a:cs typeface="Times New Roman"/>
              </a:rPr>
              <a:t> </a:t>
            </a:r>
            <a:r>
              <a:rPr sz="2200" b="1" dirty="0">
                <a:cs typeface="Times New Roman"/>
              </a:rPr>
              <a:t>effective</a:t>
            </a:r>
            <a:r>
              <a:rPr sz="2200" b="1" spc="25" dirty="0">
                <a:cs typeface="Times New Roman"/>
              </a:rPr>
              <a:t> </a:t>
            </a:r>
            <a:r>
              <a:rPr sz="2200" b="1" dirty="0">
                <a:cs typeface="Times New Roman"/>
              </a:rPr>
              <a:t>way</a:t>
            </a:r>
            <a:r>
              <a:rPr sz="2200" b="1" spc="40" dirty="0">
                <a:cs typeface="Times New Roman"/>
              </a:rPr>
              <a:t> </a:t>
            </a:r>
            <a:r>
              <a:rPr sz="2200" b="1" spc="-25" dirty="0">
                <a:cs typeface="Times New Roman"/>
              </a:rPr>
              <a:t>to:</a:t>
            </a:r>
            <a:endParaRPr sz="2200" b="1" dirty="0">
              <a:cs typeface="Times New Roman"/>
            </a:endParaRPr>
          </a:p>
          <a:p>
            <a:pPr marL="162560" indent="-149860">
              <a:lnSpc>
                <a:spcPct val="100000"/>
              </a:lnSpc>
              <a:spcBef>
                <a:spcPts val="35"/>
              </a:spcBef>
              <a:buFont typeface="Arial MT"/>
              <a:buChar char="•"/>
              <a:tabLst>
                <a:tab pos="162560" algn="l"/>
              </a:tabLst>
            </a:pPr>
            <a:r>
              <a:rPr sz="2200" dirty="0">
                <a:cs typeface="Times New Roman"/>
              </a:rPr>
              <a:t>Produce</a:t>
            </a:r>
            <a:r>
              <a:rPr sz="2200" spc="15" dirty="0">
                <a:cs typeface="Times New Roman"/>
              </a:rPr>
              <a:t> </a:t>
            </a:r>
            <a:r>
              <a:rPr sz="2200" dirty="0">
                <a:cs typeface="Times New Roman"/>
              </a:rPr>
              <a:t>a</a:t>
            </a:r>
            <a:r>
              <a:rPr sz="2200" spc="20" dirty="0">
                <a:cs typeface="Times New Roman"/>
              </a:rPr>
              <a:t> </a:t>
            </a:r>
            <a:r>
              <a:rPr sz="2200" dirty="0">
                <a:cs typeface="Times New Roman"/>
              </a:rPr>
              <a:t>large</a:t>
            </a:r>
            <a:r>
              <a:rPr sz="2200" spc="15" dirty="0">
                <a:cs typeface="Times New Roman"/>
              </a:rPr>
              <a:t> </a:t>
            </a:r>
            <a:r>
              <a:rPr sz="2200" dirty="0">
                <a:cs typeface="Times New Roman"/>
              </a:rPr>
              <a:t>number</a:t>
            </a:r>
            <a:r>
              <a:rPr sz="2200" spc="45" dirty="0">
                <a:cs typeface="Times New Roman"/>
              </a:rPr>
              <a:t> </a:t>
            </a:r>
            <a:r>
              <a:rPr sz="2200" dirty="0">
                <a:cs typeface="Times New Roman"/>
              </a:rPr>
              <a:t>of</a:t>
            </a:r>
            <a:r>
              <a:rPr sz="2200" spc="25" dirty="0">
                <a:cs typeface="Times New Roman"/>
              </a:rPr>
              <a:t> </a:t>
            </a:r>
            <a:r>
              <a:rPr sz="2200" spc="-20" dirty="0">
                <a:cs typeface="Times New Roman"/>
              </a:rPr>
              <a:t>ideas</a:t>
            </a:r>
            <a:endParaRPr sz="2200" dirty="0">
              <a:cs typeface="Times New Roman"/>
            </a:endParaRPr>
          </a:p>
          <a:p>
            <a:pPr marL="162560" indent="-149860">
              <a:lnSpc>
                <a:spcPct val="100000"/>
              </a:lnSpc>
              <a:spcBef>
                <a:spcPts val="35"/>
              </a:spcBef>
              <a:buFont typeface="Arial MT"/>
              <a:buChar char="•"/>
              <a:tabLst>
                <a:tab pos="162560" algn="l"/>
              </a:tabLst>
            </a:pPr>
            <a:r>
              <a:rPr sz="2200" dirty="0">
                <a:cs typeface="Times New Roman"/>
              </a:rPr>
              <a:t>Generate</a:t>
            </a:r>
            <a:r>
              <a:rPr sz="2200" spc="35" dirty="0">
                <a:cs typeface="Times New Roman"/>
              </a:rPr>
              <a:t> </a:t>
            </a:r>
            <a:r>
              <a:rPr sz="2200" dirty="0">
                <a:cs typeface="Times New Roman"/>
              </a:rPr>
              <a:t>ideas</a:t>
            </a:r>
            <a:r>
              <a:rPr sz="2200" spc="50" dirty="0">
                <a:cs typeface="Times New Roman"/>
              </a:rPr>
              <a:t> </a:t>
            </a:r>
            <a:r>
              <a:rPr sz="2200" spc="-10" dirty="0">
                <a:cs typeface="Times New Roman"/>
              </a:rPr>
              <a:t>quickly</a:t>
            </a:r>
            <a:endParaRPr sz="2200" dirty="0">
              <a:cs typeface="Times New Roman"/>
            </a:endParaRPr>
          </a:p>
          <a:p>
            <a:pPr marL="162560" indent="-149860">
              <a:lnSpc>
                <a:spcPct val="100000"/>
              </a:lnSpc>
              <a:spcBef>
                <a:spcPts val="35"/>
              </a:spcBef>
              <a:buFont typeface="Arial MT"/>
              <a:buChar char="•"/>
              <a:tabLst>
                <a:tab pos="162560" algn="l"/>
              </a:tabLst>
            </a:pPr>
            <a:r>
              <a:rPr sz="2200" dirty="0">
                <a:cs typeface="Times New Roman"/>
              </a:rPr>
              <a:t>Expand</a:t>
            </a:r>
            <a:r>
              <a:rPr sz="2200" spc="35" dirty="0">
                <a:cs typeface="Times New Roman"/>
              </a:rPr>
              <a:t> </a:t>
            </a:r>
            <a:r>
              <a:rPr sz="2200" dirty="0">
                <a:cs typeface="Times New Roman"/>
              </a:rPr>
              <a:t>your</a:t>
            </a:r>
            <a:r>
              <a:rPr sz="2200" spc="55" dirty="0">
                <a:cs typeface="Times New Roman"/>
              </a:rPr>
              <a:t> </a:t>
            </a:r>
            <a:r>
              <a:rPr sz="2200" dirty="0">
                <a:cs typeface="Times New Roman"/>
              </a:rPr>
              <a:t>portfolio</a:t>
            </a:r>
            <a:r>
              <a:rPr sz="2200" spc="60" dirty="0">
                <a:cs typeface="Times New Roman"/>
              </a:rPr>
              <a:t> </a:t>
            </a:r>
            <a:r>
              <a:rPr sz="2200" dirty="0">
                <a:cs typeface="Times New Roman"/>
              </a:rPr>
              <a:t>of</a:t>
            </a:r>
            <a:r>
              <a:rPr sz="2200" spc="10" dirty="0">
                <a:cs typeface="Times New Roman"/>
              </a:rPr>
              <a:t> </a:t>
            </a:r>
            <a:r>
              <a:rPr sz="2200" spc="-10" dirty="0">
                <a:cs typeface="Times New Roman"/>
              </a:rPr>
              <a:t>alternatives</a:t>
            </a:r>
            <a:endParaRPr sz="2200" dirty="0">
              <a:cs typeface="Times New Roman"/>
            </a:endParaRPr>
          </a:p>
          <a:p>
            <a:pPr marL="162560" indent="-149860">
              <a:lnSpc>
                <a:spcPct val="100000"/>
              </a:lnSpc>
              <a:spcBef>
                <a:spcPts val="35"/>
              </a:spcBef>
              <a:buFont typeface="Arial MT"/>
              <a:buChar char="•"/>
              <a:tabLst>
                <a:tab pos="162560" algn="l"/>
              </a:tabLst>
            </a:pPr>
            <a:r>
              <a:rPr sz="2200" dirty="0">
                <a:cs typeface="Times New Roman"/>
              </a:rPr>
              <a:t>Get</a:t>
            </a:r>
            <a:r>
              <a:rPr sz="2200" spc="70" dirty="0">
                <a:cs typeface="Times New Roman"/>
              </a:rPr>
              <a:t> </a:t>
            </a:r>
            <a:r>
              <a:rPr sz="2200" dirty="0">
                <a:cs typeface="Times New Roman"/>
              </a:rPr>
              <a:t>people</a:t>
            </a:r>
            <a:r>
              <a:rPr sz="2200" spc="20" dirty="0">
                <a:cs typeface="Times New Roman"/>
              </a:rPr>
              <a:t> </a:t>
            </a:r>
            <a:r>
              <a:rPr sz="2200" spc="-10" dirty="0">
                <a:cs typeface="Times New Roman"/>
              </a:rPr>
              <a:t>unstuck</a:t>
            </a:r>
            <a:endParaRPr sz="2200" dirty="0">
              <a:cs typeface="Times New Roman"/>
            </a:endParaRPr>
          </a:p>
          <a:p>
            <a:pPr marL="162560" indent="-149860">
              <a:lnSpc>
                <a:spcPct val="100000"/>
              </a:lnSpc>
              <a:spcBef>
                <a:spcPts val="40"/>
              </a:spcBef>
              <a:buFont typeface="Arial MT"/>
              <a:buChar char="•"/>
              <a:tabLst>
                <a:tab pos="162560" algn="l"/>
              </a:tabLst>
            </a:pPr>
            <a:r>
              <a:rPr sz="2200" dirty="0">
                <a:cs typeface="Times New Roman"/>
              </a:rPr>
              <a:t>Inject</a:t>
            </a:r>
            <a:r>
              <a:rPr sz="2200" spc="35" dirty="0">
                <a:cs typeface="Times New Roman"/>
              </a:rPr>
              <a:t> </a:t>
            </a:r>
            <a:r>
              <a:rPr sz="2200" dirty="0">
                <a:cs typeface="Times New Roman"/>
              </a:rPr>
              <a:t>insights</a:t>
            </a:r>
            <a:r>
              <a:rPr sz="2200" spc="30" dirty="0">
                <a:cs typeface="Times New Roman"/>
              </a:rPr>
              <a:t> </a:t>
            </a:r>
            <a:r>
              <a:rPr sz="2200" dirty="0">
                <a:cs typeface="Times New Roman"/>
              </a:rPr>
              <a:t>from</a:t>
            </a:r>
            <a:r>
              <a:rPr sz="2200" spc="35" dirty="0">
                <a:cs typeface="Times New Roman"/>
              </a:rPr>
              <a:t> </a:t>
            </a:r>
            <a:r>
              <a:rPr sz="2200" dirty="0">
                <a:cs typeface="Times New Roman"/>
              </a:rPr>
              <a:t>a</a:t>
            </a:r>
            <a:r>
              <a:rPr sz="2200" spc="60" dirty="0">
                <a:cs typeface="Times New Roman"/>
              </a:rPr>
              <a:t> </a:t>
            </a:r>
            <a:r>
              <a:rPr sz="2200" dirty="0">
                <a:cs typeface="Times New Roman"/>
              </a:rPr>
              <a:t>broader</a:t>
            </a:r>
            <a:r>
              <a:rPr sz="2200" spc="25" dirty="0">
                <a:cs typeface="Times New Roman"/>
              </a:rPr>
              <a:t> </a:t>
            </a:r>
            <a:r>
              <a:rPr sz="2200" spc="-10" dirty="0">
                <a:cs typeface="Times New Roman"/>
              </a:rPr>
              <a:t>group</a:t>
            </a:r>
            <a:endParaRPr sz="2200" dirty="0">
              <a:cs typeface="Times New Roman"/>
            </a:endParaRPr>
          </a:p>
          <a:p>
            <a:pPr marL="162560" indent="-149860">
              <a:lnSpc>
                <a:spcPct val="100000"/>
              </a:lnSpc>
              <a:spcBef>
                <a:spcPts val="35"/>
              </a:spcBef>
              <a:buFont typeface="Arial MT"/>
              <a:buChar char="•"/>
              <a:tabLst>
                <a:tab pos="162560" algn="l"/>
              </a:tabLst>
            </a:pPr>
            <a:r>
              <a:rPr sz="2200" dirty="0">
                <a:cs typeface="Times New Roman"/>
              </a:rPr>
              <a:t>Build</a:t>
            </a:r>
            <a:r>
              <a:rPr sz="2200" spc="40" dirty="0">
                <a:cs typeface="Times New Roman"/>
              </a:rPr>
              <a:t> </a:t>
            </a:r>
            <a:r>
              <a:rPr sz="2200" spc="-10" dirty="0">
                <a:cs typeface="Times New Roman"/>
              </a:rPr>
              <a:t>enthusiasm</a:t>
            </a:r>
            <a:endParaRPr sz="2200" dirty="0">
              <a:cs typeface="Times New Roman"/>
            </a:endParaRPr>
          </a:p>
          <a:p>
            <a:pPr marL="162560" indent="-149860">
              <a:lnSpc>
                <a:spcPct val="100000"/>
              </a:lnSpc>
              <a:spcBef>
                <a:spcPts val="35"/>
              </a:spcBef>
              <a:buFont typeface="Arial MT"/>
              <a:buChar char="•"/>
              <a:tabLst>
                <a:tab pos="162560" algn="l"/>
              </a:tabLst>
            </a:pPr>
            <a:r>
              <a:rPr sz="2200" dirty="0">
                <a:cs typeface="Times New Roman"/>
              </a:rPr>
              <a:t>Solve</a:t>
            </a:r>
            <a:r>
              <a:rPr sz="2200" spc="40" dirty="0">
                <a:cs typeface="Times New Roman"/>
              </a:rPr>
              <a:t> </a:t>
            </a:r>
            <a:r>
              <a:rPr sz="2200" dirty="0">
                <a:cs typeface="Times New Roman"/>
              </a:rPr>
              <a:t>tricky</a:t>
            </a:r>
            <a:r>
              <a:rPr sz="2200" spc="30" dirty="0">
                <a:cs typeface="Times New Roman"/>
              </a:rPr>
              <a:t> </a:t>
            </a:r>
            <a:r>
              <a:rPr sz="2200" spc="-10" dirty="0">
                <a:cs typeface="Times New Roman"/>
              </a:rPr>
              <a:t>problems</a:t>
            </a:r>
            <a:endParaRPr sz="2200" dirty="0">
              <a:cs typeface="Times New Roman"/>
            </a:endParaRPr>
          </a:p>
          <a:p>
            <a:pPr marL="162560" indent="-149860">
              <a:lnSpc>
                <a:spcPct val="100000"/>
              </a:lnSpc>
              <a:spcBef>
                <a:spcPts val="35"/>
              </a:spcBef>
              <a:buFont typeface="Arial MT"/>
              <a:buChar char="•"/>
              <a:tabLst>
                <a:tab pos="162560" algn="l"/>
              </a:tabLst>
            </a:pPr>
            <a:r>
              <a:rPr sz="2200" dirty="0">
                <a:cs typeface="Times New Roman"/>
              </a:rPr>
              <a:t>Improve</a:t>
            </a:r>
            <a:r>
              <a:rPr sz="2200" spc="45" dirty="0">
                <a:cs typeface="Times New Roman"/>
              </a:rPr>
              <a:t> </a:t>
            </a:r>
            <a:r>
              <a:rPr sz="2200" dirty="0">
                <a:cs typeface="Times New Roman"/>
              </a:rPr>
              <a:t>team</a:t>
            </a:r>
            <a:r>
              <a:rPr sz="2200" spc="20" dirty="0">
                <a:cs typeface="Times New Roman"/>
              </a:rPr>
              <a:t> </a:t>
            </a:r>
            <a:r>
              <a:rPr sz="2200" spc="-10" dirty="0">
                <a:cs typeface="Times New Roman"/>
              </a:rPr>
              <a:t>collaboration</a:t>
            </a:r>
            <a:endParaRPr sz="2200" dirty="0">
              <a:cs typeface="Times New Roman"/>
            </a:endParaRPr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3643" b="3531"/>
          <a:stretch/>
        </p:blipFill>
        <p:spPr>
          <a:xfrm>
            <a:off x="4799855" y="1412776"/>
            <a:ext cx="7186995" cy="4464496"/>
          </a:xfrm>
          <a:prstGeom prst="rect">
            <a:avLst/>
          </a:prstGeom>
          <a:ln>
            <a:solidFill>
              <a:srgbClr val="C00000"/>
            </a:solidFill>
          </a:ln>
        </p:spPr>
      </p:pic>
      <p:pic>
        <p:nvPicPr>
          <p:cNvPr id="8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551384" y="3994232"/>
            <a:ext cx="2474975" cy="2610611"/>
          </a:xfrm>
          <a:prstGeom prst="rect">
            <a:avLst/>
          </a:prstGeom>
        </p:spPr>
      </p:pic>
      <p:sp>
        <p:nvSpPr>
          <p:cNvPr id="2" name="TextBox 1"/>
          <p:cNvSpPr txBox="1"/>
          <p:nvPr/>
        </p:nvSpPr>
        <p:spPr>
          <a:xfrm>
            <a:off x="7608168" y="908720"/>
            <a:ext cx="144016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 smtClean="0">
                <a:solidFill>
                  <a:srgbClr val="C00000"/>
                </a:solidFill>
              </a:rPr>
              <a:t>FEW TIPS</a:t>
            </a:r>
            <a:endParaRPr lang="en-IN" sz="2400" b="1" dirty="0">
              <a:solidFill>
                <a:srgbClr val="C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03057192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928" y="-24"/>
            <a:ext cx="3528792" cy="1556816"/>
          </a:xfrm>
          <a:solidFill>
            <a:srgbClr val="3333FF"/>
          </a:solidFill>
        </p:spPr>
        <p:txBody>
          <a:bodyPr>
            <a:noAutofit/>
          </a:bodyPr>
          <a:lstStyle/>
          <a:p>
            <a:r>
              <a:rPr lang="en-IN" sz="2800" b="1" dirty="0" smtClean="0">
                <a:solidFill>
                  <a:schemeClr val="bg1"/>
                </a:solidFill>
              </a:rPr>
              <a:t>Design Thinking Tools: Customer Empathy Map</a:t>
            </a:r>
            <a:endParaRPr lang="en-IN" sz="2800" b="1" dirty="0">
              <a:solidFill>
                <a:schemeClr val="bg1"/>
              </a:solidFill>
            </a:endParaRPr>
          </a:p>
        </p:txBody>
      </p:sp>
      <p:pic>
        <p:nvPicPr>
          <p:cNvPr id="1026" name="Picture 2" descr="How To Create A Customer Empathy Map [With Example]"/>
          <p:cNvPicPr>
            <a:picLocks noChangeAspect="1" noChangeArrowheads="1"/>
          </p:cNvPicPr>
          <p:nvPr/>
        </p:nvPicPr>
        <p:blipFill rotWithShape="1">
          <a:blip r:embed="rId2"/>
          <a:srcRect b="14270"/>
          <a:stretch/>
        </p:blipFill>
        <p:spPr bwMode="auto">
          <a:xfrm>
            <a:off x="3863752" y="176311"/>
            <a:ext cx="8136904" cy="6349033"/>
          </a:xfrm>
          <a:prstGeom prst="rect">
            <a:avLst/>
          </a:prstGeom>
          <a:noFill/>
          <a:ln>
            <a:solidFill>
              <a:srgbClr val="C00000"/>
            </a:solidFill>
          </a:ln>
        </p:spPr>
      </p:pic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C292C0-B0FF-4DAD-AFC8-67CB345CA3F6}" type="slidenum">
              <a:rPr lang="en-IN" smtClean="0"/>
              <a:pPr/>
              <a:t>10</a:t>
            </a:fld>
            <a:endParaRPr lang="en-IN"/>
          </a:p>
        </p:txBody>
      </p:sp>
      <p:sp>
        <p:nvSpPr>
          <p:cNvPr id="4" name="TextBox 3"/>
          <p:cNvSpPr txBox="1"/>
          <p:nvPr/>
        </p:nvSpPr>
        <p:spPr>
          <a:xfrm>
            <a:off x="263352" y="1823333"/>
            <a:ext cx="3312368" cy="3477875"/>
          </a:xfrm>
          <a:prstGeom prst="rect">
            <a:avLst/>
          </a:prstGeom>
          <a:noFill/>
          <a:ln>
            <a:solidFill>
              <a:srgbClr val="FF3300"/>
            </a:solidFill>
          </a:ln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 smtClean="0"/>
              <a:t>It is a visual tool that helps the teams understand the emotions, thoughts and pain points of the users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 smtClean="0"/>
              <a:t>By mapping these elements, teams gain deeper insights into the user experience, fostering empathy and ensuring that design solutions effectively address user needs</a:t>
            </a:r>
            <a:endParaRPr lang="en-IN" sz="2000" dirty="0"/>
          </a:p>
        </p:txBody>
      </p:sp>
    </p:spTree>
    <p:extLst>
      <p:ext uri="{BB962C8B-B14F-4D97-AF65-F5344CB8AC3E}">
        <p14:creationId xmlns:p14="http://schemas.microsoft.com/office/powerpoint/2010/main" val="265632617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328" y="-24"/>
            <a:ext cx="2952728" cy="1412800"/>
          </a:xfrm>
          <a:solidFill>
            <a:srgbClr val="3333FF"/>
          </a:solidFill>
        </p:spPr>
        <p:txBody>
          <a:bodyPr>
            <a:noAutofit/>
          </a:bodyPr>
          <a:lstStyle/>
          <a:p>
            <a:r>
              <a:rPr lang="en-IN" sz="2800" b="1" dirty="0" smtClean="0">
                <a:solidFill>
                  <a:schemeClr val="bg1"/>
                </a:solidFill>
              </a:rPr>
              <a:t>Design Thinking Tools: Story Boarding</a:t>
            </a:r>
            <a:endParaRPr lang="en-IN" sz="2800" b="1" dirty="0">
              <a:solidFill>
                <a:schemeClr val="bg1"/>
              </a:solidFill>
            </a:endParaRP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15680" y="44624"/>
            <a:ext cx="8894305" cy="5976664"/>
          </a:xfrm>
          <a:prstGeom prst="rect">
            <a:avLst/>
          </a:prstGeom>
          <a:ln>
            <a:solidFill>
              <a:schemeClr val="accent1"/>
            </a:solidFill>
          </a:ln>
        </p:spPr>
      </p:pic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C292C0-B0FF-4DAD-AFC8-67CB345CA3F6}" type="slidenum">
              <a:rPr lang="en-IN" smtClean="0"/>
              <a:pPr/>
              <a:t>11</a:t>
            </a:fld>
            <a:endParaRPr lang="en-IN"/>
          </a:p>
        </p:txBody>
      </p:sp>
      <p:sp>
        <p:nvSpPr>
          <p:cNvPr id="5" name="TextBox 4"/>
          <p:cNvSpPr txBox="1"/>
          <p:nvPr/>
        </p:nvSpPr>
        <p:spPr>
          <a:xfrm>
            <a:off x="191344" y="1700808"/>
            <a:ext cx="2808712" cy="3477875"/>
          </a:xfrm>
          <a:prstGeom prst="rect">
            <a:avLst/>
          </a:prstGeom>
          <a:noFill/>
          <a:ln>
            <a:solidFill>
              <a:srgbClr val="3333FF"/>
            </a:solidFill>
          </a:ln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 smtClean="0">
                <a:solidFill>
                  <a:srgbClr val="C00000"/>
                </a:solidFill>
              </a:rPr>
              <a:t>It is a visual technique that depicts a user’s experience through a series of images or sketches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 smtClean="0">
                <a:solidFill>
                  <a:srgbClr val="C00000"/>
                </a:solidFill>
              </a:rPr>
              <a:t>It helps communicate the user journey and potential interactions in an engaging manner for easy grasping </a:t>
            </a:r>
            <a:endParaRPr lang="en-IN" sz="2000" dirty="0">
              <a:solidFill>
                <a:srgbClr val="C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3649144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-24"/>
            <a:ext cx="12192000" cy="620712"/>
          </a:xfrm>
          <a:solidFill>
            <a:srgbClr val="3333FF"/>
          </a:solidFill>
        </p:spPr>
        <p:txBody>
          <a:bodyPr>
            <a:normAutofit/>
          </a:bodyPr>
          <a:lstStyle/>
          <a:p>
            <a:r>
              <a:rPr lang="en-IN" sz="2800" b="1" dirty="0" smtClean="0">
                <a:solidFill>
                  <a:schemeClr val="bg1"/>
                </a:solidFill>
              </a:rPr>
              <a:t>Design Thinking Tools: SWOT Analysis</a:t>
            </a:r>
            <a:endParaRPr lang="en-IN" sz="2800" b="1" dirty="0">
              <a:solidFill>
                <a:schemeClr val="bg1"/>
              </a:solidFill>
            </a:endParaRP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011" t="19108" r="4786" b="12104"/>
          <a:stretch/>
        </p:blipFill>
        <p:spPr>
          <a:xfrm>
            <a:off x="455372" y="764704"/>
            <a:ext cx="10753195" cy="4608512"/>
          </a:xfrm>
          <a:prstGeom prst="rect">
            <a:avLst/>
          </a:prstGeom>
        </p:spPr>
      </p:pic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C292C0-B0FF-4DAD-AFC8-67CB345CA3F6}" type="slidenum">
              <a:rPr lang="en-IN" smtClean="0"/>
              <a:pPr/>
              <a:t>12</a:t>
            </a:fld>
            <a:endParaRPr lang="en-IN"/>
          </a:p>
        </p:txBody>
      </p:sp>
      <p:sp>
        <p:nvSpPr>
          <p:cNvPr id="7" name="TextBox 6"/>
          <p:cNvSpPr txBox="1"/>
          <p:nvPr/>
        </p:nvSpPr>
        <p:spPr>
          <a:xfrm>
            <a:off x="263352" y="5373216"/>
            <a:ext cx="11593288" cy="1015663"/>
          </a:xfrm>
          <a:prstGeom prst="rect">
            <a:avLst/>
          </a:prstGeom>
          <a:noFill/>
          <a:ln>
            <a:solidFill>
              <a:srgbClr val="3333FF"/>
            </a:solidFill>
          </a:ln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b="1" dirty="0" smtClean="0">
                <a:solidFill>
                  <a:srgbClr val="C00000"/>
                </a:solidFill>
              </a:rPr>
              <a:t>It is a strategic planning method that identifies the Strengths, Weaknesses, Opportunities and Threats associated with a project or a product or service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b="1" dirty="0" smtClean="0">
                <a:solidFill>
                  <a:srgbClr val="C00000"/>
                </a:solidFill>
              </a:rPr>
              <a:t>This analysis helps in analyzing and improving the impacts of the service</a:t>
            </a:r>
            <a:endParaRPr lang="en-IN" sz="2000" b="1" dirty="0">
              <a:solidFill>
                <a:srgbClr val="C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80888185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-24"/>
            <a:ext cx="12192000" cy="620712"/>
          </a:xfrm>
          <a:solidFill>
            <a:srgbClr val="3333FF"/>
          </a:solidFill>
        </p:spPr>
        <p:txBody>
          <a:bodyPr>
            <a:normAutofit/>
          </a:bodyPr>
          <a:lstStyle/>
          <a:p>
            <a:r>
              <a:rPr lang="en-IN" sz="2800" b="1" dirty="0" smtClean="0">
                <a:solidFill>
                  <a:schemeClr val="bg1"/>
                </a:solidFill>
              </a:rPr>
              <a:t>Design Thinking Tools: Prototype Tools</a:t>
            </a:r>
            <a:endParaRPr lang="en-IN" sz="2800" b="1" dirty="0">
              <a:solidFill>
                <a:schemeClr val="bg1"/>
              </a:solidFill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191344" y="692696"/>
            <a:ext cx="11737304" cy="2677656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b="1" dirty="0" smtClean="0">
                <a:solidFill>
                  <a:srgbClr val="C00000"/>
                </a:solidFill>
              </a:rPr>
              <a:t>Prototyping Tools</a:t>
            </a:r>
            <a:r>
              <a:rPr lang="en-US" sz="2400" dirty="0" smtClean="0"/>
              <a:t>: </a:t>
            </a:r>
            <a:r>
              <a:rPr lang="en-US" sz="2400" dirty="0" err="1" smtClean="0"/>
              <a:t>Figma</a:t>
            </a:r>
            <a:r>
              <a:rPr lang="en-US" sz="2400" dirty="0" smtClean="0"/>
              <a:t> and Adobe XD – Software applications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 smtClean="0"/>
              <a:t>Creates Visual representation of the ideas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 smtClean="0"/>
              <a:t>They support development of low fidelity (rough models) and high fidelity (working models)  prototypes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 smtClean="0"/>
              <a:t>Facilitate rapid testing and user feedback collection from the models</a:t>
            </a:r>
            <a:endParaRPr lang="en-IN" sz="2400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7368" y="3501008"/>
            <a:ext cx="4170040" cy="312753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015880" y="3645024"/>
            <a:ext cx="6912768" cy="2862322"/>
          </a:xfrm>
          <a:prstGeom prst="rect">
            <a:avLst/>
          </a:prstGeom>
          <a:noFill/>
          <a:ln>
            <a:solidFill>
              <a:srgbClr val="0000FF"/>
            </a:solidFill>
          </a:ln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b="1" dirty="0" smtClean="0">
                <a:solidFill>
                  <a:srgbClr val="0000FF"/>
                </a:solidFill>
              </a:rPr>
              <a:t>The </a:t>
            </a:r>
            <a:r>
              <a:rPr lang="en-US" sz="2000" b="1" dirty="0">
                <a:solidFill>
                  <a:srgbClr val="0000FF"/>
                </a:solidFill>
              </a:rPr>
              <a:t>goal of a prototype is to ensure </a:t>
            </a:r>
            <a:r>
              <a:rPr lang="en-US" sz="2000" b="1" dirty="0" smtClean="0">
                <a:solidFill>
                  <a:srgbClr val="0000FF"/>
                </a:solidFill>
              </a:rPr>
              <a:t>our </a:t>
            </a:r>
            <a:r>
              <a:rPr lang="en-US" sz="2000" b="1" dirty="0">
                <a:solidFill>
                  <a:srgbClr val="0000FF"/>
                </a:solidFill>
              </a:rPr>
              <a:t>design </a:t>
            </a:r>
            <a:r>
              <a:rPr lang="en-US" sz="2000" b="1" dirty="0" smtClean="0">
                <a:solidFill>
                  <a:srgbClr val="0000FF"/>
                </a:solidFill>
              </a:rPr>
              <a:t>is effective in </a:t>
            </a:r>
            <a:r>
              <a:rPr lang="en-US" sz="2000" b="1" dirty="0">
                <a:solidFill>
                  <a:srgbClr val="0000FF"/>
                </a:solidFill>
              </a:rPr>
              <a:t>the hands of the </a:t>
            </a:r>
            <a:r>
              <a:rPr lang="en-US" sz="2000" b="1" dirty="0" smtClean="0">
                <a:solidFill>
                  <a:srgbClr val="0000FF"/>
                </a:solidFill>
              </a:rPr>
              <a:t>user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b="1" dirty="0" smtClean="0">
                <a:solidFill>
                  <a:srgbClr val="C00000"/>
                </a:solidFill>
              </a:rPr>
              <a:t>Getting </a:t>
            </a:r>
            <a:r>
              <a:rPr lang="en-US" sz="2000" b="1" dirty="0">
                <a:solidFill>
                  <a:srgbClr val="C00000"/>
                </a:solidFill>
              </a:rPr>
              <a:t>feedback on a prototype is one of the easiest and cheapest ways to get feedback, before </a:t>
            </a:r>
            <a:r>
              <a:rPr lang="en-US" sz="2000" b="1" dirty="0" smtClean="0">
                <a:solidFill>
                  <a:srgbClr val="C00000"/>
                </a:solidFill>
              </a:rPr>
              <a:t>one spends </a:t>
            </a:r>
            <a:r>
              <a:rPr lang="en-US" sz="2000" b="1" dirty="0">
                <a:solidFill>
                  <a:srgbClr val="C00000"/>
                </a:solidFill>
              </a:rPr>
              <a:t>a lot of money building something that might not meet user </a:t>
            </a:r>
            <a:r>
              <a:rPr lang="en-US" sz="2000" b="1" dirty="0" smtClean="0">
                <a:solidFill>
                  <a:srgbClr val="C00000"/>
                </a:solidFill>
              </a:rPr>
              <a:t>needs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b="1" dirty="0" smtClean="0">
                <a:solidFill>
                  <a:srgbClr val="0000FF"/>
                </a:solidFill>
              </a:rPr>
              <a:t>Then we will spend </a:t>
            </a:r>
            <a:r>
              <a:rPr lang="en-US" sz="2000" b="1" dirty="0">
                <a:solidFill>
                  <a:srgbClr val="0000FF"/>
                </a:solidFill>
              </a:rPr>
              <a:t>even more to </a:t>
            </a:r>
            <a:r>
              <a:rPr lang="en-US" sz="2000" b="1" dirty="0" smtClean="0">
                <a:solidFill>
                  <a:srgbClr val="0000FF"/>
                </a:solidFill>
              </a:rPr>
              <a:t>correct the things</a:t>
            </a:r>
            <a:endParaRPr lang="en-US" sz="2000" b="1" dirty="0">
              <a:solidFill>
                <a:srgbClr val="0000FF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b="1" dirty="0">
                <a:solidFill>
                  <a:srgbClr val="FF3399"/>
                </a:solidFill>
              </a:rPr>
              <a:t>Creating a prototype allows design teams to hone a product concept before it's built and launched—saving time, money, and headaches for everyone </a:t>
            </a:r>
            <a:r>
              <a:rPr lang="en-US" sz="2000" b="1" dirty="0" smtClean="0">
                <a:solidFill>
                  <a:srgbClr val="FF3399"/>
                </a:solidFill>
              </a:rPr>
              <a:t>involved </a:t>
            </a:r>
            <a:endParaRPr lang="en-IN" sz="2000" b="1" dirty="0">
              <a:solidFill>
                <a:srgbClr val="FF3399"/>
              </a:solidFill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551384" y="6309320"/>
            <a:ext cx="381642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b="1" dirty="0" smtClean="0">
                <a:solidFill>
                  <a:srgbClr val="0000FF"/>
                </a:solidFill>
                <a:latin typeface="Arial Black" panose="020B0A04020102020204" pitchFamily="34" charset="0"/>
              </a:rPr>
              <a:t>Adobe XD Output of a Prototype</a:t>
            </a:r>
            <a:endParaRPr lang="en-IN" sz="1600" b="1" dirty="0">
              <a:solidFill>
                <a:srgbClr val="0000FF"/>
              </a:solidFill>
              <a:latin typeface="Arial Black" panose="020B0A04020102020204" pitchFamily="34" charset="0"/>
            </a:endParaRPr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C292C0-B0FF-4DAD-AFC8-67CB345CA3F6}" type="slidenum">
              <a:rPr lang="en-IN" smtClean="0"/>
              <a:pPr/>
              <a:t>13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5296242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-24"/>
            <a:ext cx="12192000" cy="620712"/>
          </a:xfrm>
          <a:solidFill>
            <a:srgbClr val="3333FF"/>
          </a:solidFill>
        </p:spPr>
        <p:txBody>
          <a:bodyPr>
            <a:normAutofit/>
          </a:bodyPr>
          <a:lstStyle/>
          <a:p>
            <a:r>
              <a:rPr lang="en-IN" sz="2800" b="1" dirty="0" smtClean="0">
                <a:solidFill>
                  <a:schemeClr val="bg1"/>
                </a:solidFill>
              </a:rPr>
              <a:t>Design Thinking Tools: Prototype Tools</a:t>
            </a:r>
            <a:endParaRPr lang="en-IN" sz="2800" b="1" dirty="0">
              <a:solidFill>
                <a:schemeClr val="bg1"/>
              </a:solidFill>
            </a:endParaRPr>
          </a:p>
        </p:txBody>
      </p:sp>
      <p:pic>
        <p:nvPicPr>
          <p:cNvPr id="2050" name="Picture 2" descr="Web 1920 – 1@2x.jp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1343" y="836712"/>
            <a:ext cx="5112569" cy="383442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" name="Picture 3"/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914" t="10931" r="6463" b="11373"/>
          <a:stretch/>
        </p:blipFill>
        <p:spPr>
          <a:xfrm>
            <a:off x="5478729" y="865273"/>
            <a:ext cx="6656617" cy="3355816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51384" y="4941168"/>
            <a:ext cx="4320480" cy="369332"/>
          </a:xfrm>
          <a:prstGeom prst="rect">
            <a:avLst/>
          </a:prstGeom>
          <a:noFill/>
          <a:ln>
            <a:solidFill>
              <a:srgbClr val="C00000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b="1" dirty="0" smtClean="0">
                <a:solidFill>
                  <a:srgbClr val="0000FF"/>
                </a:solidFill>
              </a:rPr>
              <a:t>FIGMA Design for a Mobile App Model </a:t>
            </a:r>
            <a:endParaRPr lang="en-IN" b="1" dirty="0">
              <a:solidFill>
                <a:srgbClr val="0000FF"/>
              </a:solidFill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6528048" y="4941168"/>
            <a:ext cx="4320480" cy="369332"/>
          </a:xfrm>
          <a:prstGeom prst="rect">
            <a:avLst/>
          </a:prstGeom>
          <a:noFill/>
          <a:ln>
            <a:solidFill>
              <a:srgbClr val="C00000"/>
            </a:solidFill>
          </a:ln>
        </p:spPr>
        <p:txBody>
          <a:bodyPr wrap="square" rtlCol="0">
            <a:spAutoFit/>
          </a:bodyPr>
          <a:lstStyle/>
          <a:p>
            <a:r>
              <a:rPr lang="en-US" b="1" dirty="0" smtClean="0">
                <a:solidFill>
                  <a:srgbClr val="0000FF"/>
                </a:solidFill>
              </a:rPr>
              <a:t>Adobe XD Design for Sports/ Fitness App</a:t>
            </a:r>
            <a:endParaRPr lang="en-IN" b="1" dirty="0">
              <a:solidFill>
                <a:srgbClr val="0000FF"/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C292C0-B0FF-4DAD-AFC8-67CB345CA3F6}" type="slidenum">
              <a:rPr lang="en-IN" smtClean="0"/>
              <a:pPr/>
              <a:t>14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9340311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object 5"/>
          <p:cNvSpPr txBox="1">
            <a:spLocks noGrp="1"/>
          </p:cNvSpPr>
          <p:nvPr>
            <p:ph type="sldNum" sz="quarter" idx="4294967295"/>
          </p:nvPr>
        </p:nvSpPr>
        <p:spPr>
          <a:xfrm>
            <a:off x="9732901" y="5634822"/>
            <a:ext cx="169768" cy="34624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67239">
              <a:lnSpc>
                <a:spcPts val="922"/>
              </a:lnSpc>
            </a:pPr>
            <a:fld id="{81D60167-4931-47E6-BA6A-407CBD079E47}" type="slidenum">
              <a:rPr spc="-44" dirty="0"/>
              <a:pPr marL="67239">
                <a:lnSpc>
                  <a:spcPts val="922"/>
                </a:lnSpc>
              </a:pPr>
              <a:t>15</a:t>
            </a:fld>
            <a:endParaRPr spc="-44" dirty="0"/>
          </a:p>
        </p:txBody>
      </p:sp>
      <p:sp>
        <p:nvSpPr>
          <p:cNvPr id="7" name="Title 1"/>
          <p:cNvSpPr>
            <a:spLocks noGrp="1"/>
          </p:cNvSpPr>
          <p:nvPr>
            <p:ph type="title"/>
          </p:nvPr>
        </p:nvSpPr>
        <p:spPr>
          <a:xfrm>
            <a:off x="0" y="-27384"/>
            <a:ext cx="12192000" cy="633412"/>
          </a:xfrm>
          <a:solidFill>
            <a:srgbClr val="0000FF"/>
          </a:solidFill>
        </p:spPr>
        <p:txBody>
          <a:bodyPr>
            <a:normAutofit/>
          </a:bodyPr>
          <a:lstStyle/>
          <a:p>
            <a:r>
              <a:rPr lang="en-IN" sz="3200" b="1" dirty="0" smtClean="0">
                <a:solidFill>
                  <a:schemeClr val="bg1"/>
                </a:solidFill>
              </a:rPr>
              <a:t>Social Innovation and Design Thinking Tools</a:t>
            </a:r>
            <a:endParaRPr lang="en-IN" sz="3200" b="1" dirty="0">
              <a:solidFill>
                <a:schemeClr val="bg1"/>
              </a:solidFill>
            </a:endParaRPr>
          </a:p>
        </p:txBody>
      </p:sp>
      <p:sp>
        <p:nvSpPr>
          <p:cNvPr id="2" name="TextBox 1"/>
          <p:cNvSpPr txBox="1"/>
          <p:nvPr/>
        </p:nvSpPr>
        <p:spPr>
          <a:xfrm>
            <a:off x="191344" y="1247269"/>
            <a:ext cx="5904656" cy="5324535"/>
          </a:xfrm>
          <a:prstGeom prst="rect">
            <a:avLst/>
          </a:prstGeom>
          <a:noFill/>
          <a:ln>
            <a:solidFill>
              <a:srgbClr val="0000FF"/>
            </a:solidFill>
          </a:ln>
        </p:spPr>
        <p:txBody>
          <a:bodyPr wrap="square" rtlCol="0">
            <a:spAutoFit/>
          </a:bodyPr>
          <a:lstStyle/>
          <a:p>
            <a:r>
              <a:rPr lang="en-US" sz="2000" b="1" dirty="0" smtClean="0"/>
              <a:t>Problem:</a:t>
            </a:r>
            <a:r>
              <a:rPr lang="en-US" sz="2000" dirty="0" smtClean="0"/>
              <a:t> Inadequate sanitation facilities, Open defecation problems</a:t>
            </a:r>
          </a:p>
          <a:p>
            <a:r>
              <a:rPr lang="en-US" sz="2000" b="1" dirty="0" smtClean="0"/>
              <a:t>Target group: </a:t>
            </a:r>
            <a:r>
              <a:rPr lang="en-US" sz="2000" dirty="0" smtClean="0"/>
              <a:t>Rural and urban population, Poor and moderate economy based public</a:t>
            </a:r>
          </a:p>
          <a:p>
            <a:r>
              <a:rPr lang="en-US" sz="2000" b="1" dirty="0" smtClean="0"/>
              <a:t>Objectives</a:t>
            </a:r>
            <a:r>
              <a:rPr lang="en-US" sz="2000" dirty="0" smtClean="0"/>
              <a:t>: To improve public health and provide affordable toilet facilities</a:t>
            </a:r>
          </a:p>
          <a:p>
            <a:r>
              <a:rPr lang="en-US" sz="2000" b="1" dirty="0" smtClean="0"/>
              <a:t>Observations</a:t>
            </a:r>
            <a:r>
              <a:rPr lang="en-US" sz="2000" dirty="0" smtClean="0"/>
              <a:t>: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 smtClean="0"/>
              <a:t>Safety and privacy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 smtClean="0"/>
              <a:t>Cultural </a:t>
            </a:r>
            <a:r>
              <a:rPr lang="en-US" sz="2000" dirty="0"/>
              <a:t>s</a:t>
            </a:r>
            <a:r>
              <a:rPr lang="en-US" sz="2000" dirty="0" smtClean="0"/>
              <a:t>tigma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 smtClean="0"/>
              <a:t>Hygiene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 smtClean="0"/>
              <a:t>Need for maintenance</a:t>
            </a:r>
          </a:p>
          <a:p>
            <a:r>
              <a:rPr lang="en-US" sz="2000" b="1" dirty="0"/>
              <a:t>Solution provided</a:t>
            </a:r>
            <a:r>
              <a:rPr lang="en-US" sz="2000" dirty="0"/>
              <a:t>: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/>
              <a:t>Community-Centric design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/>
              <a:t>Pay-and-use method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/>
              <a:t>Awareness for users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/>
              <a:t>Regular maintenance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/>
              <a:t>Biogas </a:t>
            </a:r>
            <a:r>
              <a:rPr lang="en-US" sz="2000" dirty="0" smtClean="0"/>
              <a:t>generation</a:t>
            </a:r>
            <a:endParaRPr lang="en-US" sz="2000" dirty="0"/>
          </a:p>
        </p:txBody>
      </p:sp>
      <p:sp>
        <p:nvSpPr>
          <p:cNvPr id="4" name="TextBox 3"/>
          <p:cNvSpPr txBox="1"/>
          <p:nvPr/>
        </p:nvSpPr>
        <p:spPr>
          <a:xfrm>
            <a:off x="6240016" y="1268760"/>
            <a:ext cx="5730240" cy="1323439"/>
          </a:xfrm>
          <a:prstGeom prst="rect">
            <a:avLst/>
          </a:prstGeom>
          <a:noFill/>
          <a:ln>
            <a:solidFill>
              <a:srgbClr val="0000FF"/>
            </a:solidFill>
          </a:ln>
        </p:spPr>
        <p:txBody>
          <a:bodyPr wrap="square" rtlCol="0">
            <a:spAutoFit/>
          </a:bodyPr>
          <a:lstStyle/>
          <a:p>
            <a:r>
              <a:rPr lang="en-US" sz="2000" b="1" dirty="0" smtClean="0"/>
              <a:t>Impact of Outcome on </a:t>
            </a:r>
            <a:r>
              <a:rPr lang="en-US" sz="2000" b="1" dirty="0"/>
              <a:t>Society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/>
              <a:t>Drastic reduction in open </a:t>
            </a:r>
            <a:r>
              <a:rPr lang="en-US" sz="2000" dirty="0" smtClean="0"/>
              <a:t>defecation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 smtClean="0"/>
              <a:t>Increased use of Toilets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 smtClean="0"/>
              <a:t>Enhanced public health </a:t>
            </a:r>
            <a:endParaRPr lang="en-US" sz="2000" dirty="0"/>
          </a:p>
        </p:txBody>
      </p:sp>
      <p:sp>
        <p:nvSpPr>
          <p:cNvPr id="8" name="TextBox 7"/>
          <p:cNvSpPr txBox="1"/>
          <p:nvPr/>
        </p:nvSpPr>
        <p:spPr>
          <a:xfrm>
            <a:off x="2423592" y="692696"/>
            <a:ext cx="6912768" cy="523220"/>
          </a:xfrm>
          <a:prstGeom prst="rect">
            <a:avLst/>
          </a:prstGeom>
          <a:solidFill>
            <a:srgbClr val="FFFF00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2800" b="1" dirty="0"/>
              <a:t>Case Study: </a:t>
            </a:r>
            <a:r>
              <a:rPr lang="en-US" sz="2800" b="1" dirty="0" err="1"/>
              <a:t>Sulabh</a:t>
            </a:r>
            <a:r>
              <a:rPr lang="en-US" sz="2800" b="1" dirty="0"/>
              <a:t> Complexes</a:t>
            </a:r>
          </a:p>
        </p:txBody>
      </p:sp>
      <p:pic>
        <p:nvPicPr>
          <p:cNvPr id="9" name="Picture 8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72064" y="2780928"/>
            <a:ext cx="5010160" cy="35071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8968415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object 5"/>
          <p:cNvSpPr txBox="1">
            <a:spLocks noGrp="1"/>
          </p:cNvSpPr>
          <p:nvPr>
            <p:ph type="sldNum" sz="quarter" idx="4294967295"/>
          </p:nvPr>
        </p:nvSpPr>
        <p:spPr>
          <a:xfrm>
            <a:off x="9732901" y="5634822"/>
            <a:ext cx="169768" cy="34624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67239">
              <a:lnSpc>
                <a:spcPts val="922"/>
              </a:lnSpc>
            </a:pPr>
            <a:fld id="{81D60167-4931-47E6-BA6A-407CBD079E47}" type="slidenum">
              <a:rPr spc="-44" dirty="0"/>
              <a:pPr marL="67239">
                <a:lnSpc>
                  <a:spcPts val="922"/>
                </a:lnSpc>
              </a:pPr>
              <a:t>16</a:t>
            </a:fld>
            <a:endParaRPr spc="-44" dirty="0"/>
          </a:p>
        </p:txBody>
      </p:sp>
      <p:sp>
        <p:nvSpPr>
          <p:cNvPr id="7" name="Title 1"/>
          <p:cNvSpPr>
            <a:spLocks noGrp="1"/>
          </p:cNvSpPr>
          <p:nvPr>
            <p:ph type="title"/>
          </p:nvPr>
        </p:nvSpPr>
        <p:spPr>
          <a:xfrm>
            <a:off x="0" y="-27384"/>
            <a:ext cx="12192000" cy="633412"/>
          </a:xfrm>
          <a:solidFill>
            <a:srgbClr val="0000FF"/>
          </a:solidFill>
        </p:spPr>
        <p:txBody>
          <a:bodyPr>
            <a:normAutofit/>
          </a:bodyPr>
          <a:lstStyle/>
          <a:p>
            <a:r>
              <a:rPr lang="en-IN" sz="3200" b="1" dirty="0" smtClean="0">
                <a:solidFill>
                  <a:schemeClr val="bg1"/>
                </a:solidFill>
              </a:rPr>
              <a:t>Social Innovation and Design Thinking Tools</a:t>
            </a:r>
            <a:endParaRPr lang="en-IN" sz="3200" b="1" dirty="0">
              <a:solidFill>
                <a:schemeClr val="bg1"/>
              </a:solidFill>
            </a:endParaRPr>
          </a:p>
        </p:txBody>
      </p:sp>
      <p:sp>
        <p:nvSpPr>
          <p:cNvPr id="2" name="TextBox 1"/>
          <p:cNvSpPr txBox="1"/>
          <p:nvPr/>
        </p:nvSpPr>
        <p:spPr>
          <a:xfrm>
            <a:off x="191344" y="1247269"/>
            <a:ext cx="6192688" cy="5324535"/>
          </a:xfrm>
          <a:prstGeom prst="rect">
            <a:avLst/>
          </a:prstGeom>
          <a:noFill/>
          <a:ln>
            <a:solidFill>
              <a:srgbClr val="0000FF"/>
            </a:solidFill>
          </a:ln>
        </p:spPr>
        <p:txBody>
          <a:bodyPr wrap="square" rtlCol="0">
            <a:spAutoFit/>
          </a:bodyPr>
          <a:lstStyle/>
          <a:p>
            <a:r>
              <a:rPr lang="en-US" sz="2000" b="1" dirty="0" smtClean="0"/>
              <a:t>Problem:</a:t>
            </a:r>
            <a:r>
              <a:rPr lang="en-US" sz="2000" dirty="0" smtClean="0"/>
              <a:t> Inadequate water supply facilities, Poor water quality, Associated health problems</a:t>
            </a:r>
          </a:p>
          <a:p>
            <a:r>
              <a:rPr lang="en-US" sz="2000" b="1" dirty="0" smtClean="0"/>
              <a:t>Target group: </a:t>
            </a:r>
            <a:r>
              <a:rPr lang="en-US" sz="2000" dirty="0" smtClean="0"/>
              <a:t>Rural Andhra Pradesh and poor people</a:t>
            </a:r>
          </a:p>
          <a:p>
            <a:r>
              <a:rPr lang="en-US" sz="2000" b="1" dirty="0" smtClean="0"/>
              <a:t>Objectives</a:t>
            </a:r>
            <a:r>
              <a:rPr lang="en-US" sz="2000" dirty="0" smtClean="0"/>
              <a:t>: To supply clean and safe water at affordable price and make it continuously available</a:t>
            </a:r>
          </a:p>
          <a:p>
            <a:r>
              <a:rPr lang="en-US" sz="2000" b="1" dirty="0" smtClean="0"/>
              <a:t>Observations</a:t>
            </a:r>
            <a:r>
              <a:rPr lang="en-US" sz="2000" dirty="0" smtClean="0"/>
              <a:t>: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 smtClean="0"/>
              <a:t>Connection with conventional bore wells/open wells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 smtClean="0"/>
              <a:t>Poor awareness on water-borne diseases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 smtClean="0"/>
              <a:t>Travelling long distances for water collection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 smtClean="0"/>
              <a:t>Poor water management practices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 smtClean="0"/>
              <a:t>No availability when required</a:t>
            </a:r>
          </a:p>
          <a:p>
            <a:r>
              <a:rPr lang="en-US" sz="2000" b="1" dirty="0"/>
              <a:t>Solution provided</a:t>
            </a:r>
            <a:r>
              <a:rPr lang="en-US" sz="2000" dirty="0"/>
              <a:t>: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/>
              <a:t>Community-Centric </a:t>
            </a:r>
            <a:r>
              <a:rPr lang="en-US" sz="2000" dirty="0" smtClean="0"/>
              <a:t>design of water treatment plants</a:t>
            </a:r>
            <a:endParaRPr lang="en-US" sz="20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 smtClean="0"/>
              <a:t>Affordable price of water supply (</a:t>
            </a:r>
            <a:r>
              <a:rPr lang="en-US" sz="2000" dirty="0" err="1" smtClean="0"/>
              <a:t>Rs</a:t>
            </a:r>
            <a:r>
              <a:rPr lang="en-US" sz="2000" dirty="0" smtClean="0"/>
              <a:t> 2 for 20 L Bottle)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 smtClean="0"/>
              <a:t>Clean and safe water at any time</a:t>
            </a:r>
            <a:endParaRPr lang="en-US" sz="20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/>
              <a:t>Regular </a:t>
            </a:r>
            <a:r>
              <a:rPr lang="en-US" sz="2000" dirty="0" smtClean="0"/>
              <a:t>maintenance and participatory approach</a:t>
            </a:r>
            <a:endParaRPr lang="en-US" sz="20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 smtClean="0"/>
              <a:t>Regular water quality checking</a:t>
            </a:r>
            <a:endParaRPr lang="en-US" sz="2000" dirty="0"/>
          </a:p>
        </p:txBody>
      </p:sp>
      <p:sp>
        <p:nvSpPr>
          <p:cNvPr id="4" name="TextBox 3"/>
          <p:cNvSpPr txBox="1"/>
          <p:nvPr/>
        </p:nvSpPr>
        <p:spPr>
          <a:xfrm>
            <a:off x="6528048" y="1268760"/>
            <a:ext cx="5442208" cy="1631216"/>
          </a:xfrm>
          <a:prstGeom prst="rect">
            <a:avLst/>
          </a:prstGeom>
          <a:noFill/>
          <a:ln>
            <a:solidFill>
              <a:srgbClr val="0000FF"/>
            </a:solidFill>
          </a:ln>
        </p:spPr>
        <p:txBody>
          <a:bodyPr wrap="square" rtlCol="0">
            <a:spAutoFit/>
          </a:bodyPr>
          <a:lstStyle/>
          <a:p>
            <a:r>
              <a:rPr lang="en-US" sz="2000" b="1" dirty="0" smtClean="0"/>
              <a:t>Impact of Outcome on </a:t>
            </a:r>
            <a:r>
              <a:rPr lang="en-US" sz="2000" b="1" dirty="0"/>
              <a:t>Society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 smtClean="0"/>
              <a:t>Increased access to safe drinking water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 smtClean="0"/>
              <a:t>Improved health and no need to travel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 smtClean="0"/>
              <a:t>Behavioral change and water management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 smtClean="0"/>
              <a:t>Sustainable practice</a:t>
            </a:r>
            <a:endParaRPr lang="en-US" sz="2000" dirty="0"/>
          </a:p>
        </p:txBody>
      </p:sp>
      <p:sp>
        <p:nvSpPr>
          <p:cNvPr id="8" name="TextBox 7"/>
          <p:cNvSpPr txBox="1"/>
          <p:nvPr/>
        </p:nvSpPr>
        <p:spPr>
          <a:xfrm>
            <a:off x="1631504" y="692696"/>
            <a:ext cx="9577064" cy="523220"/>
          </a:xfrm>
          <a:prstGeom prst="rect">
            <a:avLst/>
          </a:prstGeom>
          <a:solidFill>
            <a:srgbClr val="FFFF00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2800" b="1" dirty="0"/>
              <a:t>Case Study: </a:t>
            </a:r>
            <a:r>
              <a:rPr lang="en-US" sz="2800" b="1" dirty="0" err="1" smtClean="0"/>
              <a:t>Naandi</a:t>
            </a:r>
            <a:r>
              <a:rPr lang="en-US" sz="2800" b="1" dirty="0" smtClean="0"/>
              <a:t> Foundation for Safe drinking water</a:t>
            </a:r>
            <a:endParaRPr lang="en-US" sz="2800" b="1" dirty="0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60096" y="3068960"/>
            <a:ext cx="4248472" cy="33987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2506704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object 5"/>
          <p:cNvSpPr txBox="1">
            <a:spLocks noGrp="1"/>
          </p:cNvSpPr>
          <p:nvPr>
            <p:ph type="sldNum" sz="quarter" idx="4294967295"/>
          </p:nvPr>
        </p:nvSpPr>
        <p:spPr>
          <a:xfrm>
            <a:off x="9732901" y="5634822"/>
            <a:ext cx="169768" cy="34624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67239">
              <a:lnSpc>
                <a:spcPts val="922"/>
              </a:lnSpc>
            </a:pPr>
            <a:fld id="{81D60167-4931-47E6-BA6A-407CBD079E47}" type="slidenum">
              <a:rPr spc="-44" dirty="0"/>
              <a:pPr marL="67239">
                <a:lnSpc>
                  <a:spcPts val="922"/>
                </a:lnSpc>
              </a:pPr>
              <a:t>17</a:t>
            </a:fld>
            <a:endParaRPr spc="-44" dirty="0"/>
          </a:p>
        </p:txBody>
      </p:sp>
      <p:sp>
        <p:nvSpPr>
          <p:cNvPr id="7" name="Title 1"/>
          <p:cNvSpPr>
            <a:spLocks noGrp="1"/>
          </p:cNvSpPr>
          <p:nvPr>
            <p:ph type="title"/>
          </p:nvPr>
        </p:nvSpPr>
        <p:spPr>
          <a:xfrm>
            <a:off x="0" y="-27384"/>
            <a:ext cx="12192000" cy="633412"/>
          </a:xfrm>
          <a:solidFill>
            <a:srgbClr val="3333FF"/>
          </a:solidFill>
        </p:spPr>
        <p:txBody>
          <a:bodyPr>
            <a:normAutofit/>
          </a:bodyPr>
          <a:lstStyle/>
          <a:p>
            <a:r>
              <a:rPr lang="en-IN" sz="3200" b="1" dirty="0" smtClean="0">
                <a:solidFill>
                  <a:schemeClr val="bg1"/>
                </a:solidFill>
              </a:rPr>
              <a:t>Social Innovation and Design Thinking Tools - Activity</a:t>
            </a:r>
            <a:endParaRPr lang="en-IN" sz="3200" b="1" dirty="0">
              <a:solidFill>
                <a:schemeClr val="bg1"/>
              </a:solidFill>
            </a:endParaRPr>
          </a:p>
        </p:txBody>
      </p:sp>
      <p:sp>
        <p:nvSpPr>
          <p:cNvPr id="2" name="TextBox 1"/>
          <p:cNvSpPr txBox="1"/>
          <p:nvPr/>
        </p:nvSpPr>
        <p:spPr>
          <a:xfrm>
            <a:off x="3647728" y="764704"/>
            <a:ext cx="18002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b="1" dirty="0" smtClean="0">
                <a:solidFill>
                  <a:srgbClr val="C00000"/>
                </a:solidFill>
              </a:rPr>
              <a:t>Activity </a:t>
            </a:r>
            <a:endParaRPr lang="en-IN" sz="2800" b="1" dirty="0">
              <a:solidFill>
                <a:srgbClr val="C00000"/>
              </a:solidFill>
            </a:endParaRPr>
          </a:p>
        </p:txBody>
      </p:sp>
      <p:sp>
        <p:nvSpPr>
          <p:cNvPr id="3" name="5-Point Star 2"/>
          <p:cNvSpPr/>
          <p:nvPr/>
        </p:nvSpPr>
        <p:spPr>
          <a:xfrm>
            <a:off x="2038902" y="684729"/>
            <a:ext cx="814796" cy="577338"/>
          </a:xfrm>
          <a:prstGeom prst="star5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8" name="5-Point Star 7"/>
          <p:cNvSpPr/>
          <p:nvPr/>
        </p:nvSpPr>
        <p:spPr>
          <a:xfrm>
            <a:off x="71978" y="684729"/>
            <a:ext cx="814796" cy="577338"/>
          </a:xfrm>
          <a:prstGeom prst="star5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9" name="5-Point Star 8"/>
          <p:cNvSpPr/>
          <p:nvPr/>
        </p:nvSpPr>
        <p:spPr>
          <a:xfrm>
            <a:off x="1055440" y="710586"/>
            <a:ext cx="814796" cy="577338"/>
          </a:xfrm>
          <a:prstGeom prst="star5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0" name="object 5"/>
          <p:cNvSpPr txBox="1"/>
          <p:nvPr/>
        </p:nvSpPr>
        <p:spPr>
          <a:xfrm>
            <a:off x="191344" y="1340768"/>
            <a:ext cx="7342014" cy="764953"/>
          </a:xfrm>
          <a:prstGeom prst="rect">
            <a:avLst/>
          </a:prstGeom>
          <a:ln>
            <a:solidFill>
              <a:srgbClr val="C00000"/>
            </a:solidFill>
          </a:ln>
        </p:spPr>
        <p:txBody>
          <a:bodyPr vert="horz" wrap="square" lIns="0" tIns="11430" rIns="0" bIns="0" rtlCol="0">
            <a:spAutoFit/>
          </a:bodyPr>
          <a:lstStyle/>
          <a:p>
            <a:pPr marL="12700" marR="6985" algn="just">
              <a:lnSpc>
                <a:spcPct val="101600"/>
              </a:lnSpc>
              <a:spcBef>
                <a:spcPts val="90"/>
              </a:spcBef>
            </a:pPr>
            <a:r>
              <a:rPr lang="en-IN" sz="2400" dirty="0"/>
              <a:t>Students should present their understanding of DTI </a:t>
            </a:r>
            <a:r>
              <a:rPr lang="en-IN" sz="2400" dirty="0" smtClean="0"/>
              <a:t>Tools in social innovation using suitable examples in a chart</a:t>
            </a:r>
            <a:endParaRPr sz="2400" dirty="0">
              <a:solidFill>
                <a:srgbClr val="00B050"/>
              </a:solidFill>
              <a:cs typeface="Times New Roman"/>
            </a:endParaRPr>
          </a:p>
        </p:txBody>
      </p:sp>
      <p:pic>
        <p:nvPicPr>
          <p:cNvPr id="12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8172212" y="692696"/>
            <a:ext cx="3670271" cy="2952327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9376" y="2262064"/>
            <a:ext cx="6502932" cy="4335288"/>
          </a:xfrm>
          <a:prstGeom prst="rect">
            <a:avLst/>
          </a:prstGeom>
          <a:ln>
            <a:solidFill>
              <a:srgbClr val="FF3300"/>
            </a:solidFill>
          </a:ln>
        </p:spPr>
      </p:pic>
      <p:pic>
        <p:nvPicPr>
          <p:cNvPr id="11" name="Picture 10"/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72212" y="3717031"/>
            <a:ext cx="3712062" cy="25776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8046137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1544" y="1257683"/>
            <a:ext cx="8225094" cy="4331558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623392" y="476672"/>
            <a:ext cx="11017224" cy="5976664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C292C0-B0FF-4DAD-AFC8-67CB345CA3F6}" type="slidenum">
              <a:rPr lang="en-IN" smtClean="0"/>
              <a:pPr/>
              <a:t>18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1328996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xmlns="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596</TotalTime>
  <Words>843</Words>
  <Application>Microsoft Office PowerPoint</Application>
  <PresentationFormat>Custom</PresentationFormat>
  <Paragraphs>141</Paragraphs>
  <Slides>18</Slides>
  <Notes>1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19" baseType="lpstr">
      <vt:lpstr>Office Theme</vt:lpstr>
      <vt:lpstr>DESIGN THINKING AND INNOVATION</vt:lpstr>
      <vt:lpstr>Elements of Design Thinking</vt:lpstr>
      <vt:lpstr>Elements of Design Thinking</vt:lpstr>
      <vt:lpstr>Design Thinking Tools</vt:lpstr>
      <vt:lpstr>Design Thinking Tools: Persona</vt:lpstr>
      <vt:lpstr>Design Thinking Tools: Persona</vt:lpstr>
      <vt:lpstr>Design Thinking Tools: Customer Journey Maps</vt:lpstr>
      <vt:lpstr>Design Thinking Tools: Brainstorming</vt:lpstr>
      <vt:lpstr>Design Thinking Tools: Brainstorming</vt:lpstr>
      <vt:lpstr>Design Thinking Tools: Customer Empathy Map</vt:lpstr>
      <vt:lpstr>Design Thinking Tools: Story Boarding</vt:lpstr>
      <vt:lpstr>Design Thinking Tools: SWOT Analysis</vt:lpstr>
      <vt:lpstr>Design Thinking Tools: Prototype Tools</vt:lpstr>
      <vt:lpstr>Design Thinking Tools: Prototype Tools</vt:lpstr>
      <vt:lpstr>Social Innovation and Design Thinking Tools</vt:lpstr>
      <vt:lpstr>Social Innovation and Design Thinking Tools</vt:lpstr>
      <vt:lpstr>Social Innovation and Design Thinking Tools - Activity</vt:lpstr>
      <vt:lpstr>PowerPoint Presentation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Admin</dc:creator>
  <cp:lastModifiedBy>ismail - [2010]</cp:lastModifiedBy>
  <cp:revision>92</cp:revision>
  <dcterms:created xsi:type="dcterms:W3CDTF">2024-12-26T04:05:46Z</dcterms:created>
  <dcterms:modified xsi:type="dcterms:W3CDTF">2025-02-20T06:42:51Z</dcterms:modified>
</cp:coreProperties>
</file>