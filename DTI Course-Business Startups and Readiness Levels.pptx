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90" r:id="rId2"/>
    <p:sldId id="262" r:id="rId3"/>
    <p:sldId id="258" r:id="rId4"/>
    <p:sldId id="340" r:id="rId5"/>
    <p:sldId id="341" r:id="rId6"/>
    <p:sldId id="347" r:id="rId7"/>
    <p:sldId id="348" r:id="rId8"/>
    <p:sldId id="354" r:id="rId9"/>
    <p:sldId id="355" r:id="rId10"/>
    <p:sldId id="349" r:id="rId11"/>
    <p:sldId id="350" r:id="rId12"/>
    <p:sldId id="351" r:id="rId13"/>
    <p:sldId id="352" r:id="rId14"/>
    <p:sldId id="353" r:id="rId15"/>
    <p:sldId id="356" r:id="rId16"/>
    <p:sldId id="357" r:id="rId17"/>
    <p:sldId id="319" r:id="rId18"/>
    <p:sldId id="28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006600"/>
    <a:srgbClr val="FF5050"/>
    <a:srgbClr val="3333FF"/>
    <a:srgbClr val="FF3399"/>
    <a:srgbClr val="FF9933"/>
    <a:srgbClr val="0066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629" y="96"/>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175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340993-5D51-410F-831E-C7D6C3FC6C9D}" type="datetimeFigureOut">
              <a:rPr lang="en-IN" smtClean="0"/>
              <a:pPr/>
              <a:t>31-03-2025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A56AD6-7EAA-43A0-B422-3816FBA76F81}" type="slidenum">
              <a:rPr lang="en-IN" smtClean="0"/>
              <a:pPr/>
              <a:t>‹#›</a:t>
            </a:fld>
            <a:endParaRPr lang="en-IN"/>
          </a:p>
        </p:txBody>
      </p:sp>
    </p:spTree>
    <p:extLst>
      <p:ext uri="{BB962C8B-B14F-4D97-AF65-F5344CB8AC3E}">
        <p14:creationId xmlns:p14="http://schemas.microsoft.com/office/powerpoint/2010/main" val="3007735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BA56AD6-7EAA-43A0-B422-3816FBA76F81}" type="slidenum">
              <a:rPr lang="en-IN" smtClean="0"/>
              <a:pPr/>
              <a:t>17</a:t>
            </a:fld>
            <a:endParaRPr lang="en-IN"/>
          </a:p>
        </p:txBody>
      </p:sp>
    </p:spTree>
    <p:extLst>
      <p:ext uri="{BB962C8B-B14F-4D97-AF65-F5344CB8AC3E}">
        <p14:creationId xmlns:p14="http://schemas.microsoft.com/office/powerpoint/2010/main" val="953393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7E96280-2DD8-4637-AEF8-FD341147BCD2}" type="datetime1">
              <a:rPr lang="en-US" smtClean="0"/>
              <a:pPr/>
              <a:t>3/31/2025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28C0E23-58D2-406D-9AD1-2404728CFFA6}" type="datetime1">
              <a:rPr lang="en-US" smtClean="0"/>
              <a:pPr/>
              <a:t>3/31/2025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82BA738-6D80-48A1-8BCD-D6BE169D7B03}" type="datetime1">
              <a:rPr lang="en-US" smtClean="0"/>
              <a:pPr/>
              <a:t>3/31/2025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FD331A3-FAB7-48B6-B0E1-D1F10E24C426}" type="datetime1">
              <a:rPr lang="en-US" smtClean="0"/>
              <a:pPr/>
              <a:t>3/31/2025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36D1E56-D4EC-464E-BF1C-EBBF7856C257}" type="datetime1">
              <a:rPr lang="en-US" smtClean="0"/>
              <a:pPr/>
              <a:t>3/31/2025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33314FD-2DD5-47C7-9063-0FE1ACDAB2C6}" type="datetime1">
              <a:rPr lang="en-US" smtClean="0"/>
              <a:pPr/>
              <a:t>3/31/2025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5F5E16-B69D-4C21-A0BA-B8E2BF0B31B0}" type="datetime1">
              <a:rPr lang="en-US" smtClean="0"/>
              <a:pPr/>
              <a:t>3/31/2025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27A03D-856C-4B78-9D18-6EFF78581535}" type="datetime1">
              <a:rPr lang="en-US" smtClean="0"/>
              <a:pPr/>
              <a:t>3/31/2025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14E3F39-0EA5-44AF-A791-E1653585019B}" type="datetime1">
              <a:rPr lang="en-US" smtClean="0"/>
              <a:pPr/>
              <a:t>3/31/2025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166CF84-CA24-49DB-A530-89F9925E528A}" type="datetime1">
              <a:rPr lang="en-US" smtClean="0"/>
              <a:pPr/>
              <a:t>3/31/2025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E068D27-62C9-4106-A485-46065231F5DA}" type="datetime1">
              <a:rPr lang="en-US" smtClean="0"/>
              <a:pPr/>
              <a:t>3/31/2025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C292C0-B0FF-4DAD-AFC8-67CB345CA3F6}"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1FA180-EDEF-4285-B883-B806A21B4528}" type="datetime1">
              <a:rPr lang="en-US" smtClean="0"/>
              <a:pPr/>
              <a:t>3/31/2025</a:t>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C292C0-B0FF-4DAD-AFC8-67CB345CA3F6}"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4"/>
            <a:ext cx="12192000" cy="857256"/>
          </a:xfrm>
          <a:solidFill>
            <a:srgbClr val="0000FF"/>
          </a:solidFill>
        </p:spPr>
        <p:txBody>
          <a:bodyPr>
            <a:normAutofit/>
          </a:bodyPr>
          <a:lstStyle/>
          <a:p>
            <a:r>
              <a:rPr lang="en-IN" sz="4000" b="1" dirty="0">
                <a:solidFill>
                  <a:schemeClr val="bg1"/>
                </a:solidFill>
              </a:rPr>
              <a:t>DESIGN THINKING AND INNOVATION</a:t>
            </a:r>
          </a:p>
        </p:txBody>
      </p:sp>
      <p:sp>
        <p:nvSpPr>
          <p:cNvPr id="5" name="TextBox 4"/>
          <p:cNvSpPr txBox="1"/>
          <p:nvPr/>
        </p:nvSpPr>
        <p:spPr>
          <a:xfrm>
            <a:off x="263352" y="5301208"/>
            <a:ext cx="11665296" cy="1421928"/>
          </a:xfrm>
          <a:prstGeom prst="rect">
            <a:avLst/>
          </a:prstGeom>
          <a:noFill/>
          <a:ln>
            <a:solidFill>
              <a:srgbClr val="FF3300"/>
            </a:solidFill>
          </a:ln>
        </p:spPr>
        <p:txBody>
          <a:bodyPr wrap="square" rtlCol="0">
            <a:spAutoFit/>
          </a:bodyPr>
          <a:lstStyle/>
          <a:p>
            <a:pPr algn="ctr">
              <a:lnSpc>
                <a:spcPct val="120000"/>
              </a:lnSpc>
            </a:pPr>
            <a:r>
              <a:rPr lang="en-IN" sz="2400" b="1" dirty="0">
                <a:solidFill>
                  <a:srgbClr val="C00000"/>
                </a:solidFill>
              </a:rPr>
              <a:t>Dr V. Ramakrishna</a:t>
            </a:r>
          </a:p>
          <a:p>
            <a:pPr algn="ctr">
              <a:lnSpc>
                <a:spcPct val="120000"/>
              </a:lnSpc>
            </a:pPr>
            <a:r>
              <a:rPr lang="en-IN" sz="2400" b="1" dirty="0"/>
              <a:t>Professor, Civil Engineering Department</a:t>
            </a:r>
          </a:p>
          <a:p>
            <a:pPr algn="ctr">
              <a:lnSpc>
                <a:spcPct val="120000"/>
              </a:lnSpc>
            </a:pPr>
            <a:r>
              <a:rPr lang="en-IN" sz="2400" b="1" dirty="0" err="1"/>
              <a:t>Lakireddy</a:t>
            </a:r>
            <a:r>
              <a:rPr lang="en-IN" sz="2400" b="1" dirty="0"/>
              <a:t> Bali Reddy College of Engineering (A), </a:t>
            </a:r>
            <a:r>
              <a:rPr lang="en-IN" sz="2400" b="1" dirty="0" err="1"/>
              <a:t>Mylavaram</a:t>
            </a:r>
            <a:endParaRPr lang="en-IN" sz="2400" b="1" dirty="0"/>
          </a:p>
        </p:txBody>
      </p:sp>
      <p:sp>
        <p:nvSpPr>
          <p:cNvPr id="16386" name="AutoShape 2" descr="Design Thinking for Product Development at Welingkar"/>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3792" y="1412776"/>
            <a:ext cx="2658026" cy="2658026"/>
          </a:xfrm>
          <a:prstGeom prst="rect">
            <a:avLst/>
          </a:prstGeom>
        </p:spPr>
      </p:pic>
      <p:sp>
        <p:nvSpPr>
          <p:cNvPr id="4" name="Oval 3"/>
          <p:cNvSpPr/>
          <p:nvPr/>
        </p:nvSpPr>
        <p:spPr>
          <a:xfrm>
            <a:off x="4079776" y="1196752"/>
            <a:ext cx="2944918" cy="30895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p:cNvSpPr>
            <a:spLocks noGrp="1"/>
          </p:cNvSpPr>
          <p:nvPr>
            <p:ph type="sldNum" sz="quarter" idx="12"/>
          </p:nvPr>
        </p:nvSpPr>
        <p:spPr/>
        <p:txBody>
          <a:bodyPr/>
          <a:lstStyle/>
          <a:p>
            <a:fld id="{F5C292C0-B0FF-4DAD-AFC8-67CB345CA3F6}" type="slidenum">
              <a:rPr lang="en-IN" smtClean="0"/>
              <a:pPr/>
              <a:t>1</a:t>
            </a:fld>
            <a:endParaRPr lang="en-IN"/>
          </a:p>
        </p:txBody>
      </p:sp>
      <p:sp>
        <p:nvSpPr>
          <p:cNvPr id="8" name="TextBox 7"/>
          <p:cNvSpPr txBox="1"/>
          <p:nvPr/>
        </p:nvSpPr>
        <p:spPr>
          <a:xfrm>
            <a:off x="2056524" y="4681847"/>
            <a:ext cx="8143932" cy="461665"/>
          </a:xfrm>
          <a:prstGeom prst="rect">
            <a:avLst/>
          </a:prstGeom>
          <a:noFill/>
        </p:spPr>
        <p:txBody>
          <a:bodyPr wrap="square" rtlCol="0">
            <a:spAutoFit/>
          </a:bodyPr>
          <a:lstStyle/>
          <a:p>
            <a:pPr algn="ctr"/>
            <a:r>
              <a:rPr lang="en-IN" sz="2400" b="1" dirty="0" smtClean="0">
                <a:solidFill>
                  <a:srgbClr val="C00000"/>
                </a:solidFill>
              </a:rPr>
              <a:t>BUSINESS STARTUPS AND PROTOTYPE TESTING APPROACHES </a:t>
            </a:r>
            <a:endParaRPr lang="en-IN" sz="2400" b="1" dirty="0">
              <a:solidFill>
                <a:srgbClr val="C00000"/>
              </a:solidFill>
            </a:endParaRPr>
          </a:p>
        </p:txBody>
      </p:sp>
    </p:spTree>
    <p:extLst>
      <p:ext uri="{BB962C8B-B14F-4D97-AF65-F5344CB8AC3E}">
        <p14:creationId xmlns:p14="http://schemas.microsoft.com/office/powerpoint/2010/main" val="37188356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42942"/>
          </a:xfrm>
          <a:solidFill>
            <a:srgbClr val="0000FF"/>
          </a:solidFill>
        </p:spPr>
        <p:txBody>
          <a:bodyPr>
            <a:normAutofit/>
          </a:bodyPr>
          <a:lstStyle/>
          <a:p>
            <a:r>
              <a:rPr lang="en-IN" sz="3200" b="1" dirty="0">
                <a:solidFill>
                  <a:schemeClr val="bg1"/>
                </a:solidFill>
              </a:rPr>
              <a:t>Elements of Design Thinking</a:t>
            </a:r>
          </a:p>
        </p:txBody>
      </p:sp>
      <p:pic>
        <p:nvPicPr>
          <p:cNvPr id="4" name="Picture 3" descr="DT8.png"/>
          <p:cNvPicPr>
            <a:picLocks noChangeAspect="1"/>
          </p:cNvPicPr>
          <p:nvPr/>
        </p:nvPicPr>
        <p:blipFill>
          <a:blip r:embed="rId2"/>
          <a:stretch>
            <a:fillRect/>
          </a:stretch>
        </p:blipFill>
        <p:spPr>
          <a:xfrm>
            <a:off x="248010" y="1120848"/>
            <a:ext cx="11032566" cy="5569735"/>
          </a:xfrm>
          <a:prstGeom prst="rect">
            <a:avLst/>
          </a:prstGeom>
        </p:spPr>
      </p:pic>
      <p:sp>
        <p:nvSpPr>
          <p:cNvPr id="5" name="TextBox 4"/>
          <p:cNvSpPr txBox="1"/>
          <p:nvPr/>
        </p:nvSpPr>
        <p:spPr>
          <a:xfrm>
            <a:off x="1952596" y="1059404"/>
            <a:ext cx="2928958" cy="369332"/>
          </a:xfrm>
          <a:prstGeom prst="rect">
            <a:avLst/>
          </a:prstGeom>
          <a:noFill/>
        </p:spPr>
        <p:txBody>
          <a:bodyPr wrap="square" rtlCol="0">
            <a:spAutoFit/>
          </a:bodyPr>
          <a:lstStyle/>
          <a:p>
            <a:r>
              <a:rPr lang="en-IN" b="1" i="1" dirty="0">
                <a:solidFill>
                  <a:srgbClr val="FF3300"/>
                </a:solidFill>
              </a:rPr>
              <a:t>Innovation/Outcome</a:t>
            </a:r>
          </a:p>
        </p:txBody>
      </p:sp>
      <p:sp>
        <p:nvSpPr>
          <p:cNvPr id="3" name="Slide Number Placeholder 2"/>
          <p:cNvSpPr>
            <a:spLocks noGrp="1"/>
          </p:cNvSpPr>
          <p:nvPr>
            <p:ph type="sldNum" sz="quarter" idx="12"/>
          </p:nvPr>
        </p:nvSpPr>
        <p:spPr/>
        <p:txBody>
          <a:bodyPr/>
          <a:lstStyle/>
          <a:p>
            <a:fld id="{F5C292C0-B0FF-4DAD-AFC8-67CB345CA3F6}" type="slidenum">
              <a:rPr lang="en-IN" smtClean="0"/>
              <a:pPr/>
              <a:t>2</a:t>
            </a:fld>
            <a:endParaRPr lang="en-I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737"/>
            <a:ext cx="12192000" cy="571504"/>
          </a:xfrm>
          <a:solidFill>
            <a:srgbClr val="0000FF"/>
          </a:solidFill>
        </p:spPr>
        <p:txBody>
          <a:bodyPr>
            <a:normAutofit fontScale="90000"/>
          </a:bodyPr>
          <a:lstStyle/>
          <a:p>
            <a:r>
              <a:rPr lang="en-IN" sz="3600" b="1" dirty="0">
                <a:solidFill>
                  <a:schemeClr val="bg1"/>
                </a:solidFill>
              </a:rPr>
              <a:t>Elements of Design Thinking</a:t>
            </a:r>
          </a:p>
        </p:txBody>
      </p:sp>
      <p:pic>
        <p:nvPicPr>
          <p:cNvPr id="4" name="Picture 3" descr="DT2.jpg"/>
          <p:cNvPicPr>
            <a:picLocks noChangeAspect="1"/>
          </p:cNvPicPr>
          <p:nvPr/>
        </p:nvPicPr>
        <p:blipFill>
          <a:blip r:embed="rId2"/>
          <a:stretch>
            <a:fillRect/>
          </a:stretch>
        </p:blipFill>
        <p:spPr>
          <a:xfrm>
            <a:off x="2666976" y="723644"/>
            <a:ext cx="7215238" cy="5576349"/>
          </a:xfrm>
          <a:prstGeom prst="rect">
            <a:avLst/>
          </a:prstGeom>
        </p:spPr>
      </p:pic>
      <p:sp>
        <p:nvSpPr>
          <p:cNvPr id="5" name="TextBox 4"/>
          <p:cNvSpPr txBox="1"/>
          <p:nvPr/>
        </p:nvSpPr>
        <p:spPr>
          <a:xfrm>
            <a:off x="3024166" y="6429396"/>
            <a:ext cx="1071570" cy="338554"/>
          </a:xfrm>
          <a:prstGeom prst="rect">
            <a:avLst/>
          </a:prstGeom>
          <a:noFill/>
          <a:ln>
            <a:solidFill>
              <a:schemeClr val="accent1"/>
            </a:solidFill>
          </a:ln>
        </p:spPr>
        <p:txBody>
          <a:bodyPr wrap="square" rtlCol="0">
            <a:spAutoFit/>
          </a:bodyPr>
          <a:lstStyle/>
          <a:p>
            <a:pPr algn="ctr"/>
            <a:r>
              <a:rPr lang="en-IN" sz="1600" b="1" dirty="0">
                <a:solidFill>
                  <a:srgbClr val="FF0000"/>
                </a:solidFill>
              </a:rPr>
              <a:t>INSIGHTS</a:t>
            </a:r>
          </a:p>
        </p:txBody>
      </p:sp>
      <p:sp>
        <p:nvSpPr>
          <p:cNvPr id="6" name="TextBox 5"/>
          <p:cNvSpPr txBox="1"/>
          <p:nvPr/>
        </p:nvSpPr>
        <p:spPr>
          <a:xfrm>
            <a:off x="4524364" y="6448032"/>
            <a:ext cx="928694" cy="338554"/>
          </a:xfrm>
          <a:prstGeom prst="rect">
            <a:avLst/>
          </a:prstGeom>
          <a:noFill/>
          <a:ln>
            <a:solidFill>
              <a:schemeClr val="accent1"/>
            </a:solidFill>
          </a:ln>
        </p:spPr>
        <p:txBody>
          <a:bodyPr wrap="square" rtlCol="0">
            <a:spAutoFit/>
          </a:bodyPr>
          <a:lstStyle/>
          <a:p>
            <a:pPr algn="ctr"/>
            <a:r>
              <a:rPr lang="en-IN" sz="1600" b="1" dirty="0">
                <a:solidFill>
                  <a:srgbClr val="FF0000"/>
                </a:solidFill>
              </a:rPr>
              <a:t>NEEDS</a:t>
            </a:r>
          </a:p>
        </p:txBody>
      </p:sp>
      <p:sp>
        <p:nvSpPr>
          <p:cNvPr id="7" name="TextBox 6"/>
          <p:cNvSpPr txBox="1"/>
          <p:nvPr/>
        </p:nvSpPr>
        <p:spPr>
          <a:xfrm>
            <a:off x="5595934" y="6448033"/>
            <a:ext cx="1148138" cy="338554"/>
          </a:xfrm>
          <a:prstGeom prst="rect">
            <a:avLst/>
          </a:prstGeom>
          <a:noFill/>
          <a:ln>
            <a:solidFill>
              <a:schemeClr val="accent1"/>
            </a:solidFill>
          </a:ln>
        </p:spPr>
        <p:txBody>
          <a:bodyPr wrap="square" rtlCol="0">
            <a:spAutoFit/>
          </a:bodyPr>
          <a:lstStyle/>
          <a:p>
            <a:pPr algn="ctr"/>
            <a:r>
              <a:rPr lang="en-IN" sz="1600" b="1" dirty="0">
                <a:solidFill>
                  <a:srgbClr val="FF0000"/>
                </a:solidFill>
              </a:rPr>
              <a:t>CONCEPTS</a:t>
            </a:r>
          </a:p>
        </p:txBody>
      </p:sp>
      <p:sp>
        <p:nvSpPr>
          <p:cNvPr id="8" name="TextBox 7"/>
          <p:cNvSpPr txBox="1"/>
          <p:nvPr/>
        </p:nvSpPr>
        <p:spPr>
          <a:xfrm>
            <a:off x="6881818" y="6448032"/>
            <a:ext cx="1071570" cy="338554"/>
          </a:xfrm>
          <a:prstGeom prst="rect">
            <a:avLst/>
          </a:prstGeom>
          <a:noFill/>
          <a:ln>
            <a:solidFill>
              <a:schemeClr val="accent1"/>
            </a:solidFill>
          </a:ln>
        </p:spPr>
        <p:txBody>
          <a:bodyPr wrap="square" rtlCol="0">
            <a:spAutoFit/>
          </a:bodyPr>
          <a:lstStyle/>
          <a:p>
            <a:pPr algn="ctr"/>
            <a:r>
              <a:rPr lang="en-IN" sz="1600" b="1" dirty="0">
                <a:solidFill>
                  <a:srgbClr val="FF0000"/>
                </a:solidFill>
              </a:rPr>
              <a:t>MODELS</a:t>
            </a:r>
          </a:p>
        </p:txBody>
      </p:sp>
      <p:sp>
        <p:nvSpPr>
          <p:cNvPr id="9" name="TextBox 8"/>
          <p:cNvSpPr txBox="1"/>
          <p:nvPr/>
        </p:nvSpPr>
        <p:spPr>
          <a:xfrm>
            <a:off x="8382016" y="6429396"/>
            <a:ext cx="1071570" cy="338554"/>
          </a:xfrm>
          <a:prstGeom prst="rect">
            <a:avLst/>
          </a:prstGeom>
          <a:noFill/>
          <a:ln>
            <a:solidFill>
              <a:schemeClr val="accent1"/>
            </a:solidFill>
          </a:ln>
        </p:spPr>
        <p:txBody>
          <a:bodyPr wrap="square" rtlCol="0">
            <a:spAutoFit/>
          </a:bodyPr>
          <a:lstStyle/>
          <a:p>
            <a:pPr algn="ctr"/>
            <a:r>
              <a:rPr lang="en-IN" sz="1600" b="1" dirty="0">
                <a:solidFill>
                  <a:srgbClr val="FF0000"/>
                </a:solidFill>
              </a:rPr>
              <a:t>REFINE</a:t>
            </a:r>
          </a:p>
        </p:txBody>
      </p:sp>
      <p:sp>
        <p:nvSpPr>
          <p:cNvPr id="3" name="Slide Number Placeholder 2"/>
          <p:cNvSpPr>
            <a:spLocks noGrp="1"/>
          </p:cNvSpPr>
          <p:nvPr>
            <p:ph type="sldNum" sz="quarter" idx="12"/>
          </p:nvPr>
        </p:nvSpPr>
        <p:spPr/>
        <p:txBody>
          <a:bodyPr/>
          <a:lstStyle/>
          <a:p>
            <a:fld id="{F5C292C0-B0FF-4DAD-AFC8-67CB345CA3F6}" type="slidenum">
              <a:rPr lang="en-IN" smtClean="0"/>
              <a:pPr/>
              <a:t>3</a:t>
            </a:fld>
            <a:endParaRPr lang="en-I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Startup</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4</a:t>
            </a:fld>
            <a:endParaRPr lang="en-IN" dirty="0"/>
          </a:p>
        </p:txBody>
      </p:sp>
      <p:sp>
        <p:nvSpPr>
          <p:cNvPr id="4" name="TextBox 3"/>
          <p:cNvSpPr txBox="1"/>
          <p:nvPr/>
        </p:nvSpPr>
        <p:spPr>
          <a:xfrm>
            <a:off x="335360" y="980728"/>
            <a:ext cx="7992888" cy="5262979"/>
          </a:xfrm>
          <a:prstGeom prst="rect">
            <a:avLst/>
          </a:prstGeom>
          <a:noFill/>
          <a:ln>
            <a:solidFill>
              <a:srgbClr val="006600"/>
            </a:solidFill>
          </a:ln>
        </p:spPr>
        <p:txBody>
          <a:bodyPr wrap="square" rtlCol="0">
            <a:spAutoFit/>
          </a:bodyPr>
          <a:lstStyle/>
          <a:p>
            <a:pPr marL="342900" indent="-342900">
              <a:buFont typeface="Arial" panose="020B0604020202020204" pitchFamily="34" charset="0"/>
              <a:buChar char="•"/>
            </a:pPr>
            <a:r>
              <a:rPr lang="en-US" sz="2400" dirty="0" smtClean="0">
                <a:solidFill>
                  <a:srgbClr val="C00000"/>
                </a:solidFill>
              </a:rPr>
              <a:t>It is a </a:t>
            </a:r>
            <a:r>
              <a:rPr lang="en-US" sz="2400" dirty="0">
                <a:solidFill>
                  <a:srgbClr val="C00000"/>
                </a:solidFill>
              </a:rPr>
              <a:t>company in its early stages of operation, typically characterized by high growth potential and a focus on innovation or disruption, often requiring significant investment to get off the ground. </a:t>
            </a:r>
            <a:endParaRPr lang="en-US" sz="2400" dirty="0" smtClean="0">
              <a:solidFill>
                <a:srgbClr val="C00000"/>
              </a:solidFill>
            </a:endParaRPr>
          </a:p>
          <a:p>
            <a:pPr marL="342900" indent="-342900">
              <a:buFont typeface="Arial" panose="020B0604020202020204" pitchFamily="34" charset="0"/>
              <a:buChar char="•"/>
            </a:pPr>
            <a:r>
              <a:rPr lang="en-US" sz="2400" dirty="0" smtClean="0"/>
              <a:t>It is a </a:t>
            </a:r>
            <a:r>
              <a:rPr lang="en-US" sz="2400" dirty="0"/>
              <a:t>newly created company that relies on information and communication technologies (ICT) to market its products or services. It features a scalable business model in which its priority is to grow quickly and smoothly</a:t>
            </a:r>
            <a:r>
              <a:rPr lang="en-US" sz="2400" dirty="0" smtClean="0"/>
              <a:t>.</a:t>
            </a:r>
          </a:p>
          <a:p>
            <a:pPr marL="342900" indent="-342900">
              <a:buFont typeface="Arial" panose="020B0604020202020204" pitchFamily="34" charset="0"/>
              <a:buChar char="•"/>
            </a:pPr>
            <a:r>
              <a:rPr lang="en-US" sz="2400" dirty="0" smtClean="0">
                <a:solidFill>
                  <a:srgbClr val="0000FF"/>
                </a:solidFill>
              </a:rPr>
              <a:t>It is a </a:t>
            </a:r>
            <a:r>
              <a:rPr lang="en-US" sz="2400" dirty="0">
                <a:solidFill>
                  <a:srgbClr val="0000FF"/>
                </a:solidFill>
              </a:rPr>
              <a:t>newly formed business with particular momentum behind it based on perceived demand for its product or service</a:t>
            </a:r>
            <a:r>
              <a:rPr lang="en-US" sz="2400" dirty="0" smtClean="0">
                <a:solidFill>
                  <a:srgbClr val="0000FF"/>
                </a:solidFill>
              </a:rPr>
              <a:t>.</a:t>
            </a:r>
          </a:p>
          <a:p>
            <a:pPr marL="342900" indent="-342900">
              <a:buFont typeface="Arial" panose="020B0604020202020204" pitchFamily="34" charset="0"/>
              <a:buChar char="•"/>
            </a:pPr>
            <a:r>
              <a:rPr lang="en-US" sz="2400" dirty="0">
                <a:solidFill>
                  <a:srgbClr val="C00000"/>
                </a:solidFill>
                <a:latin typeface="Arial Narrow" panose="020B0606020202030204" pitchFamily="34" charset="0"/>
              </a:rPr>
              <a:t>During the beginning, startups face high </a:t>
            </a:r>
            <a:r>
              <a:rPr lang="en-US" sz="2400" dirty="0" smtClean="0">
                <a:solidFill>
                  <a:srgbClr val="C00000"/>
                </a:solidFill>
                <a:latin typeface="Arial Narrow" panose="020B0606020202030204" pitchFamily="34" charset="0"/>
              </a:rPr>
              <a:t>uncertainty</a:t>
            </a:r>
            <a:r>
              <a:rPr lang="en-US" sz="2400" baseline="30000" dirty="0">
                <a:solidFill>
                  <a:srgbClr val="C00000"/>
                </a:solidFill>
                <a:latin typeface="Arial Narrow" panose="020B0606020202030204" pitchFamily="34" charset="0"/>
              </a:rPr>
              <a:t> </a:t>
            </a:r>
            <a:r>
              <a:rPr lang="en-US" sz="2400" dirty="0" smtClean="0">
                <a:solidFill>
                  <a:srgbClr val="C00000"/>
                </a:solidFill>
                <a:latin typeface="Arial Narrow" panose="020B0606020202030204" pitchFamily="34" charset="0"/>
              </a:rPr>
              <a:t>and </a:t>
            </a:r>
            <a:r>
              <a:rPr lang="en-US" sz="2400" dirty="0">
                <a:solidFill>
                  <a:srgbClr val="C00000"/>
                </a:solidFill>
                <a:latin typeface="Arial Narrow" panose="020B0606020202030204" pitchFamily="34" charset="0"/>
              </a:rPr>
              <a:t>have high rates of failure, but a </a:t>
            </a:r>
            <a:r>
              <a:rPr lang="en-US" sz="2400" dirty="0" smtClean="0">
                <a:solidFill>
                  <a:srgbClr val="C00000"/>
                </a:solidFill>
                <a:latin typeface="Arial Narrow" panose="020B0606020202030204" pitchFamily="34" charset="0"/>
              </a:rPr>
              <a:t>few of </a:t>
            </a:r>
            <a:r>
              <a:rPr lang="en-US" sz="2400" dirty="0">
                <a:solidFill>
                  <a:srgbClr val="C00000"/>
                </a:solidFill>
                <a:latin typeface="Arial Narrow" panose="020B0606020202030204" pitchFamily="34" charset="0"/>
              </a:rPr>
              <a:t>them </a:t>
            </a:r>
            <a:r>
              <a:rPr lang="en-US" sz="2400" dirty="0" smtClean="0">
                <a:solidFill>
                  <a:srgbClr val="C00000"/>
                </a:solidFill>
                <a:latin typeface="Arial Narrow" panose="020B0606020202030204" pitchFamily="34" charset="0"/>
              </a:rPr>
              <a:t>go </a:t>
            </a:r>
            <a:r>
              <a:rPr lang="en-US" sz="2400" dirty="0">
                <a:solidFill>
                  <a:srgbClr val="C00000"/>
                </a:solidFill>
                <a:latin typeface="Arial Narrow" panose="020B0606020202030204" pitchFamily="34" charset="0"/>
              </a:rPr>
              <a:t>on to become successful and </a:t>
            </a:r>
            <a:r>
              <a:rPr lang="en-US" sz="2400" dirty="0" smtClean="0">
                <a:solidFill>
                  <a:srgbClr val="C00000"/>
                </a:solidFill>
                <a:latin typeface="Arial Narrow" panose="020B0606020202030204" pitchFamily="34" charset="0"/>
              </a:rPr>
              <a:t>influential – called as </a:t>
            </a:r>
            <a:r>
              <a:rPr lang="en-US" sz="2400" b="1" dirty="0" smtClean="0">
                <a:solidFill>
                  <a:srgbClr val="C00000"/>
                </a:solidFill>
                <a:latin typeface="Arial Narrow" panose="020B0606020202030204" pitchFamily="34" charset="0"/>
              </a:rPr>
              <a:t>Unicorns</a:t>
            </a:r>
            <a:endParaRPr lang="en-IN" sz="2400" b="1" dirty="0">
              <a:solidFill>
                <a:srgbClr val="C00000"/>
              </a:solidFill>
              <a:latin typeface="Arial Narrow" panose="020B0606020202030204"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2264" y="897414"/>
            <a:ext cx="3600400" cy="2099538"/>
          </a:xfrm>
          <a:prstGeom prst="rect">
            <a:avLst/>
          </a:prstGeom>
        </p:spPr>
      </p:pic>
      <p:pic>
        <p:nvPicPr>
          <p:cNvPr id="1026" name="Picture 2" descr="Startup India Registration / DIPP in Bhop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2466" y="3612217"/>
            <a:ext cx="3538348" cy="2265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2376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Startup</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5</a:t>
            </a:fld>
            <a:endParaRPr lang="en-IN"/>
          </a:p>
        </p:txBody>
      </p:sp>
      <p:sp>
        <p:nvSpPr>
          <p:cNvPr id="3" name="Rectangle 2"/>
          <p:cNvSpPr/>
          <p:nvPr/>
        </p:nvSpPr>
        <p:spPr>
          <a:xfrm>
            <a:off x="119336" y="875710"/>
            <a:ext cx="7848872" cy="3416320"/>
          </a:xfrm>
          <a:prstGeom prst="rect">
            <a:avLst/>
          </a:prstGeom>
          <a:ln>
            <a:solidFill>
              <a:srgbClr val="FF5050"/>
            </a:solidFill>
          </a:ln>
        </p:spPr>
        <p:txBody>
          <a:bodyPr wrap="square">
            <a:spAutoFit/>
          </a:bodyPr>
          <a:lstStyle/>
          <a:p>
            <a:pPr algn="ctr" fontAlgn="base"/>
            <a:r>
              <a:rPr lang="en-US" sz="2400" b="1" dirty="0">
                <a:solidFill>
                  <a:srgbClr val="333333"/>
                </a:solidFill>
              </a:rPr>
              <a:t>What is the Startup India Initiative?</a:t>
            </a:r>
          </a:p>
          <a:p>
            <a:pPr marL="342900" indent="-342900" fontAlgn="base">
              <a:buFont typeface="Arial" panose="020B0604020202020204" pitchFamily="34" charset="0"/>
              <a:buChar char="•"/>
            </a:pPr>
            <a:r>
              <a:rPr lang="en-US" sz="2400" dirty="0"/>
              <a:t>Launched on 16th January, 2016, the Startup India Initiative has rolled out several programs with the objective of supporting entrepreneurs, building a robust startup ecosystem and transforming India into a country of job creators instead of job seekers. </a:t>
            </a:r>
            <a:endParaRPr lang="en-US" sz="2400" dirty="0" smtClean="0"/>
          </a:p>
          <a:p>
            <a:pPr marL="342900" indent="-342900" fontAlgn="base">
              <a:buFont typeface="Arial" panose="020B0604020202020204" pitchFamily="34" charset="0"/>
              <a:buChar char="•"/>
            </a:pPr>
            <a:r>
              <a:rPr lang="en-US" sz="2400" dirty="0" smtClean="0"/>
              <a:t>These </a:t>
            </a:r>
            <a:r>
              <a:rPr lang="en-US" sz="2400" dirty="0"/>
              <a:t>programs are managed by a dedicated Startup India Team, which reports to The</a:t>
            </a:r>
            <a:r>
              <a:rPr lang="en-US" sz="2400" dirty="0">
                <a:solidFill>
                  <a:srgbClr val="525252"/>
                </a:solidFill>
              </a:rPr>
              <a:t> </a:t>
            </a:r>
            <a:r>
              <a:rPr lang="en-US" sz="2400" b="1" dirty="0">
                <a:solidFill>
                  <a:srgbClr val="C00000"/>
                </a:solidFill>
              </a:rPr>
              <a:t>Department for Promotion of Industry and Internal Trade (DPIIT)</a:t>
            </a:r>
            <a:endParaRPr lang="en-US" sz="2400" b="1" i="0" dirty="0">
              <a:solidFill>
                <a:srgbClr val="C00000"/>
              </a:solidFill>
              <a:effectLst/>
            </a:endParaRPr>
          </a:p>
        </p:txBody>
      </p:sp>
      <p:sp>
        <p:nvSpPr>
          <p:cNvPr id="7" name="TextBox 6"/>
          <p:cNvSpPr txBox="1"/>
          <p:nvPr/>
        </p:nvSpPr>
        <p:spPr>
          <a:xfrm>
            <a:off x="8472264" y="3356992"/>
            <a:ext cx="3456384" cy="369332"/>
          </a:xfrm>
          <a:prstGeom prst="rect">
            <a:avLst/>
          </a:prstGeom>
          <a:noFill/>
        </p:spPr>
        <p:txBody>
          <a:bodyPr wrap="square" rtlCol="0">
            <a:spAutoFit/>
          </a:bodyPr>
          <a:lstStyle/>
          <a:p>
            <a:r>
              <a:rPr lang="en-IN"/>
              <a:t>https://www.startupindia.gov.in/</a:t>
            </a:r>
            <a:endParaRPr lang="en-IN" dirty="0"/>
          </a:p>
        </p:txBody>
      </p:sp>
      <p:sp>
        <p:nvSpPr>
          <p:cNvPr id="8" name="TextBox 7"/>
          <p:cNvSpPr txBox="1"/>
          <p:nvPr/>
        </p:nvSpPr>
        <p:spPr>
          <a:xfrm>
            <a:off x="191344" y="4437112"/>
            <a:ext cx="11305256" cy="1569660"/>
          </a:xfrm>
          <a:prstGeom prst="rect">
            <a:avLst/>
          </a:prstGeom>
          <a:noFill/>
          <a:ln>
            <a:solidFill>
              <a:srgbClr val="00B050"/>
            </a:solidFill>
          </a:ln>
        </p:spPr>
        <p:txBody>
          <a:bodyPr wrap="square" rtlCol="0">
            <a:spAutoFit/>
          </a:bodyPr>
          <a:lstStyle/>
          <a:p>
            <a:pPr algn="ctr" fontAlgn="base"/>
            <a:r>
              <a:rPr lang="en-US" sz="2400" b="1" dirty="0"/>
              <a:t>DPIIT Recognition</a:t>
            </a:r>
          </a:p>
          <a:p>
            <a:pPr fontAlgn="base"/>
            <a:r>
              <a:rPr lang="en-US" sz="2400" dirty="0"/>
              <a:t>Under the Startup India initiative, eligible companies can get </a:t>
            </a:r>
            <a:r>
              <a:rPr lang="en-US" sz="2400" dirty="0" smtClean="0"/>
              <a:t>recognized </a:t>
            </a:r>
            <a:r>
              <a:rPr lang="en-US" sz="2400" dirty="0"/>
              <a:t>as Startups by DPIIT, in order to access a host of tax benefits, easier compliance, IPR fast-tracking and more</a:t>
            </a:r>
            <a:r>
              <a:rPr lang="en-US" sz="2400" dirty="0" smtClean="0"/>
              <a:t>.</a:t>
            </a:r>
            <a:endParaRPr lang="en-US" sz="2400" dirty="0"/>
          </a:p>
        </p:txBody>
      </p:sp>
      <p:pic>
        <p:nvPicPr>
          <p:cNvPr id="2052" name="Picture 4" descr="Partnership | Partner With U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4231" y="1557085"/>
            <a:ext cx="3744417" cy="1245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4765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Typical Startups in India</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6</a:t>
            </a:fld>
            <a:endParaRPr lang="en-IN"/>
          </a:p>
        </p:txBody>
      </p:sp>
      <p:pic>
        <p:nvPicPr>
          <p:cNvPr id="18" name="Picture 17"/>
          <p:cNvPicPr>
            <a:picLocks noChangeAspect="1"/>
          </p:cNvPicPr>
          <p:nvPr/>
        </p:nvPicPr>
        <p:blipFill rotWithShape="1">
          <a:blip r:embed="rId2">
            <a:extLst>
              <a:ext uri="{28A0092B-C50C-407E-A947-70E740481C1C}">
                <a14:useLocalDpi xmlns:a14="http://schemas.microsoft.com/office/drawing/2010/main" val="0"/>
              </a:ext>
            </a:extLst>
          </a:blip>
          <a:srcRect l="9061" t="23698" r="17917" b="11394"/>
          <a:stretch/>
        </p:blipFill>
        <p:spPr>
          <a:xfrm>
            <a:off x="407368" y="764704"/>
            <a:ext cx="11327310" cy="5663655"/>
          </a:xfrm>
          <a:prstGeom prst="rect">
            <a:avLst/>
          </a:prstGeom>
          <a:ln>
            <a:solidFill>
              <a:srgbClr val="C00000"/>
            </a:solidFill>
          </a:ln>
        </p:spPr>
      </p:pic>
    </p:spTree>
    <p:extLst>
      <p:ext uri="{BB962C8B-B14F-4D97-AF65-F5344CB8AC3E}">
        <p14:creationId xmlns:p14="http://schemas.microsoft.com/office/powerpoint/2010/main" val="17039042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Typical Startups in India</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7</a:t>
            </a:fld>
            <a:endParaRPr lang="en-IN"/>
          </a:p>
        </p:txBody>
      </p:sp>
      <p:sp>
        <p:nvSpPr>
          <p:cNvPr id="3" name="TextBox 2"/>
          <p:cNvSpPr txBox="1"/>
          <p:nvPr/>
        </p:nvSpPr>
        <p:spPr>
          <a:xfrm>
            <a:off x="263352" y="908720"/>
            <a:ext cx="11665296" cy="5293757"/>
          </a:xfrm>
          <a:prstGeom prst="rect">
            <a:avLst/>
          </a:prstGeom>
          <a:noFill/>
          <a:ln>
            <a:solidFill>
              <a:srgbClr val="C00000"/>
            </a:solidFill>
          </a:ln>
        </p:spPr>
        <p:txBody>
          <a:bodyPr wrap="square" rtlCol="0">
            <a:spAutoFit/>
          </a:bodyPr>
          <a:lstStyle/>
          <a:p>
            <a:pPr marL="285750" indent="-285750" fontAlgn="ctr">
              <a:lnSpc>
                <a:spcPct val="130000"/>
              </a:lnSpc>
              <a:buFont typeface="Arial" panose="020B0604020202020204" pitchFamily="34" charset="0"/>
              <a:buChar char="•"/>
            </a:pPr>
            <a:r>
              <a:rPr lang="en-US" sz="2600" b="1" dirty="0"/>
              <a:t>BYJU'S:</a:t>
            </a:r>
            <a:r>
              <a:rPr lang="en-US" sz="2600" dirty="0"/>
              <a:t> </a:t>
            </a:r>
            <a:r>
              <a:rPr lang="en-US" sz="2600" dirty="0" err="1"/>
              <a:t>Edtech</a:t>
            </a:r>
            <a:r>
              <a:rPr lang="en-US" sz="2600" dirty="0"/>
              <a:t> giant with a valuation of $16 billion. </a:t>
            </a:r>
          </a:p>
          <a:p>
            <a:pPr marL="285750" indent="-285750" fontAlgn="ctr">
              <a:lnSpc>
                <a:spcPct val="130000"/>
              </a:lnSpc>
              <a:buFont typeface="Arial" panose="020B0604020202020204" pitchFamily="34" charset="0"/>
              <a:buChar char="•"/>
            </a:pPr>
            <a:r>
              <a:rPr lang="en-US" sz="2600" b="1" dirty="0" err="1"/>
              <a:t>Flipkart</a:t>
            </a:r>
            <a:r>
              <a:rPr lang="en-US" sz="2600" b="1" dirty="0"/>
              <a:t>:</a:t>
            </a:r>
            <a:r>
              <a:rPr lang="en-US" sz="2600" dirty="0"/>
              <a:t> E-commerce platform owned by Walmart, with a valuation of $37.6 </a:t>
            </a:r>
            <a:r>
              <a:rPr lang="en-US" sz="2600" dirty="0" err="1" smtClean="0"/>
              <a:t>bn</a:t>
            </a:r>
            <a:r>
              <a:rPr lang="en-US" sz="2600" dirty="0"/>
              <a:t> </a:t>
            </a:r>
          </a:p>
          <a:p>
            <a:pPr marL="285750" indent="-285750" fontAlgn="ctr">
              <a:lnSpc>
                <a:spcPct val="130000"/>
              </a:lnSpc>
              <a:buFont typeface="Arial" panose="020B0604020202020204" pitchFamily="34" charset="0"/>
              <a:buChar char="•"/>
            </a:pPr>
            <a:r>
              <a:rPr lang="en-US" sz="2600" b="1" dirty="0" err="1"/>
              <a:t>PhonePe</a:t>
            </a:r>
            <a:r>
              <a:rPr lang="en-US" sz="2600" b="1" dirty="0"/>
              <a:t>:</a:t>
            </a:r>
            <a:r>
              <a:rPr lang="en-US" sz="2600" dirty="0"/>
              <a:t> Digital payments platform, with a valuation of $12 billion. </a:t>
            </a:r>
          </a:p>
          <a:p>
            <a:pPr marL="285750" indent="-285750" fontAlgn="ctr">
              <a:lnSpc>
                <a:spcPct val="130000"/>
              </a:lnSpc>
              <a:buFont typeface="Arial" panose="020B0604020202020204" pitchFamily="34" charset="0"/>
              <a:buChar char="•"/>
            </a:pPr>
            <a:r>
              <a:rPr lang="en-US" sz="2600" b="1" dirty="0" err="1"/>
              <a:t>Swiggy</a:t>
            </a:r>
            <a:r>
              <a:rPr lang="en-US" sz="2600" b="1" dirty="0"/>
              <a:t>:</a:t>
            </a:r>
            <a:r>
              <a:rPr lang="en-US" sz="2600" dirty="0"/>
              <a:t> Food delivery platform, with a valuation of $8 billion. </a:t>
            </a:r>
          </a:p>
          <a:p>
            <a:pPr marL="285750" indent="-285750" fontAlgn="ctr">
              <a:lnSpc>
                <a:spcPct val="130000"/>
              </a:lnSpc>
              <a:buFont typeface="Arial" panose="020B0604020202020204" pitchFamily="34" charset="0"/>
              <a:buChar char="•"/>
            </a:pPr>
            <a:r>
              <a:rPr lang="en-US" sz="2600" b="1" dirty="0"/>
              <a:t>Dream11:</a:t>
            </a:r>
            <a:r>
              <a:rPr lang="en-US" sz="2600" dirty="0"/>
              <a:t> Fantasy sports platform, with a valuation of $8 billion. </a:t>
            </a:r>
          </a:p>
          <a:p>
            <a:pPr marL="285750" indent="-285750" fontAlgn="ctr">
              <a:lnSpc>
                <a:spcPct val="130000"/>
              </a:lnSpc>
              <a:buFont typeface="Arial" panose="020B0604020202020204" pitchFamily="34" charset="0"/>
              <a:buChar char="•"/>
            </a:pPr>
            <a:r>
              <a:rPr lang="en-US" sz="2600" b="1" dirty="0" err="1"/>
              <a:t>Razorpay</a:t>
            </a:r>
            <a:r>
              <a:rPr lang="en-US" sz="2600" b="1" dirty="0"/>
              <a:t>:</a:t>
            </a:r>
            <a:r>
              <a:rPr lang="en-US" sz="2600" dirty="0"/>
              <a:t> </a:t>
            </a:r>
            <a:r>
              <a:rPr lang="en-US" sz="2600" dirty="0" err="1"/>
              <a:t>Fintech</a:t>
            </a:r>
            <a:r>
              <a:rPr lang="en-US" sz="2600" dirty="0"/>
              <a:t> startup, with a valuation of $7.5 billion. </a:t>
            </a:r>
          </a:p>
          <a:p>
            <a:pPr marL="285750" indent="-285750" fontAlgn="ctr">
              <a:lnSpc>
                <a:spcPct val="130000"/>
              </a:lnSpc>
              <a:buFont typeface="Arial" panose="020B0604020202020204" pitchFamily="34" charset="0"/>
              <a:buChar char="•"/>
            </a:pPr>
            <a:r>
              <a:rPr lang="en-US" sz="2600" b="1" dirty="0"/>
              <a:t>Ola Electric:</a:t>
            </a:r>
            <a:r>
              <a:rPr lang="en-US" sz="2600" dirty="0"/>
              <a:t> Electric mobility company, with a valuation of $4 billion. </a:t>
            </a:r>
          </a:p>
          <a:p>
            <a:pPr marL="285750" indent="-285750" fontAlgn="ctr">
              <a:lnSpc>
                <a:spcPct val="130000"/>
              </a:lnSpc>
              <a:buFont typeface="Arial" panose="020B0604020202020204" pitchFamily="34" charset="0"/>
              <a:buChar char="•"/>
            </a:pPr>
            <a:r>
              <a:rPr lang="en-US" sz="2600" b="1" dirty="0" err="1"/>
              <a:t>Paytm</a:t>
            </a:r>
            <a:r>
              <a:rPr lang="en-US" sz="2600" b="1" dirty="0"/>
              <a:t>:</a:t>
            </a:r>
            <a:r>
              <a:rPr lang="en-US" sz="2600" dirty="0"/>
              <a:t> Digital payments and financial services platform, </a:t>
            </a:r>
            <a:r>
              <a:rPr lang="en-US" sz="2600" dirty="0" smtClean="0"/>
              <a:t>valuation </a:t>
            </a:r>
            <a:r>
              <a:rPr lang="en-US" sz="2600" dirty="0"/>
              <a:t>of $16 billion. </a:t>
            </a:r>
          </a:p>
          <a:p>
            <a:pPr marL="285750" indent="-285750" fontAlgn="ctr">
              <a:lnSpc>
                <a:spcPct val="130000"/>
              </a:lnSpc>
              <a:buFont typeface="Arial" panose="020B0604020202020204" pitchFamily="34" charset="0"/>
              <a:buChar char="•"/>
            </a:pPr>
            <a:r>
              <a:rPr lang="en-US" sz="2600" b="1" dirty="0" err="1"/>
              <a:t>Udaan</a:t>
            </a:r>
            <a:r>
              <a:rPr lang="en-US" sz="2600" b="1" dirty="0"/>
              <a:t>:</a:t>
            </a:r>
            <a:r>
              <a:rPr lang="en-US" sz="2600" dirty="0"/>
              <a:t> B2B e-commerce platform, with a valuation of $3.1 billion. </a:t>
            </a:r>
          </a:p>
          <a:p>
            <a:pPr marL="285750" indent="-285750">
              <a:lnSpc>
                <a:spcPct val="130000"/>
              </a:lnSpc>
              <a:buFont typeface="Arial" panose="020B0604020202020204" pitchFamily="34" charset="0"/>
              <a:buChar char="•"/>
            </a:pPr>
            <a:r>
              <a:rPr lang="en-US" sz="2600" b="1" dirty="0" err="1"/>
              <a:t>Nykaa</a:t>
            </a:r>
            <a:r>
              <a:rPr lang="en-US" sz="2600" b="1" dirty="0"/>
              <a:t>:</a:t>
            </a:r>
            <a:r>
              <a:rPr lang="en-US" sz="2600" dirty="0"/>
              <a:t> E-commerce platform for beauty and fashion, with a valuation of $8 billion. </a:t>
            </a:r>
          </a:p>
        </p:txBody>
      </p:sp>
    </p:spTree>
    <p:extLst>
      <p:ext uri="{BB962C8B-B14F-4D97-AF65-F5344CB8AC3E}">
        <p14:creationId xmlns:p14="http://schemas.microsoft.com/office/powerpoint/2010/main" val="22556082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Selected Startup </a:t>
            </a:r>
            <a:r>
              <a:rPr lang="en-US" sz="3200" b="1" dirty="0" smtClean="0">
                <a:solidFill>
                  <a:schemeClr val="bg1"/>
                </a:solidFill>
              </a:rPr>
              <a:t>Success Stories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8</a:t>
            </a:fld>
            <a:endParaRPr lang="en-IN"/>
          </a:p>
        </p:txBody>
      </p:sp>
      <p:sp>
        <p:nvSpPr>
          <p:cNvPr id="4" name="TextBox 3"/>
          <p:cNvSpPr txBox="1"/>
          <p:nvPr/>
        </p:nvSpPr>
        <p:spPr>
          <a:xfrm>
            <a:off x="263352" y="1640989"/>
            <a:ext cx="5328592" cy="4247317"/>
          </a:xfrm>
          <a:prstGeom prst="rect">
            <a:avLst/>
          </a:prstGeom>
          <a:noFill/>
          <a:ln>
            <a:solidFill>
              <a:schemeClr val="tx1"/>
            </a:solidFill>
          </a:ln>
        </p:spPr>
        <p:txBody>
          <a:bodyPr wrap="square" rtlCol="0">
            <a:spAutoFit/>
          </a:bodyPr>
          <a:lstStyle/>
          <a:p>
            <a:r>
              <a:rPr lang="en-US" b="1" dirty="0" smtClean="0"/>
              <a:t>Started</a:t>
            </a:r>
            <a:r>
              <a:rPr lang="en-US" b="1" dirty="0"/>
              <a:t>: 2013 </a:t>
            </a:r>
            <a:endParaRPr lang="en-US" dirty="0"/>
          </a:p>
          <a:p>
            <a:r>
              <a:rPr lang="en-US" b="1" dirty="0"/>
              <a:t>Founder: </a:t>
            </a:r>
            <a:r>
              <a:rPr lang="en-US" b="1" dirty="0" err="1"/>
              <a:t>Ritesh</a:t>
            </a:r>
            <a:r>
              <a:rPr lang="en-US" b="1" dirty="0"/>
              <a:t> Agarwal </a:t>
            </a:r>
            <a:endParaRPr lang="en-US" dirty="0"/>
          </a:p>
          <a:p>
            <a:r>
              <a:rPr lang="en-US" b="1" dirty="0"/>
              <a:t>Industry: Hospitality </a:t>
            </a:r>
            <a:endParaRPr lang="en-US" dirty="0"/>
          </a:p>
          <a:p>
            <a:r>
              <a:rPr lang="en-US" b="1" dirty="0"/>
              <a:t>Net Valuation: $16 billion </a:t>
            </a:r>
            <a:endParaRPr lang="en-US" dirty="0"/>
          </a:p>
          <a:p>
            <a:pPr marL="285750" indent="-285750">
              <a:buFont typeface="Arial" panose="020B0604020202020204" pitchFamily="34" charset="0"/>
              <a:buChar char="•"/>
            </a:pPr>
            <a:r>
              <a:rPr lang="en-US" dirty="0" err="1"/>
              <a:t>Ritesh</a:t>
            </a:r>
            <a:r>
              <a:rPr lang="en-US" dirty="0"/>
              <a:t> </a:t>
            </a:r>
            <a:r>
              <a:rPr lang="en-US" dirty="0" smtClean="0"/>
              <a:t>Agarwal, the </a:t>
            </a:r>
            <a:r>
              <a:rPr lang="en-US" dirty="0"/>
              <a:t>founder of unicorn Startup Oyo, has made Oyo one of the largest hotel chains in the world. </a:t>
            </a:r>
          </a:p>
          <a:p>
            <a:pPr marL="285750" indent="-285750">
              <a:buFont typeface="Arial" panose="020B0604020202020204" pitchFamily="34" charset="0"/>
              <a:buChar char="•"/>
            </a:pPr>
            <a:r>
              <a:rPr lang="en-US" dirty="0"/>
              <a:t>They currently operate in more than 800 urban areas across countries like India, China, Brazil, Japan, United States and 80+ more.</a:t>
            </a:r>
          </a:p>
          <a:p>
            <a:pPr marL="285750" indent="-285750">
              <a:buFont typeface="Arial" panose="020B0604020202020204" pitchFamily="34" charset="0"/>
              <a:buChar char="•"/>
            </a:pPr>
            <a:r>
              <a:rPr lang="en-US" dirty="0" err="1"/>
              <a:t>Airbnb</a:t>
            </a:r>
            <a:r>
              <a:rPr lang="en-US" dirty="0"/>
              <a:t> was the greatest motivation for </a:t>
            </a:r>
            <a:r>
              <a:rPr lang="en-US" dirty="0" err="1"/>
              <a:t>Ritesh</a:t>
            </a:r>
            <a:r>
              <a:rPr lang="en-US" dirty="0"/>
              <a:t> Agarwal, who began his journey as a traveler and when he found a huge problem in the </a:t>
            </a:r>
            <a:r>
              <a:rPr lang="en-US" dirty="0" smtClean="0"/>
              <a:t>hotels. </a:t>
            </a:r>
          </a:p>
          <a:p>
            <a:pPr marL="285750" indent="-285750">
              <a:buFont typeface="Arial" panose="020B0604020202020204" pitchFamily="34" charset="0"/>
              <a:buChar char="•"/>
            </a:pPr>
            <a:r>
              <a:rPr lang="en-US" dirty="0" smtClean="0"/>
              <a:t>He </a:t>
            </a:r>
            <a:r>
              <a:rPr lang="en-US" dirty="0"/>
              <a:t>took it as an opportunity to become an entrepreneur by solving that problem</a:t>
            </a:r>
            <a:r>
              <a:rPr lang="en-US" dirty="0" smtClean="0"/>
              <a:t>.</a:t>
            </a:r>
            <a:endParaRPr lang="en-US" dirty="0"/>
          </a:p>
        </p:txBody>
      </p:sp>
      <p:pic>
        <p:nvPicPr>
          <p:cNvPr id="4098" name="Picture 2" descr="OYO: Hotel Booking App - Apps on Google Pla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V="1">
            <a:off x="3719736" y="1124744"/>
            <a:ext cx="1600671" cy="16006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951984" y="1640989"/>
            <a:ext cx="5630416" cy="4524315"/>
          </a:xfrm>
          <a:prstGeom prst="rect">
            <a:avLst/>
          </a:prstGeom>
          <a:noFill/>
          <a:ln>
            <a:solidFill>
              <a:schemeClr val="tx1"/>
            </a:solidFill>
          </a:ln>
        </p:spPr>
        <p:txBody>
          <a:bodyPr wrap="square" rtlCol="0">
            <a:spAutoFit/>
          </a:bodyPr>
          <a:lstStyle/>
          <a:p>
            <a:r>
              <a:rPr lang="en-US" b="1" dirty="0"/>
              <a:t>Started: 2010</a:t>
            </a:r>
            <a:endParaRPr lang="en-US" dirty="0"/>
          </a:p>
          <a:p>
            <a:r>
              <a:rPr lang="en-US" b="1" dirty="0"/>
              <a:t>Founder: Vijay </a:t>
            </a:r>
            <a:r>
              <a:rPr lang="en-US" b="1" dirty="0" err="1"/>
              <a:t>Shekhar</a:t>
            </a:r>
            <a:r>
              <a:rPr lang="en-US" b="1" dirty="0"/>
              <a:t> Sharma</a:t>
            </a:r>
            <a:endParaRPr lang="en-US" dirty="0"/>
          </a:p>
          <a:p>
            <a:r>
              <a:rPr lang="en-US" b="1" dirty="0"/>
              <a:t>Industry: </a:t>
            </a:r>
            <a:r>
              <a:rPr lang="en-US" b="1" dirty="0" err="1"/>
              <a:t>Fintech</a:t>
            </a:r>
            <a:r>
              <a:rPr lang="en-US" b="1" dirty="0"/>
              <a:t> </a:t>
            </a:r>
            <a:endParaRPr lang="en-US" dirty="0"/>
          </a:p>
          <a:p>
            <a:r>
              <a:rPr lang="en-US" b="1" dirty="0"/>
              <a:t>Net Valuation: $15 billion </a:t>
            </a:r>
            <a:endParaRPr lang="en-US" dirty="0"/>
          </a:p>
          <a:p>
            <a:pPr marL="285750" indent="-285750">
              <a:buFont typeface="Arial" panose="020B0604020202020204" pitchFamily="34" charset="0"/>
              <a:buChar char="•"/>
            </a:pPr>
            <a:r>
              <a:rPr lang="en-US" dirty="0" err="1"/>
              <a:t>Paytm</a:t>
            </a:r>
            <a:r>
              <a:rPr lang="en-US" dirty="0"/>
              <a:t> began as a digital wallet in its early days and not yet had changed into what it is today. </a:t>
            </a:r>
          </a:p>
          <a:p>
            <a:pPr marL="285750" indent="-285750">
              <a:buFont typeface="Arial" panose="020B0604020202020204" pitchFamily="34" charset="0"/>
              <a:buChar char="•"/>
            </a:pPr>
            <a:r>
              <a:rPr lang="en-US" dirty="0"/>
              <a:t>The </a:t>
            </a:r>
            <a:r>
              <a:rPr lang="en-US" dirty="0" err="1"/>
              <a:t>fintech</a:t>
            </a:r>
            <a:r>
              <a:rPr lang="en-US" dirty="0"/>
              <a:t> administration has had the option to arise as the top </a:t>
            </a:r>
            <a:r>
              <a:rPr lang="en-US" dirty="0" err="1"/>
              <a:t>fintech</a:t>
            </a:r>
            <a:r>
              <a:rPr lang="en-US" dirty="0"/>
              <a:t> organization even in the wake of confronting savage early rivalry from brands like </a:t>
            </a:r>
            <a:r>
              <a:rPr lang="en-US" dirty="0" err="1"/>
              <a:t>Freecharge</a:t>
            </a:r>
            <a:r>
              <a:rPr lang="en-US" dirty="0"/>
              <a:t>. </a:t>
            </a:r>
          </a:p>
          <a:p>
            <a:pPr marL="285750" indent="-285750">
              <a:buFont typeface="Arial" panose="020B0604020202020204" pitchFamily="34" charset="0"/>
              <a:buChar char="•"/>
            </a:pPr>
            <a:r>
              <a:rPr lang="en-US" dirty="0" err="1"/>
              <a:t>Paytm's</a:t>
            </a:r>
            <a:r>
              <a:rPr lang="en-US" dirty="0"/>
              <a:t> </a:t>
            </a:r>
            <a:r>
              <a:rPr lang="en-US" dirty="0" smtClean="0"/>
              <a:t>user base </a:t>
            </a:r>
            <a:r>
              <a:rPr lang="en-US" dirty="0"/>
              <a:t>developed from 125 million to 185 million three months post demonetization. </a:t>
            </a:r>
          </a:p>
          <a:p>
            <a:pPr marL="285750" indent="-285750">
              <a:buFont typeface="Arial" panose="020B0604020202020204" pitchFamily="34" charset="0"/>
              <a:buChar char="•"/>
            </a:pPr>
            <a:r>
              <a:rPr lang="en-US" dirty="0"/>
              <a:t>Vijay </a:t>
            </a:r>
            <a:r>
              <a:rPr lang="en-US" dirty="0" err="1"/>
              <a:t>Shekhar</a:t>
            </a:r>
            <a:r>
              <a:rPr lang="en-US" dirty="0"/>
              <a:t> Sharma, who was battling to make a decent living with </a:t>
            </a:r>
            <a:r>
              <a:rPr lang="en-US" dirty="0" err="1"/>
              <a:t>Rs</a:t>
            </a:r>
            <a:r>
              <a:rPr lang="en-US" dirty="0"/>
              <a:t> 10 in his pocket, tasted triumph the most difficult way possible, and today, he remains as the author of the billion-dollar local unicorn</a:t>
            </a:r>
            <a:r>
              <a:rPr lang="en-US" dirty="0" smtClean="0"/>
              <a:t>.</a:t>
            </a:r>
            <a:endParaRPr lang="en-US" dirty="0"/>
          </a:p>
        </p:txBody>
      </p:sp>
      <p:pic>
        <p:nvPicPr>
          <p:cNvPr id="4102" name="Picture 6" descr="India's Paytm shares set to tumble after central bank orders banking unit  to stop busines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20336" y="908719"/>
            <a:ext cx="2731229" cy="1456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816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Selected Startup </a:t>
            </a:r>
            <a:r>
              <a:rPr lang="en-US" sz="3200" b="1" dirty="0" smtClean="0">
                <a:solidFill>
                  <a:schemeClr val="bg1"/>
                </a:solidFill>
              </a:rPr>
              <a:t>Success Stories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9</a:t>
            </a:fld>
            <a:endParaRPr lang="en-IN"/>
          </a:p>
        </p:txBody>
      </p:sp>
      <p:sp>
        <p:nvSpPr>
          <p:cNvPr id="4" name="TextBox 3"/>
          <p:cNvSpPr txBox="1"/>
          <p:nvPr/>
        </p:nvSpPr>
        <p:spPr>
          <a:xfrm>
            <a:off x="263352" y="1640989"/>
            <a:ext cx="5328592" cy="4801314"/>
          </a:xfrm>
          <a:prstGeom prst="rect">
            <a:avLst/>
          </a:prstGeom>
          <a:noFill/>
          <a:ln>
            <a:solidFill>
              <a:schemeClr val="tx1"/>
            </a:solidFill>
          </a:ln>
        </p:spPr>
        <p:txBody>
          <a:bodyPr wrap="square" rtlCol="0">
            <a:spAutoFit/>
          </a:bodyPr>
          <a:lstStyle/>
          <a:p>
            <a:r>
              <a:rPr lang="en-US" b="1" dirty="0" smtClean="0"/>
              <a:t>Started</a:t>
            </a:r>
            <a:r>
              <a:rPr lang="en-US" b="1" dirty="0"/>
              <a:t>: 2007</a:t>
            </a:r>
            <a:endParaRPr lang="en-US" dirty="0"/>
          </a:p>
          <a:p>
            <a:r>
              <a:rPr lang="en-US" b="1" dirty="0"/>
              <a:t>Originators: </a:t>
            </a:r>
            <a:r>
              <a:rPr lang="en-US" b="1" dirty="0" err="1"/>
              <a:t>Sachin</a:t>
            </a:r>
            <a:r>
              <a:rPr lang="en-US" b="1" dirty="0"/>
              <a:t> Bansal and </a:t>
            </a:r>
            <a:endParaRPr lang="en-US" b="1" dirty="0" smtClean="0"/>
          </a:p>
          <a:p>
            <a:r>
              <a:rPr lang="en-US" b="1" dirty="0" err="1" smtClean="0"/>
              <a:t>Binny</a:t>
            </a:r>
            <a:r>
              <a:rPr lang="en-US" b="1" dirty="0" smtClean="0"/>
              <a:t> </a:t>
            </a:r>
            <a:r>
              <a:rPr lang="en-US" b="1" dirty="0"/>
              <a:t>Bansal</a:t>
            </a:r>
            <a:endParaRPr lang="en-US" dirty="0"/>
          </a:p>
          <a:p>
            <a:r>
              <a:rPr lang="en-US" b="1" dirty="0"/>
              <a:t>Industry: Ecommerce</a:t>
            </a:r>
            <a:endParaRPr lang="en-US" dirty="0"/>
          </a:p>
          <a:p>
            <a:r>
              <a:rPr lang="en-US" b="1" dirty="0"/>
              <a:t>Assessed Valuation: $24 billion</a:t>
            </a:r>
            <a:endParaRPr lang="en-US" dirty="0"/>
          </a:p>
          <a:p>
            <a:pPr marL="285750" indent="-285750">
              <a:buFont typeface="Arial" panose="020B0604020202020204" pitchFamily="34" charset="0"/>
              <a:buChar char="•"/>
            </a:pPr>
            <a:r>
              <a:rPr lang="en-US" dirty="0"/>
              <a:t>The Walmart obtained online business organization </a:t>
            </a:r>
            <a:r>
              <a:rPr lang="en-US" dirty="0" err="1"/>
              <a:t>flipkart</a:t>
            </a:r>
            <a:r>
              <a:rPr lang="en-US" dirty="0"/>
              <a:t> remains as the biggest web based business stage in India. </a:t>
            </a:r>
          </a:p>
          <a:p>
            <a:pPr marL="285750" indent="-285750">
              <a:buFont typeface="Arial" panose="020B0604020202020204" pitchFamily="34" charset="0"/>
              <a:buChar char="•"/>
            </a:pPr>
            <a:r>
              <a:rPr lang="en-US" dirty="0"/>
              <a:t>Today, the web based business stage has extended its business skylines by foraying into the video web based industry with </a:t>
            </a:r>
            <a:r>
              <a:rPr lang="en-US" dirty="0" err="1"/>
              <a:t>Flipkart</a:t>
            </a:r>
            <a:r>
              <a:rPr lang="en-US" dirty="0"/>
              <a:t> Video Originals.</a:t>
            </a:r>
          </a:p>
          <a:p>
            <a:pPr marL="285750" indent="-285750">
              <a:buFont typeface="Arial" panose="020B0604020202020204" pitchFamily="34" charset="0"/>
              <a:buChar char="•"/>
            </a:pPr>
            <a:r>
              <a:rPr lang="en-US" dirty="0" err="1"/>
              <a:t>Sachin</a:t>
            </a:r>
            <a:r>
              <a:rPr lang="en-US" dirty="0"/>
              <a:t> Bansal and </a:t>
            </a:r>
            <a:r>
              <a:rPr lang="en-US" dirty="0" err="1"/>
              <a:t>Binny</a:t>
            </a:r>
            <a:r>
              <a:rPr lang="en-US" dirty="0"/>
              <a:t> Bansal began as an online book shop that made around 20 effective shipments in its first year of working. </a:t>
            </a:r>
          </a:p>
          <a:p>
            <a:pPr marL="285750" indent="-285750">
              <a:buFont typeface="Arial" panose="020B0604020202020204" pitchFamily="34" charset="0"/>
              <a:buChar char="•"/>
            </a:pPr>
            <a:r>
              <a:rPr lang="en-US" dirty="0"/>
              <a:t>It was not late before the stage began catching individuals' eye that made it the top online retail market ever.</a:t>
            </a:r>
          </a:p>
        </p:txBody>
      </p:sp>
      <p:pic>
        <p:nvPicPr>
          <p:cNvPr id="11268" name="Picture 4" descr="Flipkart Logo Ve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1704" y="760240"/>
            <a:ext cx="1998370" cy="199337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5880059" y="1640989"/>
            <a:ext cx="5976664" cy="4801314"/>
          </a:xfrm>
          <a:prstGeom prst="rect">
            <a:avLst/>
          </a:prstGeom>
          <a:noFill/>
          <a:ln>
            <a:solidFill>
              <a:schemeClr val="tx1"/>
            </a:solidFill>
          </a:ln>
        </p:spPr>
        <p:txBody>
          <a:bodyPr wrap="square" rtlCol="0">
            <a:spAutoFit/>
          </a:bodyPr>
          <a:lstStyle/>
          <a:p>
            <a:r>
              <a:rPr lang="en-US" b="1" dirty="0" smtClean="0"/>
              <a:t>Started</a:t>
            </a:r>
            <a:r>
              <a:rPr lang="en-US" b="1" dirty="0"/>
              <a:t>: 2010 </a:t>
            </a:r>
            <a:endParaRPr lang="en-US" dirty="0"/>
          </a:p>
          <a:p>
            <a:r>
              <a:rPr lang="en-US" b="1" dirty="0"/>
              <a:t>Organizers: </a:t>
            </a:r>
            <a:r>
              <a:rPr lang="en-US" b="1" dirty="0" err="1"/>
              <a:t>Bhavish</a:t>
            </a:r>
            <a:r>
              <a:rPr lang="en-US" b="1" dirty="0"/>
              <a:t> Aggarwal, </a:t>
            </a:r>
            <a:endParaRPr lang="en-US" b="1" dirty="0" smtClean="0"/>
          </a:p>
          <a:p>
            <a:r>
              <a:rPr lang="en-US" b="1" dirty="0" err="1" smtClean="0"/>
              <a:t>Ankit</a:t>
            </a:r>
            <a:r>
              <a:rPr lang="en-US" b="1" dirty="0" smtClean="0"/>
              <a:t> </a:t>
            </a:r>
            <a:r>
              <a:rPr lang="en-US" b="1" dirty="0" err="1"/>
              <a:t>Bhati</a:t>
            </a:r>
            <a:endParaRPr lang="en-US" dirty="0"/>
          </a:p>
          <a:p>
            <a:r>
              <a:rPr lang="en-US" b="1" dirty="0"/>
              <a:t>Industry: Mobility</a:t>
            </a:r>
            <a:endParaRPr lang="en-US" dirty="0"/>
          </a:p>
          <a:p>
            <a:r>
              <a:rPr lang="en-US" b="1" dirty="0"/>
              <a:t>Assessed Valuation: $6.2 billion</a:t>
            </a:r>
            <a:endParaRPr lang="en-US" dirty="0"/>
          </a:p>
          <a:p>
            <a:pPr marL="285750" indent="-285750">
              <a:buFont typeface="Arial" panose="020B0604020202020204" pitchFamily="34" charset="0"/>
              <a:buChar char="•"/>
            </a:pPr>
            <a:r>
              <a:rPr lang="en-US" dirty="0"/>
              <a:t>Ola Cabs, begun by IIT-B graduates </a:t>
            </a:r>
            <a:r>
              <a:rPr lang="en-US" dirty="0" err="1"/>
              <a:t>Bhavish</a:t>
            </a:r>
            <a:r>
              <a:rPr lang="en-US" dirty="0"/>
              <a:t> and </a:t>
            </a:r>
            <a:r>
              <a:rPr lang="en-US" dirty="0" err="1"/>
              <a:t>Ankit</a:t>
            </a:r>
            <a:r>
              <a:rPr lang="en-US" dirty="0"/>
              <a:t>, has arisen to be the most conspicuous Indian portability specialist organization in the country that offers its administrations across 50 urban areas in India and is equally spread across nations, including the UK, Australia, and New Zealand. </a:t>
            </a:r>
          </a:p>
          <a:p>
            <a:pPr marL="285750" indent="-285750">
              <a:buFont typeface="Arial" panose="020B0604020202020204" pitchFamily="34" charset="0"/>
              <a:buChar char="•"/>
            </a:pPr>
            <a:r>
              <a:rPr lang="en-US" dirty="0"/>
              <a:t>The possibility of Ola, a taxi total startup, came from </a:t>
            </a:r>
            <a:r>
              <a:rPr lang="en-US" dirty="0" err="1"/>
              <a:t>Bhavish's</a:t>
            </a:r>
            <a:r>
              <a:rPr lang="en-US" dirty="0"/>
              <a:t> horrendous experience.</a:t>
            </a:r>
          </a:p>
          <a:p>
            <a:pPr marL="285750" indent="-285750">
              <a:buFont typeface="Arial" panose="020B0604020202020204" pitchFamily="34" charset="0"/>
              <a:buChar char="•"/>
            </a:pPr>
            <a:r>
              <a:rPr lang="en-US" dirty="0"/>
              <a:t>Simultaneously, he was venturing out from Bengaluru to </a:t>
            </a:r>
            <a:r>
              <a:rPr lang="en-US" dirty="0" err="1"/>
              <a:t>Bandipur</a:t>
            </a:r>
            <a:r>
              <a:rPr lang="en-US" dirty="0"/>
              <a:t>, where the driver of his taxi abandoned him in no place over a bombed arrangement bargain. This is a good startup Stories.</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8473" y="852052"/>
            <a:ext cx="2533650" cy="1809750"/>
          </a:xfrm>
          <a:prstGeom prst="rect">
            <a:avLst/>
          </a:prstGeom>
        </p:spPr>
      </p:pic>
    </p:spTree>
    <p:extLst>
      <p:ext uri="{BB962C8B-B14F-4D97-AF65-F5344CB8AC3E}">
        <p14:creationId xmlns:p14="http://schemas.microsoft.com/office/powerpoint/2010/main" val="18858459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Benefits of Design Thinking to Startups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10</a:t>
            </a:fld>
            <a:endParaRPr lang="en-IN"/>
          </a:p>
        </p:txBody>
      </p:sp>
      <p:sp>
        <p:nvSpPr>
          <p:cNvPr id="3" name="TextBox 2"/>
          <p:cNvSpPr txBox="1"/>
          <p:nvPr/>
        </p:nvSpPr>
        <p:spPr>
          <a:xfrm>
            <a:off x="263352" y="870967"/>
            <a:ext cx="11665296" cy="5706177"/>
          </a:xfrm>
          <a:prstGeom prst="rect">
            <a:avLst/>
          </a:prstGeom>
          <a:noFill/>
          <a:ln>
            <a:solidFill>
              <a:srgbClr val="C00000"/>
            </a:solidFill>
          </a:ln>
        </p:spPr>
        <p:txBody>
          <a:bodyPr wrap="square" rtlCol="0">
            <a:spAutoFit/>
          </a:bodyPr>
          <a:lstStyle/>
          <a:p>
            <a:pPr marL="285750" indent="-285750" fontAlgn="ctr">
              <a:lnSpc>
                <a:spcPct val="120000"/>
              </a:lnSpc>
              <a:buFont typeface="Arial" panose="020B0604020202020204" pitchFamily="34" charset="0"/>
              <a:buChar char="•"/>
            </a:pPr>
            <a:r>
              <a:rPr lang="en-US" sz="1900" b="1" dirty="0" smtClean="0">
                <a:solidFill>
                  <a:srgbClr val="C00000"/>
                </a:solidFill>
              </a:rPr>
              <a:t>Understanding and Addressing Customer needs</a:t>
            </a:r>
          </a:p>
          <a:p>
            <a:pPr marL="742950" lvl="1" indent="-285750" fontAlgn="ctr">
              <a:lnSpc>
                <a:spcPct val="120000"/>
              </a:lnSpc>
              <a:buFont typeface="Arial" panose="020B0604020202020204" pitchFamily="34" charset="0"/>
              <a:buChar char="•"/>
            </a:pPr>
            <a:r>
              <a:rPr lang="en-US" sz="1900" dirty="0">
                <a:solidFill>
                  <a:srgbClr val="C00000"/>
                </a:solidFill>
              </a:rPr>
              <a:t> </a:t>
            </a:r>
            <a:r>
              <a:rPr lang="en-US" sz="1900" dirty="0" smtClean="0"/>
              <a:t>User Research, Empathy mapping and Customer Journey Maps helps in identifying the problems</a:t>
            </a:r>
          </a:p>
          <a:p>
            <a:pPr marL="285750" indent="-285750" fontAlgn="ctr">
              <a:lnSpc>
                <a:spcPct val="120000"/>
              </a:lnSpc>
              <a:buFont typeface="Arial" panose="020B0604020202020204" pitchFamily="34" charset="0"/>
              <a:buChar char="•"/>
            </a:pPr>
            <a:r>
              <a:rPr lang="en-US" sz="1900" b="1" dirty="0" smtClean="0">
                <a:solidFill>
                  <a:srgbClr val="0000FF"/>
                </a:solidFill>
              </a:rPr>
              <a:t>Validating ideas quickly and Cost-effectively</a:t>
            </a:r>
          </a:p>
          <a:p>
            <a:pPr marL="742950" lvl="1" indent="-285750" fontAlgn="ctr">
              <a:lnSpc>
                <a:spcPct val="120000"/>
              </a:lnSpc>
              <a:buFont typeface="Arial" panose="020B0604020202020204" pitchFamily="34" charset="0"/>
              <a:buChar char="•"/>
            </a:pPr>
            <a:r>
              <a:rPr lang="en-US" sz="1900" dirty="0" smtClean="0"/>
              <a:t>Ideation sessions, Rapid prototyping and Feedback loops helps in validating effective ideas</a:t>
            </a:r>
          </a:p>
          <a:p>
            <a:pPr marL="285750" indent="-285750" fontAlgn="ctr">
              <a:lnSpc>
                <a:spcPct val="120000"/>
              </a:lnSpc>
              <a:buFont typeface="Arial" panose="020B0604020202020204" pitchFamily="34" charset="0"/>
              <a:buChar char="•"/>
            </a:pPr>
            <a:r>
              <a:rPr lang="en-US" sz="1900" b="1" dirty="0" smtClean="0">
                <a:solidFill>
                  <a:srgbClr val="FF5050"/>
                </a:solidFill>
              </a:rPr>
              <a:t>Achieving Product Market Fit</a:t>
            </a:r>
          </a:p>
          <a:p>
            <a:pPr marL="742950" lvl="1" indent="-285750" fontAlgn="ctr">
              <a:lnSpc>
                <a:spcPct val="120000"/>
              </a:lnSpc>
              <a:buFont typeface="Arial" panose="020B0604020202020204" pitchFamily="34" charset="0"/>
              <a:buChar char="•"/>
            </a:pPr>
            <a:r>
              <a:rPr lang="en-US" sz="1900" dirty="0" smtClean="0"/>
              <a:t>Problem framing, User-Centric solutions, and Iterative testing are important in this category</a:t>
            </a:r>
          </a:p>
          <a:p>
            <a:pPr marL="285750" indent="-285750" fontAlgn="ctr">
              <a:lnSpc>
                <a:spcPct val="120000"/>
              </a:lnSpc>
              <a:buFont typeface="Arial" panose="020B0604020202020204" pitchFamily="34" charset="0"/>
              <a:buChar char="•"/>
            </a:pPr>
            <a:r>
              <a:rPr lang="en-US" sz="1900" b="1" dirty="0" smtClean="0">
                <a:solidFill>
                  <a:srgbClr val="00B050"/>
                </a:solidFill>
              </a:rPr>
              <a:t>Creating a Differentiated Brand experience</a:t>
            </a:r>
          </a:p>
          <a:p>
            <a:pPr marL="742950" lvl="1" indent="-285750" fontAlgn="ctr">
              <a:lnSpc>
                <a:spcPct val="120000"/>
              </a:lnSpc>
              <a:buFont typeface="Arial" panose="020B0604020202020204" pitchFamily="34" charset="0"/>
              <a:buChar char="•"/>
            </a:pPr>
            <a:r>
              <a:rPr lang="en-US" sz="1900" dirty="0" smtClean="0"/>
              <a:t>Brand storytelling, Designing for Delight and Touch point optimization are essential in this category</a:t>
            </a:r>
          </a:p>
          <a:p>
            <a:pPr marL="285750" indent="-285750" fontAlgn="ctr">
              <a:lnSpc>
                <a:spcPct val="120000"/>
              </a:lnSpc>
              <a:buFont typeface="Arial" panose="020B0604020202020204" pitchFamily="34" charset="0"/>
              <a:buChar char="•"/>
            </a:pPr>
            <a:r>
              <a:rPr lang="en-US" sz="1900" b="1" dirty="0" smtClean="0"/>
              <a:t>Encouraging a Lean, Agile Culture</a:t>
            </a:r>
          </a:p>
          <a:p>
            <a:pPr marL="742950" lvl="1" indent="-285750" fontAlgn="ctr">
              <a:lnSpc>
                <a:spcPct val="120000"/>
              </a:lnSpc>
              <a:buFont typeface="Arial" panose="020B0604020202020204" pitchFamily="34" charset="0"/>
              <a:buChar char="•"/>
            </a:pPr>
            <a:r>
              <a:rPr lang="en-US" sz="1900" dirty="0" smtClean="0"/>
              <a:t>Fail first and Learn fast, Cross-functional Collaboration, Responsive Development are important in this category</a:t>
            </a:r>
          </a:p>
          <a:p>
            <a:pPr marL="285750" indent="-285750" fontAlgn="ctr">
              <a:lnSpc>
                <a:spcPct val="120000"/>
              </a:lnSpc>
              <a:buFont typeface="Arial" panose="020B0604020202020204" pitchFamily="34" charset="0"/>
              <a:buChar char="•"/>
            </a:pPr>
            <a:r>
              <a:rPr lang="en-US" sz="1900" b="1" dirty="0" smtClean="0">
                <a:solidFill>
                  <a:srgbClr val="FF0000"/>
                </a:solidFill>
              </a:rPr>
              <a:t>Enhancing Problem solving Capabilities</a:t>
            </a:r>
          </a:p>
          <a:p>
            <a:pPr marL="742950" lvl="1" indent="-285750" fontAlgn="ctr">
              <a:lnSpc>
                <a:spcPct val="120000"/>
              </a:lnSpc>
              <a:buFont typeface="Arial" panose="020B0604020202020204" pitchFamily="34" charset="0"/>
              <a:buChar char="•"/>
            </a:pPr>
            <a:r>
              <a:rPr lang="en-US" sz="1900" dirty="0" smtClean="0"/>
              <a:t>Reframing problems, Structured Brainstorming, Data-driven solutions form the core in this category</a:t>
            </a:r>
          </a:p>
          <a:p>
            <a:pPr marL="285750" indent="-285750" fontAlgn="ctr">
              <a:lnSpc>
                <a:spcPct val="120000"/>
              </a:lnSpc>
              <a:buFont typeface="Arial" panose="020B0604020202020204" pitchFamily="34" charset="0"/>
              <a:buChar char="•"/>
            </a:pPr>
            <a:r>
              <a:rPr lang="en-US" sz="1900" b="1" dirty="0" smtClean="0">
                <a:solidFill>
                  <a:srgbClr val="0000FF"/>
                </a:solidFill>
              </a:rPr>
              <a:t>Scaling, Loyalty and Sustainability</a:t>
            </a:r>
          </a:p>
          <a:p>
            <a:pPr marL="742950" lvl="1" indent="-285750" fontAlgn="ctr">
              <a:lnSpc>
                <a:spcPct val="120000"/>
              </a:lnSpc>
              <a:buFont typeface="Arial" panose="020B0604020202020204" pitchFamily="34" charset="0"/>
              <a:buChar char="•"/>
            </a:pPr>
            <a:r>
              <a:rPr lang="en-US" sz="1900" dirty="0" smtClean="0"/>
              <a:t>User feedback integration, Flexible scalability, Sustainable practices, Increasing Retention, Value creation are important aspects</a:t>
            </a:r>
            <a:endParaRPr lang="en-US" sz="1900" dirty="0"/>
          </a:p>
        </p:txBody>
      </p:sp>
    </p:spTree>
    <p:extLst>
      <p:ext uri="{BB962C8B-B14F-4D97-AF65-F5344CB8AC3E}">
        <p14:creationId xmlns:p14="http://schemas.microsoft.com/office/powerpoint/2010/main" val="23510260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Developing Prototypes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11</a:t>
            </a:fld>
            <a:endParaRPr lang="en-IN"/>
          </a:p>
        </p:txBody>
      </p:sp>
      <p:sp>
        <p:nvSpPr>
          <p:cNvPr id="3" name="TextBox 2"/>
          <p:cNvSpPr txBox="1"/>
          <p:nvPr/>
        </p:nvSpPr>
        <p:spPr>
          <a:xfrm>
            <a:off x="263352" y="4442336"/>
            <a:ext cx="11319048" cy="1938992"/>
          </a:xfrm>
          <a:prstGeom prst="rect">
            <a:avLst/>
          </a:prstGeom>
          <a:noFill/>
          <a:ln>
            <a:noFill/>
          </a:ln>
        </p:spPr>
        <p:txBody>
          <a:bodyPr wrap="square" rtlCol="0">
            <a:spAutoFit/>
          </a:bodyPr>
          <a:lstStyle/>
          <a:p>
            <a:pPr marL="285750" indent="-285750" fontAlgn="ctr">
              <a:lnSpc>
                <a:spcPct val="120000"/>
              </a:lnSpc>
              <a:buFont typeface="Arial" panose="020B0604020202020204" pitchFamily="34" charset="0"/>
              <a:buChar char="•"/>
            </a:pPr>
            <a:r>
              <a:rPr lang="en-US" sz="2000" b="1" dirty="0" smtClean="0">
                <a:solidFill>
                  <a:srgbClr val="C00000"/>
                </a:solidFill>
              </a:rPr>
              <a:t>Define Objectives</a:t>
            </a:r>
            <a:endParaRPr lang="en-US" sz="2000" b="1" dirty="0" smtClean="0"/>
          </a:p>
          <a:p>
            <a:pPr marL="285750" indent="-285750" fontAlgn="ctr">
              <a:lnSpc>
                <a:spcPct val="120000"/>
              </a:lnSpc>
              <a:buFont typeface="Arial" panose="020B0604020202020204" pitchFamily="34" charset="0"/>
              <a:buChar char="•"/>
            </a:pPr>
            <a:r>
              <a:rPr lang="en-US" sz="2000" b="1" dirty="0" smtClean="0">
                <a:solidFill>
                  <a:srgbClr val="0000FF"/>
                </a:solidFill>
              </a:rPr>
              <a:t>Choose type of Prototypes – Low fidelity, Medium fidelity or high Fidelity</a:t>
            </a:r>
            <a:endParaRPr lang="en-US" sz="2000" b="1" dirty="0" smtClean="0"/>
          </a:p>
          <a:p>
            <a:pPr marL="285750" indent="-285750" fontAlgn="ctr">
              <a:lnSpc>
                <a:spcPct val="120000"/>
              </a:lnSpc>
              <a:buFont typeface="Arial" panose="020B0604020202020204" pitchFamily="34" charset="0"/>
              <a:buChar char="•"/>
            </a:pPr>
            <a:r>
              <a:rPr lang="en-US" sz="2000" b="1" dirty="0" smtClean="0">
                <a:solidFill>
                  <a:srgbClr val="FF5050"/>
                </a:solidFill>
              </a:rPr>
              <a:t>Create the prototype</a:t>
            </a:r>
          </a:p>
          <a:p>
            <a:pPr marL="285750" indent="-285750" fontAlgn="ctr">
              <a:lnSpc>
                <a:spcPct val="120000"/>
              </a:lnSpc>
              <a:buFont typeface="Arial" panose="020B0604020202020204" pitchFamily="34" charset="0"/>
              <a:buChar char="•"/>
            </a:pPr>
            <a:r>
              <a:rPr lang="en-US" sz="2000" b="1" dirty="0" smtClean="0">
                <a:solidFill>
                  <a:srgbClr val="00B050"/>
                </a:solidFill>
              </a:rPr>
              <a:t>Gather resources</a:t>
            </a:r>
          </a:p>
          <a:p>
            <a:pPr marL="285750" indent="-285750" fontAlgn="ctr">
              <a:lnSpc>
                <a:spcPct val="120000"/>
              </a:lnSpc>
              <a:buFont typeface="Arial" panose="020B0604020202020204" pitchFamily="34" charset="0"/>
              <a:buChar char="•"/>
            </a:pPr>
            <a:r>
              <a:rPr lang="en-US" sz="2000" b="1" dirty="0" smtClean="0"/>
              <a:t>Iterate quickly</a:t>
            </a:r>
          </a:p>
        </p:txBody>
      </p:sp>
      <p:sp>
        <p:nvSpPr>
          <p:cNvPr id="4" name="TextBox 3"/>
          <p:cNvSpPr txBox="1"/>
          <p:nvPr/>
        </p:nvSpPr>
        <p:spPr>
          <a:xfrm>
            <a:off x="335360" y="836712"/>
            <a:ext cx="11305256" cy="3046988"/>
          </a:xfrm>
          <a:prstGeom prst="rect">
            <a:avLst/>
          </a:prstGeom>
          <a:noFill/>
          <a:ln>
            <a:solidFill>
              <a:srgbClr val="C00000"/>
            </a:solidFill>
          </a:ln>
        </p:spPr>
        <p:txBody>
          <a:bodyPr wrap="square" rtlCol="0">
            <a:spAutoFit/>
          </a:bodyPr>
          <a:lstStyle/>
          <a:p>
            <a:pPr>
              <a:lnSpc>
                <a:spcPct val="120000"/>
              </a:lnSpc>
            </a:pPr>
            <a:r>
              <a:rPr lang="en-US" sz="2000" b="1" dirty="0" smtClean="0"/>
              <a:t>Objectives</a:t>
            </a:r>
          </a:p>
          <a:p>
            <a:pPr marL="285750" indent="-285750">
              <a:lnSpc>
                <a:spcPct val="120000"/>
              </a:lnSpc>
              <a:buFont typeface="Arial" panose="020B0604020202020204" pitchFamily="34" charset="0"/>
              <a:buChar char="•"/>
            </a:pPr>
            <a:r>
              <a:rPr lang="en-US" sz="2000" dirty="0" smtClean="0"/>
              <a:t>To create a representation of the product or service that can be tested and iterated upon</a:t>
            </a:r>
          </a:p>
          <a:p>
            <a:pPr marL="285750" indent="-285750">
              <a:lnSpc>
                <a:spcPct val="120000"/>
              </a:lnSpc>
              <a:buFont typeface="Arial" panose="020B0604020202020204" pitchFamily="34" charset="0"/>
              <a:buChar char="•"/>
            </a:pPr>
            <a:r>
              <a:rPr lang="en-US" sz="2000" dirty="0" smtClean="0"/>
              <a:t>To </a:t>
            </a:r>
            <a:r>
              <a:rPr lang="en-US" sz="2000" dirty="0"/>
              <a:t>select the type of prototype </a:t>
            </a:r>
            <a:r>
              <a:rPr lang="en-US" sz="2000" dirty="0" smtClean="0"/>
              <a:t>once the goals of the product or service are outlined</a:t>
            </a:r>
          </a:p>
          <a:p>
            <a:pPr marL="285750" indent="-285750">
              <a:lnSpc>
                <a:spcPct val="120000"/>
              </a:lnSpc>
              <a:buFont typeface="Arial" panose="020B0604020202020204" pitchFamily="34" charset="0"/>
              <a:buChar char="•"/>
            </a:pPr>
            <a:r>
              <a:rPr lang="en-US" sz="2000" dirty="0" smtClean="0"/>
              <a:t>To create the prototype using tools such as Sketch, </a:t>
            </a:r>
            <a:r>
              <a:rPr lang="en-US" sz="2000" dirty="0" err="1" smtClean="0"/>
              <a:t>Figma</a:t>
            </a:r>
            <a:r>
              <a:rPr lang="en-US" sz="2000" dirty="0" smtClean="0"/>
              <a:t>, Adobe XD or any physical materials</a:t>
            </a:r>
          </a:p>
          <a:p>
            <a:pPr marL="285750" indent="-285750">
              <a:lnSpc>
                <a:spcPct val="120000"/>
              </a:lnSpc>
              <a:buFont typeface="Arial" panose="020B0604020202020204" pitchFamily="34" charset="0"/>
              <a:buChar char="•"/>
            </a:pPr>
            <a:r>
              <a:rPr lang="en-US" sz="2000" dirty="0" smtClean="0"/>
              <a:t>To focus on the key functionalities and design elements</a:t>
            </a:r>
          </a:p>
          <a:p>
            <a:pPr marL="285750" indent="-285750">
              <a:lnSpc>
                <a:spcPct val="120000"/>
              </a:lnSpc>
              <a:buFont typeface="Arial" panose="020B0604020202020204" pitchFamily="34" charset="0"/>
              <a:buChar char="•"/>
            </a:pPr>
            <a:r>
              <a:rPr lang="en-US" sz="2000" dirty="0" smtClean="0"/>
              <a:t>To develop a team with diverse skills and have a collaborative work atmosphere</a:t>
            </a:r>
          </a:p>
          <a:p>
            <a:pPr marL="285750" indent="-285750">
              <a:lnSpc>
                <a:spcPct val="120000"/>
              </a:lnSpc>
              <a:buFont typeface="Arial" panose="020B0604020202020204" pitchFamily="34" charset="0"/>
              <a:buChar char="•"/>
            </a:pPr>
            <a:r>
              <a:rPr lang="en-US" sz="2000" dirty="0" smtClean="0"/>
              <a:t>To gather enough financial resources for a successful output</a:t>
            </a:r>
          </a:p>
          <a:p>
            <a:pPr marL="285750" indent="-285750">
              <a:lnSpc>
                <a:spcPct val="120000"/>
              </a:lnSpc>
              <a:buFont typeface="Arial" panose="020B0604020202020204" pitchFamily="34" charset="0"/>
              <a:buChar char="•"/>
            </a:pPr>
            <a:r>
              <a:rPr lang="en-US" sz="2000" dirty="0" smtClean="0"/>
              <a:t>To create different versions of prototypes based on feedback and refine as per user needs</a:t>
            </a:r>
            <a:endParaRPr lang="en-IN" sz="2000" dirty="0"/>
          </a:p>
        </p:txBody>
      </p:sp>
      <p:sp>
        <p:nvSpPr>
          <p:cNvPr id="6" name="TextBox 5"/>
          <p:cNvSpPr txBox="1"/>
          <p:nvPr/>
        </p:nvSpPr>
        <p:spPr>
          <a:xfrm>
            <a:off x="335360" y="4077072"/>
            <a:ext cx="1944216" cy="430887"/>
          </a:xfrm>
          <a:prstGeom prst="rect">
            <a:avLst/>
          </a:prstGeom>
          <a:noFill/>
          <a:ln>
            <a:solidFill>
              <a:schemeClr val="accent1"/>
            </a:solidFill>
          </a:ln>
        </p:spPr>
        <p:txBody>
          <a:bodyPr wrap="square" rtlCol="0">
            <a:spAutoFit/>
          </a:bodyPr>
          <a:lstStyle/>
          <a:p>
            <a:r>
              <a:rPr lang="en-US" sz="2200" b="1" dirty="0" smtClean="0">
                <a:solidFill>
                  <a:srgbClr val="C00000"/>
                </a:solidFill>
              </a:rPr>
              <a:t>Steps involved</a:t>
            </a:r>
            <a:endParaRPr lang="en-IN" sz="2200" b="1" dirty="0">
              <a:solidFill>
                <a:srgbClr val="C00000"/>
              </a:solidFill>
            </a:endParaRPr>
          </a:p>
        </p:txBody>
      </p:sp>
    </p:spTree>
    <p:extLst>
      <p:ext uri="{BB962C8B-B14F-4D97-AF65-F5344CB8AC3E}">
        <p14:creationId xmlns:p14="http://schemas.microsoft.com/office/powerpoint/2010/main" val="2223898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Testing Prototypes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12</a:t>
            </a:fld>
            <a:endParaRPr lang="en-IN"/>
          </a:p>
        </p:txBody>
      </p:sp>
      <p:sp>
        <p:nvSpPr>
          <p:cNvPr id="3" name="TextBox 2"/>
          <p:cNvSpPr txBox="1"/>
          <p:nvPr/>
        </p:nvSpPr>
        <p:spPr>
          <a:xfrm>
            <a:off x="263352" y="764704"/>
            <a:ext cx="11665296" cy="4967514"/>
          </a:xfrm>
          <a:prstGeom prst="rect">
            <a:avLst/>
          </a:prstGeom>
          <a:noFill/>
          <a:ln>
            <a:solidFill>
              <a:schemeClr val="tx1"/>
            </a:solidFill>
          </a:ln>
        </p:spPr>
        <p:txBody>
          <a:bodyPr wrap="square" rtlCol="0">
            <a:spAutoFit/>
          </a:bodyPr>
          <a:lstStyle/>
          <a:p>
            <a:pPr marL="285750" indent="-285750" fontAlgn="ctr">
              <a:lnSpc>
                <a:spcPct val="120000"/>
              </a:lnSpc>
              <a:buFont typeface="Arial" panose="020B0604020202020204" pitchFamily="34" charset="0"/>
              <a:buChar char="•"/>
            </a:pPr>
            <a:r>
              <a:rPr lang="en-US" sz="2200" b="1" dirty="0">
                <a:solidFill>
                  <a:srgbClr val="C00000"/>
                </a:solidFill>
              </a:rPr>
              <a:t>D</a:t>
            </a:r>
            <a:r>
              <a:rPr lang="en-US" sz="2200" b="1" dirty="0" smtClean="0">
                <a:solidFill>
                  <a:srgbClr val="C00000"/>
                </a:solidFill>
              </a:rPr>
              <a:t>efine testing goals</a:t>
            </a:r>
          </a:p>
          <a:p>
            <a:pPr marL="742950" lvl="1" indent="-285750" fontAlgn="ctr">
              <a:lnSpc>
                <a:spcPct val="120000"/>
              </a:lnSpc>
              <a:buFont typeface="Arial" panose="020B0604020202020204" pitchFamily="34" charset="0"/>
              <a:buChar char="•"/>
            </a:pPr>
            <a:r>
              <a:rPr lang="en-US" sz="2200" dirty="0" smtClean="0"/>
              <a:t>Clearly define what you want to test and what you want to learn from this step</a:t>
            </a:r>
          </a:p>
          <a:p>
            <a:pPr marL="285750" indent="-285750" fontAlgn="ctr">
              <a:lnSpc>
                <a:spcPct val="120000"/>
              </a:lnSpc>
              <a:buFont typeface="Arial" panose="020B0604020202020204" pitchFamily="34" charset="0"/>
              <a:buChar char="•"/>
            </a:pPr>
            <a:r>
              <a:rPr lang="en-US" sz="2200" b="1" dirty="0" smtClean="0">
                <a:solidFill>
                  <a:srgbClr val="0000FF"/>
                </a:solidFill>
              </a:rPr>
              <a:t>Select testing methods</a:t>
            </a:r>
          </a:p>
          <a:p>
            <a:pPr marL="742950" lvl="1" indent="-285750" fontAlgn="ctr">
              <a:lnSpc>
                <a:spcPct val="120000"/>
              </a:lnSpc>
              <a:buFont typeface="Arial" panose="020B0604020202020204" pitchFamily="34" charset="0"/>
              <a:buChar char="•"/>
            </a:pPr>
            <a:r>
              <a:rPr lang="en-US" sz="2200" u="sng" dirty="0" smtClean="0">
                <a:solidFill>
                  <a:srgbClr val="0000FF"/>
                </a:solidFill>
              </a:rPr>
              <a:t>Usability testing</a:t>
            </a:r>
            <a:r>
              <a:rPr lang="en-US" sz="2200" dirty="0" smtClean="0">
                <a:solidFill>
                  <a:srgbClr val="0000FF"/>
                </a:solidFill>
              </a:rPr>
              <a:t>: Involves observing users as they interact with the prototype. This can be done in-person or remotely using techniques such as think-aloud protocols where users articulate their thoughts as they navigate</a:t>
            </a:r>
          </a:p>
          <a:p>
            <a:pPr marL="742950" lvl="1" indent="-285750" fontAlgn="ctr">
              <a:lnSpc>
                <a:spcPct val="120000"/>
              </a:lnSpc>
              <a:buFont typeface="Arial" panose="020B0604020202020204" pitchFamily="34" charset="0"/>
              <a:buChar char="•"/>
            </a:pPr>
            <a:r>
              <a:rPr lang="en-US" sz="2200" u="sng" dirty="0" smtClean="0"/>
              <a:t>A/B testing</a:t>
            </a:r>
            <a:r>
              <a:rPr lang="en-US" sz="2200" dirty="0" smtClean="0"/>
              <a:t>: Compares two versions of a prototype to see which one performs better on specific metrics such as user engagements or conversion rates</a:t>
            </a:r>
          </a:p>
          <a:p>
            <a:pPr marL="742950" lvl="1" indent="-285750" fontAlgn="ctr">
              <a:lnSpc>
                <a:spcPct val="120000"/>
              </a:lnSpc>
              <a:buFont typeface="Arial" panose="020B0604020202020204" pitchFamily="34" charset="0"/>
              <a:buChar char="•"/>
            </a:pPr>
            <a:r>
              <a:rPr lang="en-US" sz="2200" u="sng" dirty="0" smtClean="0">
                <a:solidFill>
                  <a:srgbClr val="0000FF"/>
                </a:solidFill>
              </a:rPr>
              <a:t>Surveys and Questionnaire</a:t>
            </a:r>
            <a:r>
              <a:rPr lang="en-US" sz="2200" dirty="0" smtClean="0">
                <a:solidFill>
                  <a:srgbClr val="0000FF"/>
                </a:solidFill>
              </a:rPr>
              <a:t>: Collect quantitative and qualitative feedback from user</a:t>
            </a:r>
            <a:r>
              <a:rPr lang="en-US" sz="2200" dirty="0" smtClean="0"/>
              <a:t>s </a:t>
            </a:r>
          </a:p>
          <a:p>
            <a:pPr marL="285750" indent="-285750" fontAlgn="ctr">
              <a:lnSpc>
                <a:spcPct val="120000"/>
              </a:lnSpc>
              <a:buFont typeface="Arial" panose="020B0604020202020204" pitchFamily="34" charset="0"/>
              <a:buChar char="•"/>
            </a:pPr>
            <a:r>
              <a:rPr lang="en-US" sz="2200" b="1" dirty="0" smtClean="0">
                <a:solidFill>
                  <a:srgbClr val="006600"/>
                </a:solidFill>
              </a:rPr>
              <a:t>Recruit test participants</a:t>
            </a:r>
          </a:p>
          <a:p>
            <a:pPr marL="742950" lvl="1" indent="-285750" fontAlgn="ctr">
              <a:lnSpc>
                <a:spcPct val="120000"/>
              </a:lnSpc>
              <a:buFont typeface="Arial" panose="020B0604020202020204" pitchFamily="34" charset="0"/>
              <a:buChar char="•"/>
            </a:pPr>
            <a:r>
              <a:rPr lang="en-US" sz="2200" dirty="0" smtClean="0">
                <a:solidFill>
                  <a:srgbClr val="006600"/>
                </a:solidFill>
              </a:rPr>
              <a:t>Identify and recruit individuals who represent the target audience. Their feedback will provide insights into the products usability and appeal</a:t>
            </a:r>
          </a:p>
        </p:txBody>
      </p:sp>
    </p:spTree>
    <p:extLst>
      <p:ext uri="{BB962C8B-B14F-4D97-AF65-F5344CB8AC3E}">
        <p14:creationId xmlns:p14="http://schemas.microsoft.com/office/powerpoint/2010/main" val="25812398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Testing Prototypes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13</a:t>
            </a:fld>
            <a:endParaRPr lang="en-IN"/>
          </a:p>
        </p:txBody>
      </p:sp>
      <p:sp>
        <p:nvSpPr>
          <p:cNvPr id="3" name="TextBox 2"/>
          <p:cNvSpPr txBox="1"/>
          <p:nvPr/>
        </p:nvSpPr>
        <p:spPr>
          <a:xfrm>
            <a:off x="263352" y="764704"/>
            <a:ext cx="11665296" cy="5373779"/>
          </a:xfrm>
          <a:prstGeom prst="rect">
            <a:avLst/>
          </a:prstGeom>
          <a:noFill/>
          <a:ln>
            <a:solidFill>
              <a:schemeClr val="tx1"/>
            </a:solidFill>
          </a:ln>
        </p:spPr>
        <p:txBody>
          <a:bodyPr wrap="square" rtlCol="0">
            <a:spAutoFit/>
          </a:bodyPr>
          <a:lstStyle/>
          <a:p>
            <a:pPr marL="285750" indent="-285750" fontAlgn="ctr">
              <a:lnSpc>
                <a:spcPct val="120000"/>
              </a:lnSpc>
              <a:buFont typeface="Arial" panose="020B0604020202020204" pitchFamily="34" charset="0"/>
              <a:buChar char="•"/>
            </a:pPr>
            <a:r>
              <a:rPr lang="en-US" sz="2200" b="1" dirty="0" smtClean="0"/>
              <a:t>Conduct testing sessions</a:t>
            </a:r>
          </a:p>
          <a:p>
            <a:pPr marL="742950" lvl="1" indent="-285750" fontAlgn="ctr">
              <a:lnSpc>
                <a:spcPct val="120000"/>
              </a:lnSpc>
              <a:buFont typeface="Arial" panose="020B0604020202020204" pitchFamily="34" charset="0"/>
              <a:buChar char="•"/>
            </a:pPr>
            <a:r>
              <a:rPr lang="en-US" sz="2200" dirty="0" smtClean="0"/>
              <a:t>Facilitate testing sessions in a controlled environment where users can freely interact with the prototype. Encourage open dialogue and ensure participants feel comfortable sharing their thoughts and experiences</a:t>
            </a:r>
          </a:p>
          <a:p>
            <a:pPr marL="285750" indent="-285750" fontAlgn="ctr">
              <a:lnSpc>
                <a:spcPct val="120000"/>
              </a:lnSpc>
              <a:buFont typeface="Arial" panose="020B0604020202020204" pitchFamily="34" charset="0"/>
              <a:buChar char="•"/>
            </a:pPr>
            <a:r>
              <a:rPr lang="en-US" sz="2200" b="1" dirty="0" smtClean="0">
                <a:solidFill>
                  <a:srgbClr val="0000FF"/>
                </a:solidFill>
              </a:rPr>
              <a:t>Analyze results</a:t>
            </a:r>
          </a:p>
          <a:p>
            <a:pPr marL="742950" lvl="1" indent="-285750" fontAlgn="ctr">
              <a:lnSpc>
                <a:spcPct val="120000"/>
              </a:lnSpc>
              <a:buFont typeface="Arial" panose="020B0604020202020204" pitchFamily="34" charset="0"/>
              <a:buChar char="•"/>
            </a:pPr>
            <a:r>
              <a:rPr lang="en-US" sz="2200" dirty="0" smtClean="0">
                <a:solidFill>
                  <a:srgbClr val="0000FF"/>
                </a:solidFill>
              </a:rPr>
              <a:t>Collect and analyze the data from testing sessions, looking for patterns in user behavior, preferences and pain points. Use tools for qualitative and quantitative analysis selectively </a:t>
            </a:r>
          </a:p>
          <a:p>
            <a:pPr marL="285750" indent="-285750" fontAlgn="ctr">
              <a:lnSpc>
                <a:spcPct val="120000"/>
              </a:lnSpc>
              <a:buFont typeface="Arial" panose="020B0604020202020204" pitchFamily="34" charset="0"/>
              <a:buChar char="•"/>
            </a:pPr>
            <a:r>
              <a:rPr lang="en-US" sz="2200" b="1" dirty="0" smtClean="0">
                <a:solidFill>
                  <a:srgbClr val="006600"/>
                </a:solidFill>
              </a:rPr>
              <a:t>Iterate based on feedback</a:t>
            </a:r>
          </a:p>
          <a:p>
            <a:pPr marL="742950" lvl="1" indent="-285750" fontAlgn="ctr">
              <a:lnSpc>
                <a:spcPct val="120000"/>
              </a:lnSpc>
              <a:buFont typeface="Arial" panose="020B0604020202020204" pitchFamily="34" charset="0"/>
              <a:buChar char="•"/>
            </a:pPr>
            <a:r>
              <a:rPr lang="en-US" sz="2200" dirty="0" smtClean="0">
                <a:solidFill>
                  <a:srgbClr val="006600"/>
                </a:solidFill>
              </a:rPr>
              <a:t>Use the insights gained from testing to refine and improve the prototype. Address any identified issues and make adjustments to features or design elements</a:t>
            </a:r>
          </a:p>
          <a:p>
            <a:pPr marL="285750" indent="-285750" fontAlgn="ctr">
              <a:lnSpc>
                <a:spcPct val="120000"/>
              </a:lnSpc>
              <a:buFont typeface="Arial" panose="020B0604020202020204" pitchFamily="34" charset="0"/>
              <a:buChar char="•"/>
            </a:pPr>
            <a:r>
              <a:rPr lang="en-US" sz="2200" b="1" dirty="0" smtClean="0">
                <a:solidFill>
                  <a:srgbClr val="C00000"/>
                </a:solidFill>
              </a:rPr>
              <a:t>Repeat testing</a:t>
            </a:r>
          </a:p>
          <a:p>
            <a:pPr marL="742950" lvl="1" indent="-285750" fontAlgn="ctr">
              <a:lnSpc>
                <a:spcPct val="120000"/>
              </a:lnSpc>
              <a:buFont typeface="Arial" panose="020B0604020202020204" pitchFamily="34" charset="0"/>
              <a:buChar char="•"/>
            </a:pPr>
            <a:r>
              <a:rPr lang="en-US" sz="2200" dirty="0" smtClean="0">
                <a:solidFill>
                  <a:srgbClr val="C00000"/>
                </a:solidFill>
              </a:rPr>
              <a:t>Prototyping is an iterative cycle. Continue testing and refining until the prototype effectively meets user needs and aligns with business objectives</a:t>
            </a:r>
          </a:p>
        </p:txBody>
      </p:sp>
    </p:spTree>
    <p:extLst>
      <p:ext uri="{BB962C8B-B14F-4D97-AF65-F5344CB8AC3E}">
        <p14:creationId xmlns:p14="http://schemas.microsoft.com/office/powerpoint/2010/main" val="38196450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Benefits of Prototyping and Testing</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14</a:t>
            </a:fld>
            <a:endParaRPr lang="en-IN"/>
          </a:p>
        </p:txBody>
      </p:sp>
      <p:sp>
        <p:nvSpPr>
          <p:cNvPr id="3" name="TextBox 2"/>
          <p:cNvSpPr txBox="1"/>
          <p:nvPr/>
        </p:nvSpPr>
        <p:spPr>
          <a:xfrm>
            <a:off x="263352" y="764704"/>
            <a:ext cx="11665296" cy="5373779"/>
          </a:xfrm>
          <a:prstGeom prst="rect">
            <a:avLst/>
          </a:prstGeom>
          <a:noFill/>
          <a:ln>
            <a:solidFill>
              <a:schemeClr val="tx1"/>
            </a:solidFill>
          </a:ln>
        </p:spPr>
        <p:txBody>
          <a:bodyPr wrap="square" rtlCol="0">
            <a:spAutoFit/>
          </a:bodyPr>
          <a:lstStyle/>
          <a:p>
            <a:pPr marL="285750" indent="-285750" fontAlgn="ctr">
              <a:lnSpc>
                <a:spcPct val="120000"/>
              </a:lnSpc>
              <a:buFont typeface="Arial" panose="020B0604020202020204" pitchFamily="34" charset="0"/>
              <a:buChar char="•"/>
            </a:pPr>
            <a:r>
              <a:rPr lang="en-US" sz="2200" b="1" dirty="0" smtClean="0">
                <a:solidFill>
                  <a:srgbClr val="C00000"/>
                </a:solidFill>
              </a:rPr>
              <a:t>Early detection of the problems</a:t>
            </a:r>
          </a:p>
          <a:p>
            <a:pPr marL="742950" lvl="1" indent="-285750" fontAlgn="ctr">
              <a:lnSpc>
                <a:spcPct val="120000"/>
              </a:lnSpc>
              <a:buFont typeface="Arial" panose="020B0604020202020204" pitchFamily="34" charset="0"/>
              <a:buChar char="•"/>
            </a:pPr>
            <a:r>
              <a:rPr lang="en-US" sz="2200" dirty="0" smtClean="0">
                <a:solidFill>
                  <a:srgbClr val="C00000"/>
                </a:solidFill>
              </a:rPr>
              <a:t>Identification of design flaws or usability issues early reduces costly changes later on</a:t>
            </a:r>
          </a:p>
          <a:p>
            <a:pPr marL="285750" indent="-285750" fontAlgn="ctr">
              <a:lnSpc>
                <a:spcPct val="120000"/>
              </a:lnSpc>
              <a:buFont typeface="Arial" panose="020B0604020202020204" pitchFamily="34" charset="0"/>
              <a:buChar char="•"/>
            </a:pPr>
            <a:r>
              <a:rPr lang="en-US" sz="2200" b="1" dirty="0" smtClean="0">
                <a:solidFill>
                  <a:srgbClr val="0000FF"/>
                </a:solidFill>
              </a:rPr>
              <a:t>Enhanced User Engagement</a:t>
            </a:r>
          </a:p>
          <a:p>
            <a:pPr marL="742950" lvl="1" indent="-285750" fontAlgn="ctr">
              <a:lnSpc>
                <a:spcPct val="120000"/>
              </a:lnSpc>
              <a:buFont typeface="Arial" panose="020B0604020202020204" pitchFamily="34" charset="0"/>
              <a:buChar char="•"/>
            </a:pPr>
            <a:r>
              <a:rPr lang="en-US" sz="2200" dirty="0" smtClean="0">
                <a:solidFill>
                  <a:srgbClr val="0000FF"/>
                </a:solidFill>
              </a:rPr>
              <a:t>Involving users in the testing phase fosters a sense of ownership and can lead to valuable insights that drive design improvements</a:t>
            </a:r>
          </a:p>
          <a:p>
            <a:pPr marL="285750" indent="-285750" fontAlgn="ctr">
              <a:lnSpc>
                <a:spcPct val="120000"/>
              </a:lnSpc>
              <a:buFont typeface="Arial" panose="020B0604020202020204" pitchFamily="34" charset="0"/>
              <a:buChar char="•"/>
            </a:pPr>
            <a:r>
              <a:rPr lang="en-US" sz="2200" b="1" dirty="0" smtClean="0">
                <a:solidFill>
                  <a:srgbClr val="006600"/>
                </a:solidFill>
              </a:rPr>
              <a:t>Refined Product Design</a:t>
            </a:r>
          </a:p>
          <a:p>
            <a:pPr marL="742950" lvl="1" indent="-285750" fontAlgn="ctr">
              <a:lnSpc>
                <a:spcPct val="120000"/>
              </a:lnSpc>
              <a:buFont typeface="Arial" panose="020B0604020202020204" pitchFamily="34" charset="0"/>
              <a:buChar char="•"/>
            </a:pPr>
            <a:r>
              <a:rPr lang="en-US" sz="2200" dirty="0" smtClean="0">
                <a:solidFill>
                  <a:srgbClr val="006600"/>
                </a:solidFill>
              </a:rPr>
              <a:t>Iterative testing and feedback enable teams to refine the product continually enhancing its appeal and usability</a:t>
            </a:r>
          </a:p>
          <a:p>
            <a:pPr marL="285750" indent="-285750" fontAlgn="ctr">
              <a:lnSpc>
                <a:spcPct val="120000"/>
              </a:lnSpc>
              <a:buFont typeface="Arial" panose="020B0604020202020204" pitchFamily="34" charset="0"/>
              <a:buChar char="•"/>
            </a:pPr>
            <a:r>
              <a:rPr lang="en-US" sz="2200" b="1" dirty="0" smtClean="0">
                <a:solidFill>
                  <a:srgbClr val="FF3300"/>
                </a:solidFill>
              </a:rPr>
              <a:t>Risk reduction</a:t>
            </a:r>
          </a:p>
          <a:p>
            <a:pPr marL="742950" lvl="1" indent="-285750" fontAlgn="ctr">
              <a:lnSpc>
                <a:spcPct val="120000"/>
              </a:lnSpc>
              <a:buFont typeface="Arial" panose="020B0604020202020204" pitchFamily="34" charset="0"/>
              <a:buChar char="•"/>
            </a:pPr>
            <a:r>
              <a:rPr lang="en-US" sz="2200" dirty="0" smtClean="0">
                <a:solidFill>
                  <a:srgbClr val="FF3300"/>
                </a:solidFill>
              </a:rPr>
              <a:t>Validating concepts before full-scale development can minimize the risk of failure</a:t>
            </a:r>
          </a:p>
          <a:p>
            <a:pPr marL="285750" indent="-285750" fontAlgn="ctr">
              <a:lnSpc>
                <a:spcPct val="120000"/>
              </a:lnSpc>
              <a:buFont typeface="Arial" panose="020B0604020202020204" pitchFamily="34" charset="0"/>
              <a:buChar char="•"/>
            </a:pPr>
            <a:r>
              <a:rPr lang="en-US" sz="2200" b="1" dirty="0" smtClean="0">
                <a:solidFill>
                  <a:srgbClr val="0000FF"/>
                </a:solidFill>
              </a:rPr>
              <a:t>Improved communication</a:t>
            </a:r>
          </a:p>
          <a:p>
            <a:pPr marL="742950" lvl="1" indent="-285750" fontAlgn="ctr">
              <a:lnSpc>
                <a:spcPct val="120000"/>
              </a:lnSpc>
              <a:buFont typeface="Arial" panose="020B0604020202020204" pitchFamily="34" charset="0"/>
              <a:buChar char="•"/>
            </a:pPr>
            <a:r>
              <a:rPr lang="en-US" sz="2200" dirty="0" smtClean="0">
                <a:solidFill>
                  <a:srgbClr val="0000FF"/>
                </a:solidFill>
              </a:rPr>
              <a:t>Prototypes serve as visual communication tools that help stakeholders understand the product vision, fostering alignment among team members</a:t>
            </a:r>
          </a:p>
        </p:txBody>
      </p:sp>
    </p:spTree>
    <p:extLst>
      <p:ext uri="{BB962C8B-B14F-4D97-AF65-F5344CB8AC3E}">
        <p14:creationId xmlns:p14="http://schemas.microsoft.com/office/powerpoint/2010/main" val="4438619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Technology Readiness Levels (TRLs)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15</a:t>
            </a:fld>
            <a:endParaRPr lang="en-IN"/>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r="16999"/>
          <a:stretch/>
        </p:blipFill>
        <p:spPr>
          <a:xfrm>
            <a:off x="191344" y="848702"/>
            <a:ext cx="7488832" cy="5829395"/>
          </a:xfrm>
          <a:prstGeom prst="rect">
            <a:avLst/>
          </a:prstGeom>
        </p:spPr>
      </p:pic>
      <p:sp>
        <p:nvSpPr>
          <p:cNvPr id="6" name="TextBox 5"/>
          <p:cNvSpPr txBox="1"/>
          <p:nvPr/>
        </p:nvSpPr>
        <p:spPr>
          <a:xfrm>
            <a:off x="7968208" y="1196752"/>
            <a:ext cx="3744416" cy="4524315"/>
          </a:xfrm>
          <a:prstGeom prst="rect">
            <a:avLst/>
          </a:prstGeom>
          <a:noFill/>
          <a:ln>
            <a:solidFill>
              <a:schemeClr val="tx1"/>
            </a:solidFill>
          </a:ln>
        </p:spPr>
        <p:txBody>
          <a:bodyPr wrap="square" rtlCol="0">
            <a:spAutoFit/>
          </a:bodyPr>
          <a:lstStyle/>
          <a:p>
            <a:pPr marL="342900" indent="-342900">
              <a:buFont typeface="Arial" panose="020B0604020202020204" pitchFamily="34" charset="0"/>
              <a:buChar char="•"/>
            </a:pPr>
            <a:r>
              <a:rPr lang="en-US" sz="2400" dirty="0" smtClean="0">
                <a:solidFill>
                  <a:srgbClr val="C00000"/>
                </a:solidFill>
              </a:rPr>
              <a:t>The TRL is a </a:t>
            </a:r>
            <a:r>
              <a:rPr lang="en-US" sz="2400" dirty="0">
                <a:solidFill>
                  <a:srgbClr val="C00000"/>
                </a:solidFill>
              </a:rPr>
              <a:t>system for assessing the maturity of a technology, ranging from basic research (</a:t>
            </a:r>
            <a:r>
              <a:rPr lang="en-US" sz="2400" dirty="0" smtClean="0">
                <a:solidFill>
                  <a:srgbClr val="C00000"/>
                </a:solidFill>
              </a:rPr>
              <a:t>TRL1</a:t>
            </a:r>
            <a:r>
              <a:rPr lang="en-US" sz="2400" dirty="0">
                <a:solidFill>
                  <a:srgbClr val="C00000"/>
                </a:solidFill>
              </a:rPr>
              <a:t>) to fully operational deployment (</a:t>
            </a:r>
            <a:r>
              <a:rPr lang="en-US" sz="2400" dirty="0" smtClean="0">
                <a:solidFill>
                  <a:srgbClr val="C00000"/>
                </a:solidFill>
              </a:rPr>
              <a:t>TRL9).</a:t>
            </a:r>
          </a:p>
          <a:p>
            <a:pPr marL="342900" indent="-342900">
              <a:buFont typeface="Arial" panose="020B0604020202020204" pitchFamily="34" charset="0"/>
              <a:buChar char="•"/>
            </a:pPr>
            <a:r>
              <a:rPr lang="en-US" sz="2400" dirty="0" smtClean="0">
                <a:solidFill>
                  <a:srgbClr val="C00000"/>
                </a:solidFill>
              </a:rPr>
              <a:t>The TRL is used </a:t>
            </a:r>
            <a:r>
              <a:rPr lang="en-US" sz="2400" dirty="0">
                <a:solidFill>
                  <a:srgbClr val="C00000"/>
                </a:solidFill>
              </a:rPr>
              <a:t>to track the progress of technology development and ensure consistent evaluation across different fields. </a:t>
            </a:r>
            <a:endParaRPr lang="en-IN" sz="2400" dirty="0">
              <a:solidFill>
                <a:srgbClr val="C00000"/>
              </a:solidFill>
            </a:endParaRPr>
          </a:p>
        </p:txBody>
      </p:sp>
    </p:spTree>
    <p:extLst>
      <p:ext uri="{BB962C8B-B14F-4D97-AF65-F5344CB8AC3E}">
        <p14:creationId xmlns:p14="http://schemas.microsoft.com/office/powerpoint/2010/main" val="37837958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
            <a:ext cx="12192000" cy="620712"/>
          </a:xfrm>
          <a:solidFill>
            <a:srgbClr val="3333FF"/>
          </a:solidFill>
        </p:spPr>
        <p:txBody>
          <a:bodyPr>
            <a:normAutofit/>
          </a:bodyPr>
          <a:lstStyle/>
          <a:p>
            <a:r>
              <a:rPr lang="en-US" sz="3200" b="1" dirty="0" smtClean="0">
                <a:solidFill>
                  <a:schemeClr val="bg1"/>
                </a:solidFill>
              </a:rPr>
              <a:t>Manufacturing Readiness Levels (MRLs)</a:t>
            </a:r>
            <a:endParaRPr lang="en-IN" sz="3200" b="1" dirty="0">
              <a:solidFill>
                <a:schemeClr val="bg1"/>
              </a:solidFill>
            </a:endParaRPr>
          </a:p>
        </p:txBody>
      </p:sp>
      <p:sp>
        <p:nvSpPr>
          <p:cNvPr id="5" name="Slide Number Placeholder 4"/>
          <p:cNvSpPr>
            <a:spLocks noGrp="1"/>
          </p:cNvSpPr>
          <p:nvPr>
            <p:ph type="sldNum" sz="quarter" idx="12"/>
          </p:nvPr>
        </p:nvSpPr>
        <p:spPr/>
        <p:txBody>
          <a:bodyPr/>
          <a:lstStyle/>
          <a:p>
            <a:fld id="{F5C292C0-B0FF-4DAD-AFC8-67CB345CA3F6}" type="slidenum">
              <a:rPr lang="en-IN" smtClean="0"/>
              <a:pPr/>
              <a:t>16</a:t>
            </a:fld>
            <a:endParaRPr lang="en-IN"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9762"/>
          <a:stretch/>
        </p:blipFill>
        <p:spPr>
          <a:xfrm>
            <a:off x="119336" y="711201"/>
            <a:ext cx="8096250" cy="5990853"/>
          </a:xfrm>
          <a:prstGeom prst="rect">
            <a:avLst/>
          </a:prstGeom>
        </p:spPr>
      </p:pic>
      <p:sp>
        <p:nvSpPr>
          <p:cNvPr id="7" name="TextBox 6"/>
          <p:cNvSpPr txBox="1"/>
          <p:nvPr/>
        </p:nvSpPr>
        <p:spPr>
          <a:xfrm>
            <a:off x="8328248" y="836712"/>
            <a:ext cx="3672408" cy="4893647"/>
          </a:xfrm>
          <a:prstGeom prst="rect">
            <a:avLst/>
          </a:prstGeom>
          <a:noFill/>
          <a:ln>
            <a:solidFill>
              <a:schemeClr val="tx1"/>
            </a:solidFill>
          </a:ln>
        </p:spPr>
        <p:txBody>
          <a:bodyPr wrap="square" rtlCol="0">
            <a:spAutoFit/>
          </a:bodyPr>
          <a:lstStyle/>
          <a:p>
            <a:pPr marL="342900" indent="-342900">
              <a:buFont typeface="Arial" panose="020B0604020202020204" pitchFamily="34" charset="0"/>
              <a:buChar char="•"/>
            </a:pPr>
            <a:r>
              <a:rPr lang="en-US" sz="2400" dirty="0">
                <a:solidFill>
                  <a:srgbClr val="FF0000"/>
                </a:solidFill>
              </a:rPr>
              <a:t>The </a:t>
            </a:r>
            <a:r>
              <a:rPr lang="en-US" sz="2400" dirty="0" smtClean="0">
                <a:solidFill>
                  <a:srgbClr val="FF0000"/>
                </a:solidFill>
              </a:rPr>
              <a:t>MRL is </a:t>
            </a:r>
            <a:r>
              <a:rPr lang="en-US" sz="2400" dirty="0">
                <a:solidFill>
                  <a:srgbClr val="FF0000"/>
                </a:solidFill>
              </a:rPr>
              <a:t>a measure to assess the maturity of manufacturing readiness, similar to how technology readiness levels are used for technology readiness. </a:t>
            </a:r>
            <a:endParaRPr lang="en-US" sz="2400" dirty="0" smtClean="0">
              <a:solidFill>
                <a:srgbClr val="FF0000"/>
              </a:solidFill>
            </a:endParaRPr>
          </a:p>
          <a:p>
            <a:pPr marL="342900" indent="-342900">
              <a:buFont typeface="Arial" panose="020B0604020202020204" pitchFamily="34" charset="0"/>
              <a:buChar char="•"/>
            </a:pPr>
            <a:r>
              <a:rPr lang="en-US" sz="2400" dirty="0" smtClean="0">
                <a:solidFill>
                  <a:srgbClr val="FF0000"/>
                </a:solidFill>
              </a:rPr>
              <a:t>The MRLs can </a:t>
            </a:r>
            <a:r>
              <a:rPr lang="en-US" sz="2400" dirty="0">
                <a:solidFill>
                  <a:srgbClr val="FF0000"/>
                </a:solidFill>
              </a:rPr>
              <a:t>be used in general industry assessments, or for more specific application in assessing capabilities of possible suppliers.</a:t>
            </a:r>
            <a:endParaRPr lang="en-IN" sz="2400" dirty="0">
              <a:solidFill>
                <a:srgbClr val="FF0000"/>
              </a:solidFill>
            </a:endParaRPr>
          </a:p>
        </p:txBody>
      </p:sp>
    </p:spTree>
    <p:extLst>
      <p:ext uri="{BB962C8B-B14F-4D97-AF65-F5344CB8AC3E}">
        <p14:creationId xmlns:p14="http://schemas.microsoft.com/office/powerpoint/2010/main" val="33311618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9732901" y="5634822"/>
            <a:ext cx="169768" cy="346249"/>
          </a:xfrm>
          <a:prstGeom prst="rect">
            <a:avLst/>
          </a:prstGeom>
        </p:spPr>
        <p:txBody>
          <a:bodyPr vert="horz" wrap="square" lIns="0" tIns="0" rIns="0" bIns="0" rtlCol="0">
            <a:spAutoFit/>
          </a:bodyPr>
          <a:lstStyle/>
          <a:p>
            <a:pPr marL="67239">
              <a:lnSpc>
                <a:spcPts val="922"/>
              </a:lnSpc>
            </a:pPr>
            <a:fld id="{81D60167-4931-47E6-BA6A-407CBD079E47}" type="slidenum">
              <a:rPr spc="-44" dirty="0"/>
              <a:pPr marL="67239">
                <a:lnSpc>
                  <a:spcPts val="922"/>
                </a:lnSpc>
              </a:pPr>
              <a:t>17</a:t>
            </a:fld>
            <a:endParaRPr spc="-44" dirty="0"/>
          </a:p>
        </p:txBody>
      </p:sp>
      <p:sp>
        <p:nvSpPr>
          <p:cNvPr id="7" name="Title 1"/>
          <p:cNvSpPr>
            <a:spLocks noGrp="1"/>
          </p:cNvSpPr>
          <p:nvPr>
            <p:ph type="title"/>
          </p:nvPr>
        </p:nvSpPr>
        <p:spPr>
          <a:xfrm>
            <a:off x="0" y="-27384"/>
            <a:ext cx="12192000" cy="633412"/>
          </a:xfrm>
          <a:solidFill>
            <a:srgbClr val="3333FF"/>
          </a:solidFill>
        </p:spPr>
        <p:txBody>
          <a:bodyPr>
            <a:normAutofit/>
          </a:bodyPr>
          <a:lstStyle/>
          <a:p>
            <a:r>
              <a:rPr lang="en-IN" sz="3200" b="1" dirty="0" err="1" smtClean="0">
                <a:solidFill>
                  <a:schemeClr val="bg1"/>
                </a:solidFill>
              </a:rPr>
              <a:t>Startups</a:t>
            </a:r>
            <a:r>
              <a:rPr lang="en-IN" sz="3200" b="1" dirty="0" smtClean="0">
                <a:solidFill>
                  <a:schemeClr val="bg1"/>
                </a:solidFill>
              </a:rPr>
              <a:t> and Prototype testing - Activity</a:t>
            </a:r>
            <a:endParaRPr lang="en-IN" sz="3200" b="1" dirty="0">
              <a:solidFill>
                <a:schemeClr val="bg1"/>
              </a:solidFill>
            </a:endParaRPr>
          </a:p>
        </p:txBody>
      </p:sp>
      <p:sp>
        <p:nvSpPr>
          <p:cNvPr id="2" name="TextBox 1"/>
          <p:cNvSpPr txBox="1"/>
          <p:nvPr/>
        </p:nvSpPr>
        <p:spPr>
          <a:xfrm>
            <a:off x="3647728" y="764704"/>
            <a:ext cx="1800200" cy="523220"/>
          </a:xfrm>
          <a:prstGeom prst="rect">
            <a:avLst/>
          </a:prstGeom>
          <a:noFill/>
        </p:spPr>
        <p:txBody>
          <a:bodyPr wrap="square" rtlCol="0">
            <a:spAutoFit/>
          </a:bodyPr>
          <a:lstStyle/>
          <a:p>
            <a:pPr algn="ctr"/>
            <a:r>
              <a:rPr lang="en-US" sz="2800" b="1" dirty="0" smtClean="0">
                <a:solidFill>
                  <a:srgbClr val="C00000"/>
                </a:solidFill>
              </a:rPr>
              <a:t>Activity </a:t>
            </a:r>
            <a:endParaRPr lang="en-IN" sz="2800" b="1" dirty="0">
              <a:solidFill>
                <a:srgbClr val="C00000"/>
              </a:solidFill>
            </a:endParaRPr>
          </a:p>
        </p:txBody>
      </p:sp>
      <p:sp>
        <p:nvSpPr>
          <p:cNvPr id="3" name="5-Point Star 2"/>
          <p:cNvSpPr/>
          <p:nvPr/>
        </p:nvSpPr>
        <p:spPr>
          <a:xfrm>
            <a:off x="2038902" y="684729"/>
            <a:ext cx="814796" cy="577338"/>
          </a:xfrm>
          <a:prstGeom prst="star5">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5-Point Star 7"/>
          <p:cNvSpPr/>
          <p:nvPr/>
        </p:nvSpPr>
        <p:spPr>
          <a:xfrm>
            <a:off x="71978" y="684729"/>
            <a:ext cx="814796" cy="577338"/>
          </a:xfrm>
          <a:prstGeom prst="star5">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C00000"/>
              </a:solidFill>
            </a:endParaRPr>
          </a:p>
        </p:txBody>
      </p:sp>
      <p:sp>
        <p:nvSpPr>
          <p:cNvPr id="9" name="5-Point Star 8"/>
          <p:cNvSpPr/>
          <p:nvPr/>
        </p:nvSpPr>
        <p:spPr>
          <a:xfrm>
            <a:off x="1055440" y="710586"/>
            <a:ext cx="814796" cy="577338"/>
          </a:xfrm>
          <a:prstGeom prst="star5">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object 3"/>
          <p:cNvPicPr/>
          <p:nvPr/>
        </p:nvPicPr>
        <p:blipFill>
          <a:blip r:embed="rId3" cstate="print"/>
          <a:stretch>
            <a:fillRect/>
          </a:stretch>
        </p:blipFill>
        <p:spPr>
          <a:xfrm>
            <a:off x="8328248" y="698407"/>
            <a:ext cx="3670271" cy="2952327"/>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86457" y="3743113"/>
            <a:ext cx="3712062" cy="2577626"/>
          </a:xfrm>
          <a:prstGeom prst="rect">
            <a:avLst/>
          </a:prstGeom>
        </p:spPr>
      </p:pic>
      <p:sp>
        <p:nvSpPr>
          <p:cNvPr id="4" name="TextBox 3"/>
          <p:cNvSpPr txBox="1"/>
          <p:nvPr/>
        </p:nvSpPr>
        <p:spPr>
          <a:xfrm>
            <a:off x="263352" y="1571612"/>
            <a:ext cx="7704856" cy="4708981"/>
          </a:xfrm>
          <a:prstGeom prst="rect">
            <a:avLst/>
          </a:prstGeom>
          <a:noFill/>
          <a:ln>
            <a:solidFill>
              <a:srgbClr val="FF3300"/>
            </a:solidFill>
          </a:ln>
        </p:spPr>
        <p:txBody>
          <a:bodyPr wrap="square" rtlCol="0">
            <a:spAutoFit/>
          </a:bodyPr>
          <a:lstStyle/>
          <a:p>
            <a:pPr marL="285750" indent="-285750">
              <a:lnSpc>
                <a:spcPct val="150000"/>
              </a:lnSpc>
              <a:buFont typeface="Arial" panose="020B0604020202020204" pitchFamily="34" charset="0"/>
              <a:buChar char="•"/>
            </a:pPr>
            <a:r>
              <a:rPr lang="en-US" sz="2000" dirty="0"/>
              <a:t>Students should </a:t>
            </a:r>
            <a:r>
              <a:rPr lang="en-US" sz="2000" dirty="0" smtClean="0"/>
              <a:t>identify a problem for product/service development </a:t>
            </a:r>
          </a:p>
          <a:p>
            <a:pPr marL="742950" lvl="1" indent="-285750">
              <a:lnSpc>
                <a:spcPct val="150000"/>
              </a:lnSpc>
              <a:buFont typeface="Arial" panose="020B0604020202020204" pitchFamily="34" charset="0"/>
              <a:buChar char="•"/>
            </a:pPr>
            <a:r>
              <a:rPr lang="en-US" sz="2000" dirty="0" smtClean="0"/>
              <a:t>any household accessories </a:t>
            </a:r>
            <a:r>
              <a:rPr lang="en-US" sz="2000" dirty="0" err="1" smtClean="0"/>
              <a:t>eg</a:t>
            </a:r>
            <a:r>
              <a:rPr lang="en-US" sz="2000" dirty="0" smtClean="0"/>
              <a:t>. TV, AC, Washing machine, smart watch, smart phone etc., </a:t>
            </a:r>
          </a:p>
          <a:p>
            <a:pPr marL="742950" lvl="1" indent="-285750">
              <a:lnSpc>
                <a:spcPct val="150000"/>
              </a:lnSpc>
              <a:buFont typeface="Arial" panose="020B0604020202020204" pitchFamily="34" charset="0"/>
              <a:buChar char="•"/>
            </a:pPr>
            <a:r>
              <a:rPr lang="en-US" sz="2000" dirty="0" smtClean="0"/>
              <a:t>or automobiles </a:t>
            </a:r>
            <a:r>
              <a:rPr lang="en-US" sz="2000" dirty="0" err="1" smtClean="0"/>
              <a:t>eg</a:t>
            </a:r>
            <a:r>
              <a:rPr lang="en-US" sz="2000" dirty="0" smtClean="0"/>
              <a:t>. Scooter, Bike, Car etc. </a:t>
            </a:r>
          </a:p>
          <a:p>
            <a:pPr marL="742950" lvl="1" indent="-285750">
              <a:lnSpc>
                <a:spcPct val="150000"/>
              </a:lnSpc>
              <a:buFont typeface="Arial" panose="020B0604020202020204" pitchFamily="34" charset="0"/>
              <a:buChar char="•"/>
            </a:pPr>
            <a:r>
              <a:rPr lang="en-US" sz="2000" dirty="0" smtClean="0"/>
              <a:t>or any other</a:t>
            </a:r>
          </a:p>
          <a:p>
            <a:pPr marL="285750" indent="-285750">
              <a:lnSpc>
                <a:spcPct val="150000"/>
              </a:lnSpc>
              <a:buFont typeface="Arial" panose="020B0604020202020204" pitchFamily="34" charset="0"/>
              <a:buChar char="•"/>
            </a:pPr>
            <a:r>
              <a:rPr lang="en-US" sz="2000" b="1" dirty="0" smtClean="0">
                <a:solidFill>
                  <a:srgbClr val="FF0000"/>
                </a:solidFill>
              </a:rPr>
              <a:t>Plan a startup</a:t>
            </a:r>
            <a:r>
              <a:rPr lang="en-US" sz="2000" dirty="0" smtClean="0"/>
              <a:t>. Identify how you can apply design thinking for its development. List out all the steps using a flowchart or illustration</a:t>
            </a:r>
          </a:p>
          <a:p>
            <a:pPr marL="285750" indent="-285750">
              <a:lnSpc>
                <a:spcPct val="150000"/>
              </a:lnSpc>
              <a:buFont typeface="Arial" panose="020B0604020202020204" pitchFamily="34" charset="0"/>
              <a:buChar char="•"/>
            </a:pPr>
            <a:r>
              <a:rPr lang="en-US" sz="2000" b="1" dirty="0" smtClean="0">
                <a:solidFill>
                  <a:srgbClr val="FF0000"/>
                </a:solidFill>
              </a:rPr>
              <a:t>Take a case study </a:t>
            </a:r>
            <a:r>
              <a:rPr lang="en-US" sz="2000" dirty="0" smtClean="0"/>
              <a:t>of successful startups in India or anywhere. List out how they started, travelled and developed </a:t>
            </a:r>
            <a:r>
              <a:rPr lang="en-US" sz="2000" dirty="0" smtClean="0"/>
              <a:t>to </a:t>
            </a:r>
            <a:r>
              <a:rPr lang="en-US" sz="2000" dirty="0" smtClean="0"/>
              <a:t>their present stage of operation.</a:t>
            </a:r>
            <a:endParaRPr lang="en-IN" sz="2000" dirty="0"/>
          </a:p>
        </p:txBody>
      </p:sp>
    </p:spTree>
    <p:extLst>
      <p:ext uri="{BB962C8B-B14F-4D97-AF65-F5344CB8AC3E}">
        <p14:creationId xmlns:p14="http://schemas.microsoft.com/office/powerpoint/2010/main" val="19804613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1544" y="1257683"/>
            <a:ext cx="8225094" cy="4331558"/>
          </a:xfrm>
          <a:prstGeom prst="rect">
            <a:avLst/>
          </a:prstGeom>
        </p:spPr>
      </p:pic>
      <p:sp>
        <p:nvSpPr>
          <p:cNvPr id="5" name="Rectangle 4"/>
          <p:cNvSpPr/>
          <p:nvPr/>
        </p:nvSpPr>
        <p:spPr>
          <a:xfrm>
            <a:off x="623392" y="476672"/>
            <a:ext cx="11017224" cy="59766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lide Number Placeholder 1"/>
          <p:cNvSpPr>
            <a:spLocks noGrp="1"/>
          </p:cNvSpPr>
          <p:nvPr>
            <p:ph type="sldNum" sz="quarter" idx="12"/>
          </p:nvPr>
        </p:nvSpPr>
        <p:spPr/>
        <p:txBody>
          <a:bodyPr/>
          <a:lstStyle/>
          <a:p>
            <a:fld id="{F5C292C0-B0FF-4DAD-AFC8-67CB345CA3F6}" type="slidenum">
              <a:rPr lang="en-IN" smtClean="0"/>
              <a:pPr/>
              <a:t>18</a:t>
            </a:fld>
            <a:endParaRPr lang="en-IN"/>
          </a:p>
        </p:txBody>
      </p:sp>
    </p:spTree>
    <p:extLst>
      <p:ext uri="{BB962C8B-B14F-4D97-AF65-F5344CB8AC3E}">
        <p14:creationId xmlns:p14="http://schemas.microsoft.com/office/powerpoint/2010/main" val="10132899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1666</TotalTime>
  <Words>951</Words>
  <Application>Microsoft Office PowerPoint</Application>
  <PresentationFormat>Widescreen</PresentationFormat>
  <Paragraphs>164</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Arial Narrow</vt:lpstr>
      <vt:lpstr>Calibri</vt:lpstr>
      <vt:lpstr>Office Theme</vt:lpstr>
      <vt:lpstr>DESIGN THINKING AND INNOVATION</vt:lpstr>
      <vt:lpstr>Elements of Design Thinking</vt:lpstr>
      <vt:lpstr>Elements of Design Thinking</vt:lpstr>
      <vt:lpstr>Startup</vt:lpstr>
      <vt:lpstr>Startup</vt:lpstr>
      <vt:lpstr>Typical Startups in India</vt:lpstr>
      <vt:lpstr>Typical Startups in India</vt:lpstr>
      <vt:lpstr>Selected Startup Success Stories</vt:lpstr>
      <vt:lpstr>Selected Startup Success Stories</vt:lpstr>
      <vt:lpstr>Benefits of Design Thinking to Startups</vt:lpstr>
      <vt:lpstr>Developing Prototypes</vt:lpstr>
      <vt:lpstr>Testing Prototypes</vt:lpstr>
      <vt:lpstr>Testing Prototypes</vt:lpstr>
      <vt:lpstr>Benefits of Prototyping and Testing</vt:lpstr>
      <vt:lpstr>Technology Readiness Levels (TRLs)</vt:lpstr>
      <vt:lpstr>Manufacturing Readiness Levels (MRLs)</vt:lpstr>
      <vt:lpstr>Startups and Prototype testing - Activity</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Microsoft account</cp:lastModifiedBy>
  <cp:revision>206</cp:revision>
  <dcterms:created xsi:type="dcterms:W3CDTF">2024-12-26T04:05:46Z</dcterms:created>
  <dcterms:modified xsi:type="dcterms:W3CDTF">2025-03-31T07:06:42Z</dcterms:modified>
</cp:coreProperties>
</file>