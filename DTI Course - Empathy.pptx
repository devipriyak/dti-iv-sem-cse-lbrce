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62" r:id="rId6"/>
    <p:sldId id="263" r:id="rId7"/>
    <p:sldId id="259" r:id="rId8"/>
    <p:sldId id="260" r:id="rId9"/>
    <p:sldId id="261" r:id="rId10"/>
    <p:sldId id="267" r:id="rId11"/>
    <p:sldId id="271" r:id="rId12"/>
    <p:sldId id="269" r:id="rId13"/>
    <p:sldId id="275" r:id="rId14"/>
    <p:sldId id="277" r:id="rId15"/>
    <p:sldId id="276" r:id="rId16"/>
    <p:sldId id="270" r:id="rId17"/>
    <p:sldId id="264" r:id="rId18"/>
    <p:sldId id="266" r:id="rId19"/>
    <p:sldId id="265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3399"/>
    <a:srgbClr val="0066FF"/>
    <a:srgbClr val="FF33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720" y="-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2/12/2025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2/12/2025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2/12/2025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2/12/2025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2/12/2025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2/12/2025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2/12/2025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2/12/2025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2/12/2025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2/12/2025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2/12/2025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2BE61-7B7A-4BEB-98FF-A2DCBF474832}" type="datetimeFigureOut">
              <a:rPr lang="en-US" smtClean="0"/>
              <a:pPr/>
              <a:t>2/12/2025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4"/>
            <a:ext cx="12192000" cy="857256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DESIGN THINKING AND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9376" y="5328993"/>
            <a:ext cx="11161240" cy="1372683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IN" sz="2400" b="1" dirty="0">
                <a:solidFill>
                  <a:srgbClr val="C00000"/>
                </a:solidFill>
              </a:rPr>
              <a:t>Dr </a:t>
            </a:r>
            <a:r>
              <a:rPr lang="en-IN" sz="2400" b="1" dirty="0" smtClean="0">
                <a:solidFill>
                  <a:srgbClr val="C00000"/>
                </a:solidFill>
              </a:rPr>
              <a:t>D. </a:t>
            </a:r>
            <a:r>
              <a:rPr lang="en-IN" sz="2400" b="1" dirty="0" err="1" smtClean="0">
                <a:solidFill>
                  <a:srgbClr val="C00000"/>
                </a:solidFill>
              </a:rPr>
              <a:t>Venkata</a:t>
            </a:r>
            <a:r>
              <a:rPr lang="en-IN" sz="2400" b="1" dirty="0" smtClean="0">
                <a:solidFill>
                  <a:srgbClr val="C00000"/>
                </a:solidFill>
              </a:rPr>
              <a:t> </a:t>
            </a:r>
            <a:r>
              <a:rPr lang="en-IN" sz="2400" b="1" dirty="0" err="1" smtClean="0">
                <a:solidFill>
                  <a:srgbClr val="C00000"/>
                </a:solidFill>
              </a:rPr>
              <a:t>Subbaiah</a:t>
            </a:r>
            <a:endParaRPr lang="en-IN" sz="2400" b="1" dirty="0">
              <a:solidFill>
                <a:srgbClr val="C00000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IN" sz="2000" b="1" dirty="0"/>
              <a:t>Professor, </a:t>
            </a:r>
            <a:r>
              <a:rPr lang="en-IN" sz="2000" b="1" dirty="0" smtClean="0"/>
              <a:t>Computer Science &amp; Engineering </a:t>
            </a:r>
            <a:r>
              <a:rPr lang="en-IN" sz="2000" b="1" dirty="0"/>
              <a:t>Department</a:t>
            </a:r>
          </a:p>
          <a:p>
            <a:pPr algn="ctr">
              <a:lnSpc>
                <a:spcPct val="130000"/>
              </a:lnSpc>
            </a:pPr>
            <a:r>
              <a:rPr lang="en-IN" sz="2000" b="1" dirty="0" err="1"/>
              <a:t>Lakireddy</a:t>
            </a:r>
            <a:r>
              <a:rPr lang="en-IN" sz="2000" b="1" dirty="0"/>
              <a:t> Bali Reddy College of Engineering (A), </a:t>
            </a:r>
            <a:r>
              <a:rPr lang="en-IN" sz="2000" b="1" dirty="0" err="1"/>
              <a:t>Mylavaram</a:t>
            </a:r>
            <a:endParaRPr lang="en-IN" sz="2000" b="1" dirty="0"/>
          </a:p>
        </p:txBody>
      </p:sp>
      <p:sp>
        <p:nvSpPr>
          <p:cNvPr id="16386" name="AutoShape 2" descr="Design Thinking for Product Development at Welingkar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744" y="1412776"/>
            <a:ext cx="3456384" cy="345638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575720" y="1196752"/>
            <a:ext cx="3960440" cy="381642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6688" y="-24"/>
            <a:ext cx="3049416" cy="980752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Concept of Design Thinking</a:t>
            </a:r>
          </a:p>
        </p:txBody>
      </p:sp>
      <p:pic>
        <p:nvPicPr>
          <p:cNvPr id="7" name="Picture 6" descr="DT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918" y="214290"/>
            <a:ext cx="6429420" cy="6429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54032"/>
          </a:xfrm>
          <a:solidFill>
            <a:srgbClr val="0066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</a:t>
            </a:r>
          </a:p>
        </p:txBody>
      </p:sp>
      <p:pic>
        <p:nvPicPr>
          <p:cNvPr id="3" name="Picture 2" descr="DT1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918" y="857233"/>
            <a:ext cx="5695968" cy="56265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53322" y="2214554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64" y="3345420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1884" y="4857760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8678" y="478632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5736" y="327398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8678" y="192880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571504"/>
          </a:xfrm>
          <a:solidFill>
            <a:srgbClr val="0066FF"/>
          </a:solidFill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Elements of Design Thinking</a:t>
            </a:r>
          </a:p>
        </p:txBody>
      </p:sp>
      <p:pic>
        <p:nvPicPr>
          <p:cNvPr id="4" name="Picture 3" descr="DT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76" y="723644"/>
            <a:ext cx="7215238" cy="5576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24166" y="6429396"/>
            <a:ext cx="107157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4364" y="6448032"/>
            <a:ext cx="928694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95934" y="6448033"/>
            <a:ext cx="1148138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1818" y="6448032"/>
            <a:ext cx="107157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16" y="6429396"/>
            <a:ext cx="107157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REFINE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42942"/>
          </a:xfrm>
          <a:solidFill>
            <a:srgbClr val="0066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</a:t>
            </a:r>
          </a:p>
        </p:txBody>
      </p:sp>
      <p:pic>
        <p:nvPicPr>
          <p:cNvPr id="4" name="Picture 3" descr="DT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20849"/>
            <a:ext cx="9144000" cy="46163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52596" y="1059404"/>
            <a:ext cx="292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FF3300"/>
                </a:solidFill>
              </a:rPr>
              <a:t>Innovation/Outcome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2952728" cy="980752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Elements of Design Thinking: Empathy</a:t>
            </a:r>
          </a:p>
        </p:txBody>
      </p:sp>
      <p:pic>
        <p:nvPicPr>
          <p:cNvPr id="4" name="Picture 3" descr="DT5.jpg"/>
          <p:cNvPicPr>
            <a:picLocks noChangeAspect="1"/>
          </p:cNvPicPr>
          <p:nvPr/>
        </p:nvPicPr>
        <p:blipFill rotWithShape="1">
          <a:blip r:embed="rId2"/>
          <a:srcRect b="7628"/>
          <a:stretch/>
        </p:blipFill>
        <p:spPr>
          <a:xfrm>
            <a:off x="3143672" y="0"/>
            <a:ext cx="6311624" cy="67306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3388" y="982469"/>
            <a:ext cx="3831244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EMPATHY:</a:t>
            </a:r>
            <a:r>
              <a:rPr lang="en-IN" sz="2000" dirty="0">
                <a:solidFill>
                  <a:srgbClr val="C00000"/>
                </a:solidFill>
              </a:rPr>
              <a:t> Ability to understand and share the feelings of others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2423592" cy="1716800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Elements of Design Thinking: Empathy</a:t>
            </a:r>
          </a:p>
        </p:txBody>
      </p:sp>
      <p:pic>
        <p:nvPicPr>
          <p:cNvPr id="5" name="Picture 4" descr="DT3.png"/>
          <p:cNvPicPr>
            <a:picLocks noChangeAspect="1"/>
          </p:cNvPicPr>
          <p:nvPr/>
        </p:nvPicPr>
        <p:blipFill rotWithShape="1">
          <a:blip r:embed="rId2"/>
          <a:srcRect b="7609"/>
          <a:stretch/>
        </p:blipFill>
        <p:spPr>
          <a:xfrm>
            <a:off x="2855640" y="260648"/>
            <a:ext cx="8991160" cy="612068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9336" y="2060848"/>
            <a:ext cx="2378162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EMPATHY: Ability to understand and share the feelings of others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344" y="3429000"/>
            <a:ext cx="2232248" cy="9233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OBJECTIVE:</a:t>
            </a:r>
          </a:p>
          <a:p>
            <a:r>
              <a:rPr lang="en-US" b="1" dirty="0" smtClean="0"/>
              <a:t>To develop INSIGHTS of Customer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680" y="-24"/>
            <a:ext cx="3240360" cy="1196776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Elements of Design Thinking: Empathy</a:t>
            </a:r>
          </a:p>
        </p:txBody>
      </p:sp>
      <p:pic>
        <p:nvPicPr>
          <p:cNvPr id="4" name="Picture 3" descr="DT4.png"/>
          <p:cNvPicPr>
            <a:picLocks noChangeAspect="1"/>
          </p:cNvPicPr>
          <p:nvPr/>
        </p:nvPicPr>
        <p:blipFill rotWithShape="1">
          <a:blip r:embed="rId2"/>
          <a:srcRect l="-838" t="496" r="838" b="5273"/>
          <a:stretch/>
        </p:blipFill>
        <p:spPr>
          <a:xfrm>
            <a:off x="3524232" y="77785"/>
            <a:ext cx="6532208" cy="6702194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2952728" cy="1052760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Elements of Design Thinking: Empathy</a:t>
            </a:r>
          </a:p>
        </p:txBody>
      </p:sp>
      <p:pic>
        <p:nvPicPr>
          <p:cNvPr id="1026" name="Picture 2" descr="How To Create A Customer Empathy Map [With Example]"/>
          <p:cNvPicPr>
            <a:picLocks noChangeAspect="1" noChangeArrowheads="1"/>
          </p:cNvPicPr>
          <p:nvPr/>
        </p:nvPicPr>
        <p:blipFill rotWithShape="1">
          <a:blip r:embed="rId2"/>
          <a:srcRect b="14270"/>
          <a:stretch/>
        </p:blipFill>
        <p:spPr bwMode="auto">
          <a:xfrm>
            <a:off x="3143672" y="44624"/>
            <a:ext cx="8582530" cy="66967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2952728" cy="980752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Elements of Design Thinking: Empathy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8480" y="142852"/>
            <a:ext cx="6715172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</a:rPr>
              <a:t>Problem Identification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8480" y="785795"/>
            <a:ext cx="4357718" cy="2012859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Font typeface="Arial" pitchFamily="34" charset="0"/>
              <a:buChar char="•"/>
            </a:pPr>
            <a:r>
              <a:rPr lang="en-IN" sz="2400" dirty="0"/>
              <a:t> From day-to-day life</a:t>
            </a:r>
          </a:p>
          <a:p>
            <a:pPr>
              <a:lnSpc>
                <a:spcPct val="130000"/>
              </a:lnSpc>
              <a:buFont typeface="Arial" pitchFamily="34" charset="0"/>
              <a:buChar char="•"/>
            </a:pPr>
            <a:r>
              <a:rPr lang="en-IN" sz="2400" dirty="0"/>
              <a:t> Observations in surroundings</a:t>
            </a:r>
          </a:p>
          <a:p>
            <a:pPr>
              <a:lnSpc>
                <a:spcPct val="130000"/>
              </a:lnSpc>
              <a:buFont typeface="Arial" pitchFamily="34" charset="0"/>
              <a:buChar char="•"/>
            </a:pPr>
            <a:r>
              <a:rPr lang="en-IN" sz="2400" dirty="0"/>
              <a:t> Taken up in </a:t>
            </a:r>
            <a:r>
              <a:rPr lang="en-IN" sz="2400" dirty="0" err="1"/>
              <a:t>Hackathon</a:t>
            </a:r>
            <a:r>
              <a:rPr lang="en-IN" sz="2400" dirty="0"/>
              <a:t> Projects</a:t>
            </a:r>
          </a:p>
          <a:p>
            <a:pPr>
              <a:lnSpc>
                <a:spcPct val="130000"/>
              </a:lnSpc>
              <a:buFont typeface="Arial" pitchFamily="34" charset="0"/>
              <a:buChar char="•"/>
            </a:pPr>
            <a:r>
              <a:rPr lang="en-IN" sz="2400" dirty="0"/>
              <a:t> Open-ended ideas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0" y="2957453"/>
            <a:ext cx="12144672" cy="658706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rgbClr val="FF3399"/>
                </a:solidFill>
                <a:latin typeface="Cambria" pitchFamily="18" charset="0"/>
                <a:ea typeface="Cambria" pitchFamily="18" charset="0"/>
              </a:rPr>
              <a:t>Ideas should be popped out of thinking, need and necessity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1344" y="3864296"/>
            <a:ext cx="7261978" cy="2733056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N" sz="2200" b="1" dirty="0">
                <a:solidFill>
                  <a:srgbClr val="0066FF"/>
                </a:solidFill>
                <a:latin typeface="Cambria" pitchFamily="18" charset="0"/>
                <a:ea typeface="Cambria" pitchFamily="18" charset="0"/>
              </a:rPr>
              <a:t>Key points of Empathize to Remember and generate Insight of Problem</a:t>
            </a: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en-IN" sz="2200" dirty="0">
                <a:solidFill>
                  <a:srgbClr val="0066FF"/>
                </a:solidFill>
                <a:latin typeface="Cambria" pitchFamily="18" charset="0"/>
                <a:ea typeface="Cambria" pitchFamily="18" charset="0"/>
              </a:rPr>
              <a:t>Observe</a:t>
            </a: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en-IN" sz="2200" dirty="0">
                <a:solidFill>
                  <a:srgbClr val="0066FF"/>
                </a:solidFill>
                <a:latin typeface="Cambria" pitchFamily="18" charset="0"/>
                <a:ea typeface="Cambria" pitchFamily="18" charset="0"/>
              </a:rPr>
              <a:t>Interview</a:t>
            </a: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en-IN" sz="2200" dirty="0">
                <a:solidFill>
                  <a:srgbClr val="0066FF"/>
                </a:solidFill>
                <a:latin typeface="Cambria" pitchFamily="18" charset="0"/>
                <a:ea typeface="Cambria" pitchFamily="18" charset="0"/>
              </a:rPr>
              <a:t>Interaction</a:t>
            </a: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en-IN" sz="2200" dirty="0">
                <a:solidFill>
                  <a:srgbClr val="0066FF"/>
                </a:solidFill>
                <a:latin typeface="Cambria" pitchFamily="18" charset="0"/>
                <a:ea typeface="Cambria" pitchFamily="18" charset="0"/>
              </a:rPr>
              <a:t>Engage</a:t>
            </a:r>
          </a:p>
        </p:txBody>
      </p:sp>
      <p:sp>
        <p:nvSpPr>
          <p:cNvPr id="24580" name="AutoShape 4" descr="80% of Companies Say Growth Mindset ...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 descr="DT10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13" y="3786191"/>
            <a:ext cx="2714629" cy="27146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785819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Empathy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592" y="951111"/>
            <a:ext cx="6858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Interview of Customer</a:t>
            </a:r>
            <a:endParaRPr lang="en-IN" sz="2400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024" y="1700808"/>
            <a:ext cx="5560046" cy="29523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93" r="27211" b="49546"/>
          <a:stretch/>
        </p:blipFill>
        <p:spPr>
          <a:xfrm>
            <a:off x="119336" y="1700808"/>
            <a:ext cx="5760640" cy="2952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43472" y="4787860"/>
            <a:ext cx="288032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Focused Interview</a:t>
            </a:r>
            <a:endParaRPr lang="en-IN" b="1" dirty="0"/>
          </a:p>
        </p:txBody>
      </p:sp>
      <p:sp>
        <p:nvSpPr>
          <p:cNvPr id="9" name="TextBox 8"/>
          <p:cNvSpPr txBox="1"/>
          <p:nvPr/>
        </p:nvSpPr>
        <p:spPr>
          <a:xfrm>
            <a:off x="7392144" y="4797152"/>
            <a:ext cx="288032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Skilled/Group Interview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223792" y="5733256"/>
            <a:ext cx="460851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Focus on the problems of the Users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49714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785819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Empathy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592" y="951111"/>
            <a:ext cx="6858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Interview of Customer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5360" y="1916832"/>
            <a:ext cx="5184576" cy="40934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000" b="1" dirty="0"/>
              <a:t>Focused </a:t>
            </a:r>
            <a:r>
              <a:rPr lang="en-US" sz="2000" b="1" dirty="0" smtClean="0"/>
              <a:t>Interviews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Objective </a:t>
            </a:r>
            <a:r>
              <a:rPr lang="en-US" sz="2000" dirty="0"/>
              <a:t>measures of behaviors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Minimizes bias of interviewer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Common language and template used across different assessors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Gets data beyond the normal knowledge and skills level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Proven to differentiate between outstanding and average performance</a:t>
            </a:r>
          </a:p>
          <a:p>
            <a:pPr>
              <a:lnSpc>
                <a:spcPct val="130000"/>
              </a:lnSpc>
            </a:pPr>
            <a:endParaRPr lang="en-IN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45"/>
          <a:stretch/>
        </p:blipFill>
        <p:spPr>
          <a:xfrm>
            <a:off x="5807968" y="1916832"/>
            <a:ext cx="6211044" cy="409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547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785819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Empathy</a:t>
            </a:r>
          </a:p>
        </p:txBody>
      </p:sp>
      <p:pic>
        <p:nvPicPr>
          <p:cNvPr id="1026" name="Picture 2" descr="Explore - Design Thinking - Class 6 PDF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03" y="908720"/>
            <a:ext cx="6043949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troduction to Design Thinking – Part 2 – Michael Kalika's Blo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009" y="1150684"/>
            <a:ext cx="5185639" cy="429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63352" y="6011996"/>
            <a:ext cx="11521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Objective: Develop the Power </a:t>
            </a:r>
            <a:r>
              <a:rPr lang="en-US" sz="2000" b="1" i="1" dirty="0" err="1" smtClean="0">
                <a:solidFill>
                  <a:srgbClr val="FF0000"/>
                </a:solidFill>
              </a:rPr>
              <a:t>vs</a:t>
            </a:r>
            <a:r>
              <a:rPr lang="en-US" sz="2000" b="1" dirty="0" smtClean="0">
                <a:solidFill>
                  <a:srgbClr val="FF0000"/>
                </a:solidFill>
              </a:rPr>
              <a:t> Interest Matrix for each Stakeholder to identify their role in the problem</a:t>
            </a:r>
            <a:endParaRPr lang="en-I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666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785819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</a:t>
            </a:r>
            <a:r>
              <a:rPr lang="en-IN" sz="3200" b="1" dirty="0" smtClean="0">
                <a:solidFill>
                  <a:schemeClr val="bg1"/>
                </a:solidFill>
              </a:rPr>
              <a:t>Empathy - Stakeholders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5360" y="980728"/>
            <a:ext cx="11593288" cy="56598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66FF"/>
                </a:solidFill>
              </a:rPr>
              <a:t>Customers</a:t>
            </a:r>
            <a:r>
              <a:rPr lang="en-US" sz="2200" dirty="0"/>
              <a:t> – </a:t>
            </a:r>
            <a:r>
              <a:rPr lang="en-US" sz="2200" dirty="0">
                <a:solidFill>
                  <a:srgbClr val="0066FF"/>
                </a:solidFill>
              </a:rPr>
              <a:t>The customers for your product or service. These are the people you want to sell to and make money from.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3399"/>
                </a:solidFill>
              </a:rPr>
              <a:t>Employees</a:t>
            </a:r>
            <a:r>
              <a:rPr lang="en-US" sz="2200" dirty="0"/>
              <a:t> – </a:t>
            </a:r>
            <a:r>
              <a:rPr lang="en-US" sz="2200" dirty="0">
                <a:solidFill>
                  <a:srgbClr val="FF3399"/>
                </a:solidFill>
              </a:rPr>
              <a:t>Your employees are also stakeholders as they are directly involved with delivering the project results.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B050"/>
                </a:solidFill>
              </a:rPr>
              <a:t>Suppliers</a:t>
            </a:r>
            <a:r>
              <a:rPr lang="en-US" sz="2200" dirty="0"/>
              <a:t> – </a:t>
            </a:r>
            <a:r>
              <a:rPr lang="en-US" sz="2200" dirty="0">
                <a:solidFill>
                  <a:srgbClr val="00B050"/>
                </a:solidFill>
              </a:rPr>
              <a:t>Your suppliers are also stakeholders because they provide materials, services, or equipment required by the project.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9933"/>
                </a:solidFill>
              </a:rPr>
              <a:t>Investors</a:t>
            </a:r>
            <a:r>
              <a:rPr lang="en-US" sz="2200" dirty="0"/>
              <a:t> – </a:t>
            </a:r>
            <a:r>
              <a:rPr lang="en-US" sz="2200" dirty="0">
                <a:solidFill>
                  <a:srgbClr val="FF9933"/>
                </a:solidFill>
              </a:rPr>
              <a:t>Investors are interested in seeing the project succeed so they can recoup their investment.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C00000"/>
                </a:solidFill>
              </a:rPr>
              <a:t>Partners </a:t>
            </a:r>
            <a:r>
              <a:rPr lang="en-US" sz="2200" dirty="0"/>
              <a:t>- </a:t>
            </a:r>
            <a:r>
              <a:rPr lang="en-US" sz="2200" dirty="0">
                <a:solidFill>
                  <a:srgbClr val="C00000"/>
                </a:solidFill>
              </a:rPr>
              <a:t>Partners are also stakeholders as they have a vested interest in the outcome of your project.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7030A0"/>
                </a:solidFill>
              </a:rPr>
              <a:t>Government</a:t>
            </a:r>
            <a:r>
              <a:rPr lang="en-US" sz="2200" dirty="0"/>
              <a:t> - </a:t>
            </a:r>
            <a:r>
              <a:rPr lang="en-US" sz="2200" dirty="0">
                <a:solidFill>
                  <a:srgbClr val="7030A0"/>
                </a:solidFill>
              </a:rPr>
              <a:t>Government organizations such as councils, government departments, state agencies, etc., are stakeholders because they directly influence the project's outcomes.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B050"/>
                </a:solidFill>
              </a:rPr>
              <a:t>Public</a:t>
            </a:r>
            <a:r>
              <a:rPr lang="en-US" sz="2200" dirty="0"/>
              <a:t> - </a:t>
            </a:r>
            <a:r>
              <a:rPr lang="en-US" sz="2200" dirty="0">
                <a:solidFill>
                  <a:srgbClr val="00B050"/>
                </a:solidFill>
              </a:rPr>
              <a:t>Public organizations like schools, hospitals, libraries, museums, community centers, sports clubs etc., are stakeholders because the public uses these facilities.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Other organizations </a:t>
            </a:r>
            <a:r>
              <a:rPr lang="en-US" sz="2200" dirty="0"/>
              <a:t>– Any other organization that has an interest in the project's success.</a:t>
            </a:r>
            <a:endParaRPr lang="en-US" sz="22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36289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785819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Empathy</a:t>
            </a:r>
          </a:p>
        </p:txBody>
      </p:sp>
      <p:pic>
        <p:nvPicPr>
          <p:cNvPr id="2050" name="Picture 2" descr="5.2 Stakeholder Analysis – Project Manage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56" y="1052736"/>
            <a:ext cx="7992888" cy="56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552384" y="1484784"/>
            <a:ext cx="2448272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66FF"/>
                </a:solidFill>
              </a:rPr>
              <a:t>Example of a Typical Power </a:t>
            </a:r>
            <a:r>
              <a:rPr lang="en-US" sz="2000" b="1" dirty="0" err="1" smtClean="0">
                <a:solidFill>
                  <a:srgbClr val="0066FF"/>
                </a:solidFill>
              </a:rPr>
              <a:t>Vs</a:t>
            </a:r>
            <a:r>
              <a:rPr lang="en-US" sz="2000" b="1" dirty="0" smtClean="0">
                <a:solidFill>
                  <a:srgbClr val="0066FF"/>
                </a:solidFill>
              </a:rPr>
              <a:t> Interest Matrix problem and key Stakeholders involved</a:t>
            </a:r>
            <a:endParaRPr lang="en-IN" sz="20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726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2952728" cy="785819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Elements of Design Thinking: Empathy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67108" y="71414"/>
            <a:ext cx="2644916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</a:rPr>
              <a:t>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0096" y="159023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0066FF"/>
                </a:solidFill>
              </a:rPr>
              <a:t>Interview of an User</a:t>
            </a:r>
            <a:endParaRPr lang="en-IN" sz="2400" b="1" dirty="0">
              <a:solidFill>
                <a:srgbClr val="0066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278079"/>
              </p:ext>
            </p:extLst>
          </p:nvPr>
        </p:nvGraphicFramePr>
        <p:xfrm>
          <a:off x="714859" y="986368"/>
          <a:ext cx="10997765" cy="5394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20701"/>
                <a:gridCol w="6984776"/>
                <a:gridCol w="2592288"/>
              </a:tblGrid>
              <a:tr h="4234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900" dirty="0" smtClean="0"/>
                        <a:t>Activity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900" dirty="0" smtClean="0"/>
                        <a:t>Action </a:t>
                      </a:r>
                      <a:r>
                        <a:rPr lang="en-US" sz="1900" baseline="0" dirty="0" smtClean="0"/>
                        <a:t> Plan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900" dirty="0" smtClean="0"/>
                        <a:t>Observations</a:t>
                      </a:r>
                      <a:endParaRPr lang="en-IN" sz="1900" dirty="0"/>
                    </a:p>
                  </a:txBody>
                  <a:tcPr/>
                </a:tc>
              </a:tr>
              <a:tr h="458659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900" b="1" dirty="0" smtClean="0">
                          <a:solidFill>
                            <a:srgbClr val="FF0000"/>
                          </a:solidFill>
                        </a:rPr>
                        <a:t>Interview of an User</a:t>
                      </a:r>
                      <a:endParaRPr lang="en-IN" sz="19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900" dirty="0" smtClean="0">
                          <a:solidFill>
                            <a:srgbClr val="C00000"/>
                          </a:solidFill>
                        </a:rPr>
                        <a:t>Take any</a:t>
                      </a:r>
                      <a:r>
                        <a:rPr lang="en-US" sz="1900" baseline="0" dirty="0" smtClean="0">
                          <a:solidFill>
                            <a:srgbClr val="C00000"/>
                          </a:solidFill>
                        </a:rPr>
                        <a:t> problem and identify all the Stake holders in the problem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900" baseline="0" dirty="0" smtClean="0"/>
                        <a:t>Develop a Power </a:t>
                      </a:r>
                      <a:r>
                        <a:rPr lang="en-US" sz="1900" i="1" baseline="0" dirty="0" err="1" smtClean="0"/>
                        <a:t>vs</a:t>
                      </a:r>
                      <a:r>
                        <a:rPr lang="en-US" sz="1900" baseline="0" dirty="0" smtClean="0"/>
                        <a:t> Interest matrix for all the Stakeholders involved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rgbClr val="C00000"/>
                          </a:solidFill>
                        </a:rPr>
                        <a:t>Develop a questionnaire for a problem based on the user perspective such as Passenger, Branch Manager, HOD, Chief Superintendent etc.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900" baseline="0" dirty="0" smtClean="0"/>
                        <a:t>Conduct a one-on-one sample interview of any two Stake holders. If possible record the interview through Audio or Video.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900" baseline="0" dirty="0" smtClean="0">
                          <a:solidFill>
                            <a:srgbClr val="C00000"/>
                          </a:solidFill>
                        </a:rPr>
                        <a:t>List out all the responses. Identify the major problems (3-5) from the all responses</a:t>
                      </a:r>
                      <a:endParaRPr lang="en-IN" sz="19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900" dirty="0" smtClean="0"/>
                        <a:t>Listening, Observations,</a:t>
                      </a:r>
                      <a:r>
                        <a:rPr lang="en-US" sz="1900" baseline="0" dirty="0" smtClean="0"/>
                        <a:t> Empathize with Customer, Understanding their actual problems and their intensity, Analysis of the responses, Proper Interview process with structured questions </a:t>
                      </a:r>
                      <a:endParaRPr lang="en-IN" sz="19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616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2952728" cy="1484808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Elements of Design Thinking: Empathy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67108" y="71414"/>
            <a:ext cx="5643602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</a:rPr>
              <a:t>ACTIVITIES</a:t>
            </a:r>
          </a:p>
        </p:txBody>
      </p:sp>
      <p:pic>
        <p:nvPicPr>
          <p:cNvPr id="9" name="Picture 8" descr="Traffic1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062" y="1340767"/>
            <a:ext cx="7765498" cy="51769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81356" y="785795"/>
            <a:ext cx="6858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66FF"/>
                </a:solidFill>
              </a:rPr>
              <a:t>Traffic Congestion </a:t>
            </a:r>
            <a:r>
              <a:rPr lang="en-IN" sz="2400" b="1" dirty="0" smtClean="0">
                <a:solidFill>
                  <a:srgbClr val="0066FF"/>
                </a:solidFill>
              </a:rPr>
              <a:t>Problem</a:t>
            </a:r>
            <a:endParaRPr lang="en-IN" sz="2400" b="1" dirty="0">
              <a:solidFill>
                <a:srgbClr val="0066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1344" y="2276872"/>
            <a:ext cx="2761384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</a:rPr>
              <a:t>Observe the photograph and list out all the observations and analyze</a:t>
            </a:r>
            <a:endParaRPr lang="en-IN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2952728" cy="1104608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Elements of Design Thinking: Empathy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67108" y="71414"/>
            <a:ext cx="5643602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</a:rPr>
              <a:t>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7042" y="642919"/>
            <a:ext cx="6858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0066FF"/>
                </a:solidFill>
              </a:rPr>
              <a:t>School Children leaving the school</a:t>
            </a:r>
            <a:endParaRPr lang="en-IN" sz="2400" b="1" dirty="0">
              <a:solidFill>
                <a:srgbClr val="0066FF"/>
              </a:solidFill>
            </a:endParaRPr>
          </a:p>
        </p:txBody>
      </p:sp>
      <p:pic>
        <p:nvPicPr>
          <p:cNvPr id="3074" name="Picture 2" descr="How to Make the Most of Your Child's Education - Pre-School R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21" y="1484783"/>
            <a:ext cx="5671464" cy="378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2,457 Kids Leaving School Stock Videos, Footage, &amp; 4K Video Clips - Getty  Images | End of term, School's out, Family holid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008" y="1492027"/>
            <a:ext cx="5747762" cy="3737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559496" y="5631631"/>
            <a:ext cx="914501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</a:rPr>
              <a:t>Observe the photograph and list out all the observations and analyze</a:t>
            </a:r>
            <a:endParaRPr lang="en-IN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2927648" cy="980752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Elements of Design Thinking: Empathy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67108" y="71414"/>
            <a:ext cx="5643602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</a:rPr>
              <a:t>ACTIVITIES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67042" y="928670"/>
            <a:ext cx="7143800" cy="7143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381356" y="1071546"/>
            <a:ext cx="6858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Design a wallet using paper and gift it to other team</a:t>
            </a:r>
          </a:p>
        </p:txBody>
      </p:sp>
      <p:pic>
        <p:nvPicPr>
          <p:cNvPr id="20482" name="Picture 2" descr="Access Denied Compact RFID Leather Trifold Wallet for Women with Mini Coin  Pouch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48128" y="2155681"/>
            <a:ext cx="3447760" cy="2286016"/>
          </a:xfrm>
          <a:prstGeom prst="rect">
            <a:avLst/>
          </a:prstGeom>
          <a:noFill/>
        </p:spPr>
      </p:pic>
      <p:pic>
        <p:nvPicPr>
          <p:cNvPr id="20484" name="Picture 4" descr="Best Full Grain Leather Wallet in India, 3 Year Warrant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60919" y="1977086"/>
            <a:ext cx="2643206" cy="2643206"/>
          </a:xfrm>
          <a:prstGeom prst="rect">
            <a:avLst/>
          </a:prstGeom>
          <a:noFill/>
        </p:spPr>
      </p:pic>
      <p:pic>
        <p:nvPicPr>
          <p:cNvPr id="20486" name="Picture 6" descr="Buy Persoanlized Womens Wallets Girls Custom Small Trifold Leather Wallet  with ID Window Ladies Card Holder Wallets for Wife, Girlfriend, Friends,  Sister, Daughter, Granddaughter at Amazon.in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2309" y="2040433"/>
            <a:ext cx="3155191" cy="2756719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407368" y="5373216"/>
            <a:ext cx="11161240" cy="96795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rgbClr val="C00000"/>
                </a:solidFill>
              </a:rPr>
              <a:t>Observations</a:t>
            </a:r>
            <a:r>
              <a:rPr lang="en-US" sz="2000" b="1" dirty="0" smtClean="0"/>
              <a:t>: Interaction with Customer, Checking his requirements, Choices, Preferences, and developing the product as per the requirements</a:t>
            </a:r>
            <a:endParaRPr lang="en-I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1340981"/>
            <a:ext cx="8066515" cy="42480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3392" y="476672"/>
            <a:ext cx="11017224" cy="59766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384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658</Words>
  <Application>Microsoft Office PowerPoint</Application>
  <PresentationFormat>Custom</PresentationFormat>
  <Paragraphs>91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DESIGN THINKING AND INNOVATION</vt:lpstr>
      <vt:lpstr>Concept of Design Thinking</vt:lpstr>
      <vt:lpstr>Elements of Design Thinking</vt:lpstr>
      <vt:lpstr>Elements of Design Thinking</vt:lpstr>
      <vt:lpstr>Elements of Design Thinking</vt:lpstr>
      <vt:lpstr>Elements of Design Thinking: Empathy</vt:lpstr>
      <vt:lpstr>Elements of Design Thinking: Empathy</vt:lpstr>
      <vt:lpstr>Elements of Design Thinking: Empathy</vt:lpstr>
      <vt:lpstr>Elements of Design Thinking: Empathy</vt:lpstr>
      <vt:lpstr>Elements of Design Thinking: Empathy</vt:lpstr>
      <vt:lpstr>Elements of Design Thinking: Empathy</vt:lpstr>
      <vt:lpstr>Elements of Design Thinking: Empathy</vt:lpstr>
      <vt:lpstr>Elements of Design Thinking: Empathy</vt:lpstr>
      <vt:lpstr>Elements of Design Thinking: Empathy - Stakeholders</vt:lpstr>
      <vt:lpstr>Elements of Design Thinking: Empathy</vt:lpstr>
      <vt:lpstr>Elements of Design Thinking: Empathy</vt:lpstr>
      <vt:lpstr>Elements of Design Thinking: Empathy</vt:lpstr>
      <vt:lpstr>Elements of Design Thinking: Empathy</vt:lpstr>
      <vt:lpstr>Elements of Design Thinking: Empathy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ismail - [2010]</cp:lastModifiedBy>
  <cp:revision>41</cp:revision>
  <dcterms:created xsi:type="dcterms:W3CDTF">2024-12-26T04:05:46Z</dcterms:created>
  <dcterms:modified xsi:type="dcterms:W3CDTF">2025-02-13T06:54:45Z</dcterms:modified>
</cp:coreProperties>
</file>